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7BBF5C00_D8ED8DC6.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5F_FDAFA97D.xml" ContentType="application/vnd.ms-powerpoint.comments+xml"/>
  <Override PartName="/ppt/notesSlides/notesSlide5.xml" ContentType="application/vnd.openxmlformats-officedocument.presentationml.notesSlide+xml"/>
  <Override PartName="/ppt/comments/modernComment_161_A2F2EA35.xml" ContentType="application/vnd.ms-powerpoint.comments+xml"/>
  <Override PartName="/ppt/notesSlides/notesSlide6.xml" ContentType="application/vnd.openxmlformats-officedocument.presentationml.notesSlide+xml"/>
  <Override PartName="/ppt/comments/modernComment_7BBF5BFB_6215B2C6.xml" ContentType="application/vnd.ms-powerpoint.comments+xml"/>
  <Override PartName="/ppt/notesSlides/notesSlide7.xml" ContentType="application/vnd.openxmlformats-officedocument.presentationml.notesSlide+xml"/>
  <Override PartName="/ppt/ink/ink1.xml" ContentType="application/inkml+xml"/>
  <Override PartName="/ppt/ink/ink2.xml" ContentType="application/inkml+xml"/>
  <Override PartName="/ppt/notesSlides/notesSlide8.xml" ContentType="application/vnd.openxmlformats-officedocument.presentationml.notesSlide+xml"/>
  <Override PartName="/ppt/comments/modernComment_170_84B7D4E0.xml" ContentType="application/vnd.ms-powerpoint.comments+xml"/>
  <Override PartName="/ppt/notesSlides/notesSlide9.xml" ContentType="application/vnd.openxmlformats-officedocument.presentationml.notesSlide+xml"/>
  <Override PartName="/ppt/comments/modernComment_7BBF5C02_E7E293AE.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65_1562894F.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7BBF5BFA_95E23982.xml" ContentType="application/vnd.ms-powerpoint.comments+xml"/>
  <Override PartName="/ppt/notesSlides/notesSlide14.xml" ContentType="application/vnd.openxmlformats-officedocument.presentationml.notesSlide+xml"/>
  <Override PartName="/ppt/comments/modernComment_16B_5B2997F1.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4"/>
  </p:sldMasterIdLst>
  <p:notesMasterIdLst>
    <p:notesMasterId r:id="rId21"/>
  </p:notesMasterIdLst>
  <p:sldIdLst>
    <p:sldId id="2076138495" r:id="rId5"/>
    <p:sldId id="2076138496" r:id="rId6"/>
    <p:sldId id="2076138488" r:id="rId7"/>
    <p:sldId id="351" r:id="rId8"/>
    <p:sldId id="353" r:id="rId9"/>
    <p:sldId id="2076138491" r:id="rId10"/>
    <p:sldId id="362" r:id="rId11"/>
    <p:sldId id="368" r:id="rId12"/>
    <p:sldId id="2076138498" r:id="rId13"/>
    <p:sldId id="2076138492" r:id="rId14"/>
    <p:sldId id="357" r:id="rId15"/>
    <p:sldId id="2076138494" r:id="rId16"/>
    <p:sldId id="2076138490" r:id="rId17"/>
    <p:sldId id="363" r:id="rId18"/>
    <p:sldId id="361" r:id="rId19"/>
    <p:sldId id="2076138499" r:id="rId20"/>
  </p:sldIdLst>
  <p:sldSz cx="12192000" cy="6858000"/>
  <p:notesSz cx="6858000" cy="9144000"/>
  <p:kinsoku lang="ja-JP" invalStChars="、。，．・：；？！゛゜ヽヾゝゞ々’”）〕］｝〉》」』】°‰′″℃￠％!%),.:;?]}｡｣､･ﾞﾟ" invalEndChars="‘“（〔［｛〈《「『【￥＄$([\{｢￡"/>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5 minutes)" id="{87D99D1E-7063-4147-9499-4FE4A44B74B6}">
          <p14:sldIdLst>
            <p14:sldId id="2076138495"/>
            <p14:sldId id="2076138496"/>
          </p14:sldIdLst>
        </p14:section>
        <p14:section name="Picking a topic (10 minutes)" id="{D18D4B31-2D01-480D-8A56-165E5DB6C67F}">
          <p14:sldIdLst>
            <p14:sldId id="2076138488"/>
            <p14:sldId id="351"/>
            <p14:sldId id="353"/>
          </p14:sldIdLst>
        </p14:section>
        <p14:section name="Workshop (10 minutes)" id="{810B50D5-21A7-4AF5-BBC3-C2FDD2DF88E5}">
          <p14:sldIdLst>
            <p14:sldId id="2076138491"/>
          </p14:sldIdLst>
        </p14:section>
        <p14:section name="Themes and honing topic (10 minutes)" id="{D832D764-E5A1-41FF-AD26-41404D7EC918}">
          <p14:sldIdLst>
            <p14:sldId id="362"/>
            <p14:sldId id="368"/>
            <p14:sldId id="2076138498"/>
          </p14:sldIdLst>
        </p14:section>
        <p14:section name="Workshop (15 minutes)" id="{D9FE9B7A-F508-47E1-89A3-0C704E762CBE}">
          <p14:sldIdLst>
            <p14:sldId id="2076138492"/>
          </p14:sldIdLst>
        </p14:section>
        <p14:section name="Rules (5 minutes)" id="{328CB28B-DFE6-4D93-A45F-922334765492}">
          <p14:sldIdLst>
            <p14:sldId id="357"/>
          </p14:sldIdLst>
        </p14:section>
        <p14:section name="Workshop (15 minutes)" id="{31BC4D32-55C1-4E4A-9B60-AC371806C5D4}">
          <p14:sldIdLst>
            <p14:sldId id="2076138494"/>
          </p14:sldIdLst>
        </p14:section>
        <p14:section name="Design Thinking (5 minutes)" id="{A8C9D58C-5A9D-4C24-9B85-EC11F722E3C4}">
          <p14:sldIdLst>
            <p14:sldId id="2076138490"/>
          </p14:sldIdLst>
        </p14:section>
        <p14:section name="Next steps &amp; fin &amp; Q&amp;A (10 minutes)" id="{20472AFE-2AD6-4CEA-9338-7D39D1D2382E}">
          <p14:sldIdLst>
            <p14:sldId id="363"/>
            <p14:sldId id="361"/>
            <p14:sldId id="207613849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D0B23B14-3592-B55A-030F-6CCDAF54B62E}" name="William Assaf" initials="WA" userId="S::wiassaf@microsoft.com::6321aac1-eebf-4722-9b5c-a5ee2b217578" providerId="AD"/>
  <p188:author id="{097E9E3C-0296-9C85-5AD8-075DE372EF69}" name="nina navazio" initials="nn" userId="S::ninanavazio@microsoft.com::f5877d0a-7add-46be-8812-e4ebb2c57f69" providerId="AD"/>
  <p188:author id="{7B8900E0-F291-0268-5C94-D8B0693FC660}" name="Deepti Vaidyanathan" initials="DV" userId="S::deeptivai@microsoft.com::d3f2712c-13e9-42bb-ab8c-92148060916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9CE1"/>
    <a:srgbClr val="B0FCFA"/>
    <a:srgbClr val="322239"/>
    <a:srgbClr val="ECECEC"/>
    <a:srgbClr val="AF7F2B"/>
    <a:srgbClr val="E8CE9B"/>
    <a:srgbClr val="531F14"/>
    <a:srgbClr val="4738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7EC4E6-1AA3-48DA-068F-D0A58CD18F52}" v="100" dt="2026-10-21T17:43:59.767"/>
    <p1510:client id="{819B22C2-1E2B-459E-B57C-051BD59CFB72}" v="393" dt="2026-10-21T19:34:06.6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10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ti Vaidyanathan" userId="S::deeptivai@microsoft.com::d3f2712c-13e9-42bb-ab8c-92148060916a" providerId="AD" clId="Web-{427EC4E6-1AA3-48DA-068F-D0A58CD18F52}"/>
    <pc:docChg chg="modSld">
      <pc:chgData name="Deepti Vaidyanathan" userId="S::deeptivai@microsoft.com::d3f2712c-13e9-42bb-ab8c-92148060916a" providerId="AD" clId="Web-{427EC4E6-1AA3-48DA-068F-D0A58CD18F52}" dt="2026-10-21T17:43:59.767" v="74"/>
      <pc:docMkLst>
        <pc:docMk/>
      </pc:docMkLst>
      <pc:sldChg chg="addSp delSp modSp delAnim">
        <pc:chgData name="Deepti Vaidyanathan" userId="S::deeptivai@microsoft.com::d3f2712c-13e9-42bb-ab8c-92148060916a" providerId="AD" clId="Web-{427EC4E6-1AA3-48DA-068F-D0A58CD18F52}" dt="2026-10-21T17:43:59.767" v="74"/>
        <pc:sldMkLst>
          <pc:docMk/>
          <pc:sldMk cId="2514631042" sldId="2076138490"/>
        </pc:sldMkLst>
        <pc:spChg chg="mod">
          <ac:chgData name="Deepti Vaidyanathan" userId="S::deeptivai@microsoft.com::d3f2712c-13e9-42bb-ab8c-92148060916a" providerId="AD" clId="Web-{427EC4E6-1AA3-48DA-068F-D0A58CD18F52}" dt="2026-10-21T17:38:01.953" v="12" actId="20577"/>
          <ac:spMkLst>
            <pc:docMk/>
            <pc:sldMk cId="2514631042" sldId="2076138490"/>
            <ac:spMk id="3" creationId="{5FFC19EC-97E5-6B94-0504-65BE29D4F137}"/>
          </ac:spMkLst>
        </pc:spChg>
        <pc:spChg chg="add mod">
          <ac:chgData name="Deepti Vaidyanathan" userId="S::deeptivai@microsoft.com::d3f2712c-13e9-42bb-ab8c-92148060916a" providerId="AD" clId="Web-{427EC4E6-1AA3-48DA-068F-D0A58CD18F52}" dt="2026-10-21T17:40:29.625" v="50" actId="1076"/>
          <ac:spMkLst>
            <pc:docMk/>
            <pc:sldMk cId="2514631042" sldId="2076138490"/>
            <ac:spMk id="4" creationId="{78406582-A875-3E4F-97EA-D3A33D41EE42}"/>
          </ac:spMkLst>
        </pc:spChg>
        <pc:spChg chg="del">
          <ac:chgData name="Deepti Vaidyanathan" userId="S::deeptivai@microsoft.com::d3f2712c-13e9-42bb-ab8c-92148060916a" providerId="AD" clId="Web-{427EC4E6-1AA3-48DA-068F-D0A58CD18F52}" dt="2026-10-21T17:37:29.312" v="4"/>
          <ac:spMkLst>
            <pc:docMk/>
            <pc:sldMk cId="2514631042" sldId="2076138490"/>
            <ac:spMk id="7" creationId="{7E4AE03A-98DF-1F0F-47F1-9FC7D6C79EB0}"/>
          </ac:spMkLst>
        </pc:spChg>
        <pc:spChg chg="del">
          <ac:chgData name="Deepti Vaidyanathan" userId="S::deeptivai@microsoft.com::d3f2712c-13e9-42bb-ab8c-92148060916a" providerId="AD" clId="Web-{427EC4E6-1AA3-48DA-068F-D0A58CD18F52}" dt="2026-10-21T17:37:30.546" v="5"/>
          <ac:spMkLst>
            <pc:docMk/>
            <pc:sldMk cId="2514631042" sldId="2076138490"/>
            <ac:spMk id="8" creationId="{85E27057-E24C-5D32-9E62-83179FB8E59C}"/>
          </ac:spMkLst>
        </pc:spChg>
        <pc:spChg chg="del">
          <ac:chgData name="Deepti Vaidyanathan" userId="S::deeptivai@microsoft.com::d3f2712c-13e9-42bb-ab8c-92148060916a" providerId="AD" clId="Web-{427EC4E6-1AA3-48DA-068F-D0A58CD18F52}" dt="2026-10-21T17:37:30.796" v="6"/>
          <ac:spMkLst>
            <pc:docMk/>
            <pc:sldMk cId="2514631042" sldId="2076138490"/>
            <ac:spMk id="10" creationId="{8A2D1BB9-0901-7DB7-9BE7-AE4ED012DDCF}"/>
          </ac:spMkLst>
        </pc:spChg>
        <pc:spChg chg="del">
          <ac:chgData name="Deepti Vaidyanathan" userId="S::deeptivai@microsoft.com::d3f2712c-13e9-42bb-ab8c-92148060916a" providerId="AD" clId="Web-{427EC4E6-1AA3-48DA-068F-D0A58CD18F52}" dt="2026-10-21T17:37:31.124" v="7"/>
          <ac:spMkLst>
            <pc:docMk/>
            <pc:sldMk cId="2514631042" sldId="2076138490"/>
            <ac:spMk id="11" creationId="{8E46EBA3-29F1-A2A1-8FE1-6F9886BDB85C}"/>
          </ac:spMkLst>
        </pc:spChg>
        <pc:spChg chg="del">
          <ac:chgData name="Deepti Vaidyanathan" userId="S::deeptivai@microsoft.com::d3f2712c-13e9-42bb-ab8c-92148060916a" providerId="AD" clId="Web-{427EC4E6-1AA3-48DA-068F-D0A58CD18F52}" dt="2026-10-21T17:37:31.827" v="8"/>
          <ac:spMkLst>
            <pc:docMk/>
            <pc:sldMk cId="2514631042" sldId="2076138490"/>
            <ac:spMk id="12" creationId="{B546A31D-9FA7-C6E3-6525-E8D6F0AA4746}"/>
          </ac:spMkLst>
        </pc:spChg>
        <pc:spChg chg="del">
          <ac:chgData name="Deepti Vaidyanathan" userId="S::deeptivai@microsoft.com::d3f2712c-13e9-42bb-ab8c-92148060916a" providerId="AD" clId="Web-{427EC4E6-1AA3-48DA-068F-D0A58CD18F52}" dt="2026-10-21T17:37:28.109" v="3"/>
          <ac:spMkLst>
            <pc:docMk/>
            <pc:sldMk cId="2514631042" sldId="2076138490"/>
            <ac:spMk id="13" creationId="{2578EE0B-F224-BD5B-218B-620D8EC0C786}"/>
          </ac:spMkLst>
        </pc:spChg>
        <pc:spChg chg="del">
          <ac:chgData name="Deepti Vaidyanathan" userId="S::deeptivai@microsoft.com::d3f2712c-13e9-42bb-ab8c-92148060916a" providerId="AD" clId="Web-{427EC4E6-1AA3-48DA-068F-D0A58CD18F52}" dt="2026-10-21T17:37:32.546" v="9"/>
          <ac:spMkLst>
            <pc:docMk/>
            <pc:sldMk cId="2514631042" sldId="2076138490"/>
            <ac:spMk id="14" creationId="{9C0A6667-26A6-9A12-A086-A826ADE4B758}"/>
          </ac:spMkLst>
        </pc:spChg>
        <pc:spChg chg="add del mod">
          <ac:chgData name="Deepti Vaidyanathan" userId="S::deeptivai@microsoft.com::d3f2712c-13e9-42bb-ab8c-92148060916a" providerId="AD" clId="Web-{427EC4E6-1AA3-48DA-068F-D0A58CD18F52}" dt="2026-10-21T17:43:58.861" v="73"/>
          <ac:spMkLst>
            <pc:docMk/>
            <pc:sldMk cId="2514631042" sldId="2076138490"/>
            <ac:spMk id="15" creationId="{7E52E549-66C6-8BFE-47E5-9E115F4F45CB}"/>
          </ac:spMkLst>
        </pc:spChg>
        <pc:spChg chg="add del mod">
          <ac:chgData name="Deepti Vaidyanathan" userId="S::deeptivai@microsoft.com::d3f2712c-13e9-42bb-ab8c-92148060916a" providerId="AD" clId="Web-{427EC4E6-1AA3-48DA-068F-D0A58CD18F52}" dt="2026-10-21T17:43:59.767" v="74"/>
          <ac:spMkLst>
            <pc:docMk/>
            <pc:sldMk cId="2514631042" sldId="2076138490"/>
            <ac:spMk id="16" creationId="{22DB56B5-B4EC-8065-315A-5FB40599D580}"/>
          </ac:spMkLst>
        </pc:spChg>
        <pc:picChg chg="mod modCrop">
          <ac:chgData name="Deepti Vaidyanathan" userId="S::deeptivai@microsoft.com::d3f2712c-13e9-42bb-ab8c-92148060916a" providerId="AD" clId="Web-{427EC4E6-1AA3-48DA-068F-D0A58CD18F52}" dt="2026-10-21T17:43:19.157" v="70" actId="1076"/>
          <ac:picMkLst>
            <pc:docMk/>
            <pc:sldMk cId="2514631042" sldId="2076138490"/>
            <ac:picMk id="6" creationId="{8DB6EA33-7D99-327F-C50D-09B34F59C950}"/>
          </ac:picMkLst>
        </pc:picChg>
      </pc:sldChg>
    </pc:docChg>
  </pc:docChgLst>
  <pc:docChgLst>
    <pc:chgData name="nina navazio" userId="f5877d0a-7add-46be-8812-e4ebb2c57f69" providerId="ADAL" clId="{FE9CE0A9-4B08-4A0A-91CC-2FCB1C546666}"/>
    <pc:docChg chg="undo custSel modSld">
      <pc:chgData name="nina navazio" userId="f5877d0a-7add-46be-8812-e4ebb2c57f69" providerId="ADAL" clId="{FE9CE0A9-4B08-4A0A-91CC-2FCB1C546666}" dt="2026-10-22T17:42:58.392" v="2596" actId="313"/>
      <pc:docMkLst>
        <pc:docMk/>
      </pc:docMkLst>
      <pc:sldChg chg="addSp delSp modSp mod delAnim modNotesTx">
        <pc:chgData name="nina navazio" userId="f5877d0a-7add-46be-8812-e4ebb2c57f69" providerId="ADAL" clId="{FE9CE0A9-4B08-4A0A-91CC-2FCB1C546666}" dt="2026-10-15T23:39:40.385" v="2595" actId="14100"/>
        <pc:sldMkLst>
          <pc:docMk/>
          <pc:sldMk cId="4256147837" sldId="351"/>
        </pc:sldMkLst>
        <pc:spChg chg="mod">
          <ac:chgData name="nina navazio" userId="f5877d0a-7add-46be-8812-e4ebb2c57f69" providerId="ADAL" clId="{FE9CE0A9-4B08-4A0A-91CC-2FCB1C546666}" dt="2026-10-15T21:50:39.787" v="1363" actId="20577"/>
          <ac:spMkLst>
            <pc:docMk/>
            <pc:sldMk cId="4256147837" sldId="351"/>
            <ac:spMk id="2" creationId="{933948E3-FF42-E9A2-E986-8BDE86BC804D}"/>
          </ac:spMkLst>
        </pc:spChg>
        <pc:spChg chg="mod">
          <ac:chgData name="nina navazio" userId="f5877d0a-7add-46be-8812-e4ebb2c57f69" providerId="ADAL" clId="{FE9CE0A9-4B08-4A0A-91CC-2FCB1C546666}" dt="2026-10-15T21:52:07.318" v="1606" actId="14100"/>
          <ac:spMkLst>
            <pc:docMk/>
            <pc:sldMk cId="4256147837" sldId="351"/>
            <ac:spMk id="6" creationId="{D1951F15-3CC7-7664-B5C8-B45427500734}"/>
          </ac:spMkLst>
        </pc:spChg>
        <pc:spChg chg="mod">
          <ac:chgData name="nina navazio" userId="f5877d0a-7add-46be-8812-e4ebb2c57f69" providerId="ADAL" clId="{FE9CE0A9-4B08-4A0A-91CC-2FCB1C546666}" dt="2026-10-15T23:39:28.789" v="2592" actId="14100"/>
          <ac:spMkLst>
            <pc:docMk/>
            <pc:sldMk cId="4256147837" sldId="351"/>
            <ac:spMk id="14" creationId="{7ADD797C-280F-6175-4ED8-D20B0A3415B1}"/>
          </ac:spMkLst>
        </pc:spChg>
        <pc:spChg chg="mod">
          <ac:chgData name="nina navazio" userId="f5877d0a-7add-46be-8812-e4ebb2c57f69" providerId="ADAL" clId="{FE9CE0A9-4B08-4A0A-91CC-2FCB1C546666}" dt="2026-10-15T23:39:19.671" v="2589" actId="14100"/>
          <ac:spMkLst>
            <pc:docMk/>
            <pc:sldMk cId="4256147837" sldId="351"/>
            <ac:spMk id="15" creationId="{709558F1-E799-421C-704A-FAD102FA0C68}"/>
          </ac:spMkLst>
        </pc:spChg>
        <pc:spChg chg="mod">
          <ac:chgData name="nina navazio" userId="f5877d0a-7add-46be-8812-e4ebb2c57f69" providerId="ADAL" clId="{FE9CE0A9-4B08-4A0A-91CC-2FCB1C546666}" dt="2026-10-15T23:39:25.851" v="2591" actId="14100"/>
          <ac:spMkLst>
            <pc:docMk/>
            <pc:sldMk cId="4256147837" sldId="351"/>
            <ac:spMk id="16" creationId="{8650EE50-B925-EA80-AECA-EA804FDEAD10}"/>
          </ac:spMkLst>
        </pc:spChg>
        <pc:spChg chg="mod">
          <ac:chgData name="nina navazio" userId="f5877d0a-7add-46be-8812-e4ebb2c57f69" providerId="ADAL" clId="{FE9CE0A9-4B08-4A0A-91CC-2FCB1C546666}" dt="2026-10-15T23:39:37.191" v="2594" actId="14100"/>
          <ac:spMkLst>
            <pc:docMk/>
            <pc:sldMk cId="4256147837" sldId="351"/>
            <ac:spMk id="17" creationId="{D515741B-BCA9-7DE7-4CEF-68326C2D7B26}"/>
          </ac:spMkLst>
        </pc:spChg>
        <pc:spChg chg="mod">
          <ac:chgData name="nina navazio" userId="f5877d0a-7add-46be-8812-e4ebb2c57f69" providerId="ADAL" clId="{FE9CE0A9-4B08-4A0A-91CC-2FCB1C546666}" dt="2026-10-15T23:39:40.385" v="2595" actId="14100"/>
          <ac:spMkLst>
            <pc:docMk/>
            <pc:sldMk cId="4256147837" sldId="351"/>
            <ac:spMk id="18" creationId="{C0A19ACD-9357-34CF-EA7B-78CAD0C8A781}"/>
          </ac:spMkLst>
        </pc:spChg>
        <pc:grpChg chg="mod">
          <ac:chgData name="nina navazio" userId="f5877d0a-7add-46be-8812-e4ebb2c57f69" providerId="ADAL" clId="{FE9CE0A9-4B08-4A0A-91CC-2FCB1C546666}" dt="2026-10-15T21:52:20.857" v="1610" actId="1076"/>
          <ac:grpSpMkLst>
            <pc:docMk/>
            <pc:sldMk cId="4256147837" sldId="351"/>
            <ac:grpSpMk id="8" creationId="{A0B2E752-9331-F56F-1F28-A2EF1979DC83}"/>
          </ac:grpSpMkLst>
        </pc:grpChg>
        <pc:picChg chg="mod">
          <ac:chgData name="nina navazio" userId="f5877d0a-7add-46be-8812-e4ebb2c57f69" providerId="ADAL" clId="{FE9CE0A9-4B08-4A0A-91CC-2FCB1C546666}" dt="2026-10-15T21:51:52.587" v="1602" actId="14100"/>
          <ac:picMkLst>
            <pc:docMk/>
            <pc:sldMk cId="4256147837" sldId="351"/>
            <ac:picMk id="7" creationId="{52980E35-A9BD-F64C-E498-F25C528DD2ED}"/>
          </ac:picMkLst>
        </pc:picChg>
      </pc:sldChg>
      <pc:sldChg chg="modNotesTx">
        <pc:chgData name="nina navazio" userId="f5877d0a-7add-46be-8812-e4ebb2c57f69" providerId="ADAL" clId="{FE9CE0A9-4B08-4A0A-91CC-2FCB1C546666}" dt="2026-10-15T21:58:07.456" v="2074" actId="20577"/>
        <pc:sldMkLst>
          <pc:docMk/>
          <pc:sldMk cId="2272936215" sldId="361"/>
        </pc:sldMkLst>
      </pc:sldChg>
      <pc:sldChg chg="modSp addAnim delAnim modAnim modNotesTx">
        <pc:chgData name="nina navazio" userId="f5877d0a-7add-46be-8812-e4ebb2c57f69" providerId="ADAL" clId="{FE9CE0A9-4B08-4A0A-91CC-2FCB1C546666}" dt="2026-10-15T23:38:01.234" v="2576" actId="20577"/>
        <pc:sldMkLst>
          <pc:docMk/>
          <pc:sldMk cId="1529452529" sldId="363"/>
        </pc:sldMkLst>
        <pc:spChg chg="mod">
          <ac:chgData name="nina navazio" userId="f5877d0a-7add-46be-8812-e4ebb2c57f69" providerId="ADAL" clId="{FE9CE0A9-4B08-4A0A-91CC-2FCB1C546666}" dt="2026-10-15T23:23:20.603" v="2550"/>
          <ac:spMkLst>
            <pc:docMk/>
            <pc:sldMk cId="1529452529" sldId="363"/>
            <ac:spMk id="3" creationId="{6236B508-9F92-D2C9-E6C6-0FCDE5BEF18D}"/>
          </ac:spMkLst>
        </pc:spChg>
      </pc:sldChg>
      <pc:sldChg chg="modSp modAnim modNotesTx">
        <pc:chgData name="nina navazio" userId="f5877d0a-7add-46be-8812-e4ebb2c57f69" providerId="ADAL" clId="{FE9CE0A9-4B08-4A0A-91CC-2FCB1C546666}" dt="2026-10-15T23:14:16.457" v="2549" actId="20577"/>
        <pc:sldMkLst>
          <pc:docMk/>
          <pc:sldMk cId="2226640096" sldId="368"/>
        </pc:sldMkLst>
        <pc:spChg chg="mod">
          <ac:chgData name="nina navazio" userId="f5877d0a-7add-46be-8812-e4ebb2c57f69" providerId="ADAL" clId="{FE9CE0A9-4B08-4A0A-91CC-2FCB1C546666}" dt="2026-10-15T23:09:18.508" v="2147" actId="20577"/>
          <ac:spMkLst>
            <pc:docMk/>
            <pc:sldMk cId="2226640096" sldId="368"/>
            <ac:spMk id="10" creationId="{AAB472A5-5106-875B-A54B-575B06311771}"/>
          </ac:spMkLst>
        </pc:spChg>
      </pc:sldChg>
      <pc:sldChg chg="delSp modSp mod modNotesTx">
        <pc:chgData name="nina navazio" userId="f5877d0a-7add-46be-8812-e4ebb2c57f69" providerId="ADAL" clId="{FE9CE0A9-4B08-4A0A-91CC-2FCB1C546666}" dt="2026-10-15T23:07:16.265" v="2109" actId="20577"/>
        <pc:sldMkLst>
          <pc:docMk/>
          <pc:sldMk cId="3280322293" sldId="2076138488"/>
        </pc:sldMkLst>
        <pc:spChg chg="mod">
          <ac:chgData name="nina navazio" userId="f5877d0a-7add-46be-8812-e4ebb2c57f69" providerId="ADAL" clId="{FE9CE0A9-4B08-4A0A-91CC-2FCB1C546666}" dt="2026-10-15T23:07:16.265" v="2109" actId="20577"/>
          <ac:spMkLst>
            <pc:docMk/>
            <pc:sldMk cId="3280322293" sldId="2076138488"/>
            <ac:spMk id="3" creationId="{45AF06E4-4CC5-ACD2-E726-C0EF4C19A884}"/>
          </ac:spMkLst>
        </pc:spChg>
      </pc:sldChg>
      <pc:sldChg chg="modSp mod">
        <pc:chgData name="nina navazio" userId="f5877d0a-7add-46be-8812-e4ebb2c57f69" providerId="ADAL" clId="{FE9CE0A9-4B08-4A0A-91CC-2FCB1C546666}" dt="2026-10-22T17:42:58.392" v="2596" actId="313"/>
        <pc:sldMkLst>
          <pc:docMk/>
          <pc:sldMk cId="2514631042" sldId="2076138490"/>
        </pc:sldMkLst>
        <pc:spChg chg="mod">
          <ac:chgData name="nina navazio" userId="f5877d0a-7add-46be-8812-e4ebb2c57f69" providerId="ADAL" clId="{FE9CE0A9-4B08-4A0A-91CC-2FCB1C546666}" dt="2026-10-22T17:42:58.392" v="2596" actId="313"/>
          <ac:spMkLst>
            <pc:docMk/>
            <pc:sldMk cId="2514631042" sldId="2076138490"/>
            <ac:spMk id="4" creationId="{78406582-A875-3E4F-97EA-D3A33D41EE42}"/>
          </ac:spMkLst>
        </pc:spChg>
      </pc:sldChg>
      <pc:sldChg chg="modSp mod">
        <pc:chgData name="nina navazio" userId="f5877d0a-7add-46be-8812-e4ebb2c57f69" providerId="ADAL" clId="{FE9CE0A9-4B08-4A0A-91CC-2FCB1C546666}" dt="2026-10-14T22:19:27.048" v="194" actId="1076"/>
        <pc:sldMkLst>
          <pc:docMk/>
          <pc:sldMk cId="1645589190" sldId="2076138491"/>
        </pc:sldMkLst>
        <pc:spChg chg="mod">
          <ac:chgData name="nina navazio" userId="f5877d0a-7add-46be-8812-e4ebb2c57f69" providerId="ADAL" clId="{FE9CE0A9-4B08-4A0A-91CC-2FCB1C546666}" dt="2026-10-14T22:19:27.048" v="194" actId="1076"/>
          <ac:spMkLst>
            <pc:docMk/>
            <pc:sldMk cId="1645589190" sldId="2076138491"/>
            <ac:spMk id="13" creationId="{D4DD86CC-5B22-19B5-AEDF-C8E46C887E9F}"/>
          </ac:spMkLst>
        </pc:spChg>
      </pc:sldChg>
      <pc:sldChg chg="modNotesTx">
        <pc:chgData name="nina navazio" userId="f5877d0a-7add-46be-8812-e4ebb2c57f69" providerId="ADAL" clId="{FE9CE0A9-4B08-4A0A-91CC-2FCB1C546666}" dt="2026-10-14T22:26:23.904" v="441" actId="20577"/>
        <pc:sldMkLst>
          <pc:docMk/>
          <pc:sldMk cId="1944192974" sldId="2076138492"/>
        </pc:sldMkLst>
      </pc:sldChg>
      <pc:sldChg chg="modNotesTx">
        <pc:chgData name="nina navazio" userId="f5877d0a-7add-46be-8812-e4ebb2c57f69" providerId="ADAL" clId="{FE9CE0A9-4B08-4A0A-91CC-2FCB1C546666}" dt="2026-10-15T21:57:41.311" v="2072" actId="20577"/>
        <pc:sldMkLst>
          <pc:docMk/>
          <pc:sldMk cId="1818667538" sldId="2076138495"/>
        </pc:sldMkLst>
      </pc:sldChg>
      <pc:sldChg chg="modNotesTx">
        <pc:chgData name="nina navazio" userId="f5877d0a-7add-46be-8812-e4ebb2c57f69" providerId="ADAL" clId="{FE9CE0A9-4B08-4A0A-91CC-2FCB1C546666}" dt="2026-10-15T22:57:01.717" v="2098" actId="6549"/>
        <pc:sldMkLst>
          <pc:docMk/>
          <pc:sldMk cId="3890385838" sldId="2076138498"/>
        </pc:sldMkLst>
      </pc:sldChg>
    </pc:docChg>
  </pc:docChgLst>
  <pc:docChgLst>
    <pc:chgData name="Deepti Vaidyanathan" userId="d3f2712c-13e9-42bb-ab8c-92148060916a" providerId="ADAL" clId="{E50954F7-1882-4C1B-B81B-C53667ABA041}"/>
    <pc:docChg chg="undo custSel delSld modSld modSection">
      <pc:chgData name="Deepti Vaidyanathan" userId="d3f2712c-13e9-42bb-ab8c-92148060916a" providerId="ADAL" clId="{E50954F7-1882-4C1B-B81B-C53667ABA041}" dt="2026-10-21T19:34:45.278" v="478" actId="6549"/>
      <pc:docMkLst>
        <pc:docMk/>
      </pc:docMkLst>
      <pc:sldChg chg="modSp mod modNotesTx">
        <pc:chgData name="Deepti Vaidyanathan" userId="d3f2712c-13e9-42bb-ab8c-92148060916a" providerId="ADAL" clId="{E50954F7-1882-4C1B-B81B-C53667ABA041}" dt="2026-10-15T23:05:07.816" v="52" actId="368"/>
        <pc:sldMkLst>
          <pc:docMk/>
          <pc:sldMk cId="358779215" sldId="357"/>
        </pc:sldMkLst>
        <pc:spChg chg="mod">
          <ac:chgData name="Deepti Vaidyanathan" userId="d3f2712c-13e9-42bb-ab8c-92148060916a" providerId="ADAL" clId="{E50954F7-1882-4C1B-B81B-C53667ABA041}" dt="2026-10-15T22:41:57.254" v="40" actId="20577"/>
          <ac:spMkLst>
            <pc:docMk/>
            <pc:sldMk cId="358779215" sldId="357"/>
            <ac:spMk id="2" creationId="{2BE808A1-EB1B-4C17-17A1-7FD464DE3B1F}"/>
          </ac:spMkLst>
        </pc:spChg>
      </pc:sldChg>
      <pc:sldChg chg="addSp delSp modSp mod addAnim delAnim modAnim modNotesTx">
        <pc:chgData name="Deepti Vaidyanathan" userId="d3f2712c-13e9-42bb-ab8c-92148060916a" providerId="ADAL" clId="{E50954F7-1882-4C1B-B81B-C53667ABA041}" dt="2026-10-21T19:34:45.278" v="478" actId="6549"/>
        <pc:sldMkLst>
          <pc:docMk/>
          <pc:sldMk cId="2514631042" sldId="2076138490"/>
        </pc:sldMkLst>
        <pc:spChg chg="add mod">
          <ac:chgData name="Deepti Vaidyanathan" userId="d3f2712c-13e9-42bb-ab8c-92148060916a" providerId="ADAL" clId="{E50954F7-1882-4C1B-B81B-C53667ABA041}" dt="2026-10-21T18:08:39.248" v="192" actId="14100"/>
          <ac:spMkLst>
            <pc:docMk/>
            <pc:sldMk cId="2514631042" sldId="2076138490"/>
            <ac:spMk id="47" creationId="{9648626D-A44F-6A16-865E-867EB3413E97}"/>
          </ac:spMkLst>
        </pc:spChg>
        <pc:spChg chg="add mod">
          <ac:chgData name="Deepti Vaidyanathan" userId="d3f2712c-13e9-42bb-ab8c-92148060916a" providerId="ADAL" clId="{E50954F7-1882-4C1B-B81B-C53667ABA041}" dt="2026-10-21T18:11:16.570" v="369" actId="1076"/>
          <ac:spMkLst>
            <pc:docMk/>
            <pc:sldMk cId="2514631042" sldId="2076138490"/>
            <ac:spMk id="49" creationId="{68E56F21-5247-2052-74BE-F0E7FDDE8D01}"/>
          </ac:spMkLst>
        </pc:spChg>
        <pc:spChg chg="add mod">
          <ac:chgData name="Deepti Vaidyanathan" userId="d3f2712c-13e9-42bb-ab8c-92148060916a" providerId="ADAL" clId="{E50954F7-1882-4C1B-B81B-C53667ABA041}" dt="2026-10-21T18:09:47.135" v="278" actId="14100"/>
          <ac:spMkLst>
            <pc:docMk/>
            <pc:sldMk cId="2514631042" sldId="2076138490"/>
            <ac:spMk id="51" creationId="{5D5F1896-CA3B-144D-5CDC-335EE4086519}"/>
          </ac:spMkLst>
        </pc:spChg>
        <pc:spChg chg="add mod">
          <ac:chgData name="Deepti Vaidyanathan" userId="d3f2712c-13e9-42bb-ab8c-92148060916a" providerId="ADAL" clId="{E50954F7-1882-4C1B-B81B-C53667ABA041}" dt="2026-10-21T18:09:57.403" v="308" actId="14100"/>
          <ac:spMkLst>
            <pc:docMk/>
            <pc:sldMk cId="2514631042" sldId="2076138490"/>
            <ac:spMk id="53" creationId="{1B0AF729-3E2D-615C-4F64-EFF98C126E00}"/>
          </ac:spMkLst>
        </pc:spChg>
        <pc:spChg chg="add mod">
          <ac:chgData name="Deepti Vaidyanathan" userId="d3f2712c-13e9-42bb-ab8c-92148060916a" providerId="ADAL" clId="{E50954F7-1882-4C1B-B81B-C53667ABA041}" dt="2026-10-21T18:10:17.433" v="359" actId="1076"/>
          <ac:spMkLst>
            <pc:docMk/>
            <pc:sldMk cId="2514631042" sldId="2076138490"/>
            <ac:spMk id="55" creationId="{E97201AB-E2FE-5985-A814-B2327FCF4136}"/>
          </ac:spMkLst>
        </pc:spChg>
        <pc:picChg chg="del">
          <ac:chgData name="Deepti Vaidyanathan" userId="d3f2712c-13e9-42bb-ab8c-92148060916a" providerId="ADAL" clId="{E50954F7-1882-4C1B-B81B-C53667ABA041}" dt="2026-10-21T17:47:28.495" v="55" actId="478"/>
          <ac:picMkLst>
            <pc:docMk/>
            <pc:sldMk cId="2514631042" sldId="2076138490"/>
            <ac:picMk id="6" creationId="{8DB6EA33-7D99-327F-C50D-09B34F59C950}"/>
          </ac:picMkLst>
        </pc:picChg>
        <pc:picChg chg="add del mod">
          <ac:chgData name="Deepti Vaidyanathan" userId="d3f2712c-13e9-42bb-ab8c-92148060916a" providerId="ADAL" clId="{E50954F7-1882-4C1B-B81B-C53667ABA041}" dt="2026-10-21T17:48:39.630" v="60" actId="478"/>
          <ac:picMkLst>
            <pc:docMk/>
            <pc:sldMk cId="2514631042" sldId="2076138490"/>
            <ac:picMk id="8" creationId="{3A8997DB-0CC4-F9FA-0599-1B08A8203F83}"/>
          </ac:picMkLst>
        </pc:picChg>
        <pc:picChg chg="add mod modCrop">
          <ac:chgData name="Deepti Vaidyanathan" userId="d3f2712c-13e9-42bb-ab8c-92148060916a" providerId="ADAL" clId="{E50954F7-1882-4C1B-B81B-C53667ABA041}" dt="2026-10-21T18:06:55.519" v="151" actId="1076"/>
          <ac:picMkLst>
            <pc:docMk/>
            <pc:sldMk cId="2514631042" sldId="2076138490"/>
            <ac:picMk id="11" creationId="{15E3D6D1-A86D-42AD-34EA-DEB5882D0BFC}"/>
          </ac:picMkLst>
        </pc:picChg>
        <pc:picChg chg="add mod modCrop">
          <ac:chgData name="Deepti Vaidyanathan" userId="d3f2712c-13e9-42bb-ab8c-92148060916a" providerId="ADAL" clId="{E50954F7-1882-4C1B-B81B-C53667ABA041}" dt="2026-10-21T18:06:55.519" v="151" actId="1076"/>
          <ac:picMkLst>
            <pc:docMk/>
            <pc:sldMk cId="2514631042" sldId="2076138490"/>
            <ac:picMk id="13" creationId="{56632C57-8560-5850-BC40-1E7EF955DE60}"/>
          </ac:picMkLst>
        </pc:picChg>
        <pc:picChg chg="add mod modCrop">
          <ac:chgData name="Deepti Vaidyanathan" userId="d3f2712c-13e9-42bb-ab8c-92148060916a" providerId="ADAL" clId="{E50954F7-1882-4C1B-B81B-C53667ABA041}" dt="2026-10-21T18:06:55.519" v="151" actId="1076"/>
          <ac:picMkLst>
            <pc:docMk/>
            <pc:sldMk cId="2514631042" sldId="2076138490"/>
            <ac:picMk id="15" creationId="{436D2E76-53B6-18E5-3F1D-37633473E119}"/>
          </ac:picMkLst>
        </pc:picChg>
        <pc:picChg chg="add mod modCrop">
          <ac:chgData name="Deepti Vaidyanathan" userId="d3f2712c-13e9-42bb-ab8c-92148060916a" providerId="ADAL" clId="{E50954F7-1882-4C1B-B81B-C53667ABA041}" dt="2026-10-21T18:06:55.519" v="151" actId="1076"/>
          <ac:picMkLst>
            <pc:docMk/>
            <pc:sldMk cId="2514631042" sldId="2076138490"/>
            <ac:picMk id="17" creationId="{46F3A495-6712-E7B2-B6E8-3541FEE565D8}"/>
          </ac:picMkLst>
        </pc:picChg>
        <pc:picChg chg="add mod modCrop">
          <ac:chgData name="Deepti Vaidyanathan" userId="d3f2712c-13e9-42bb-ab8c-92148060916a" providerId="ADAL" clId="{E50954F7-1882-4C1B-B81B-C53667ABA041}" dt="2026-10-21T18:06:55.519" v="151" actId="1076"/>
          <ac:picMkLst>
            <pc:docMk/>
            <pc:sldMk cId="2514631042" sldId="2076138490"/>
            <ac:picMk id="19" creationId="{7F78A3ED-64D3-8490-633F-A7C93A4AA4C7}"/>
          </ac:picMkLst>
        </pc:picChg>
        <pc:cxnChg chg="add mod">
          <ac:chgData name="Deepti Vaidyanathan" userId="d3f2712c-13e9-42bb-ab8c-92148060916a" providerId="ADAL" clId="{E50954F7-1882-4C1B-B81B-C53667ABA041}" dt="2026-10-21T18:06:55.519" v="151" actId="1076"/>
          <ac:cxnSpMkLst>
            <pc:docMk/>
            <pc:sldMk cId="2514631042" sldId="2076138490"/>
            <ac:cxnSpMk id="21" creationId="{AC77FD46-0A1A-3448-EBA6-23E3CCF5ECE6}"/>
          </ac:cxnSpMkLst>
        </pc:cxnChg>
        <pc:cxnChg chg="add mod">
          <ac:chgData name="Deepti Vaidyanathan" userId="d3f2712c-13e9-42bb-ab8c-92148060916a" providerId="ADAL" clId="{E50954F7-1882-4C1B-B81B-C53667ABA041}" dt="2026-10-21T18:07:01.401" v="152" actId="14100"/>
          <ac:cxnSpMkLst>
            <pc:docMk/>
            <pc:sldMk cId="2514631042" sldId="2076138490"/>
            <ac:cxnSpMk id="23" creationId="{769B810E-B9F2-BF42-959A-1F5BBCEC578B}"/>
          </ac:cxnSpMkLst>
        </pc:cxnChg>
        <pc:cxnChg chg="add mod">
          <ac:chgData name="Deepti Vaidyanathan" userId="d3f2712c-13e9-42bb-ab8c-92148060916a" providerId="ADAL" clId="{E50954F7-1882-4C1B-B81B-C53667ABA041}" dt="2026-10-21T18:06:55.519" v="151" actId="1076"/>
          <ac:cxnSpMkLst>
            <pc:docMk/>
            <pc:sldMk cId="2514631042" sldId="2076138490"/>
            <ac:cxnSpMk id="36" creationId="{A2669102-3FB1-068B-AAB4-6EAA6C0E9AE2}"/>
          </ac:cxnSpMkLst>
        </pc:cxnChg>
        <pc:cxnChg chg="add mod">
          <ac:chgData name="Deepti Vaidyanathan" userId="d3f2712c-13e9-42bb-ab8c-92148060916a" providerId="ADAL" clId="{E50954F7-1882-4C1B-B81B-C53667ABA041}" dt="2026-10-21T18:06:55.519" v="151" actId="1076"/>
          <ac:cxnSpMkLst>
            <pc:docMk/>
            <pc:sldMk cId="2514631042" sldId="2076138490"/>
            <ac:cxnSpMk id="39" creationId="{DCBA2A74-7709-0D98-25B7-383DAC8C0EFE}"/>
          </ac:cxnSpMkLst>
        </pc:cxnChg>
        <pc:cxnChg chg="add mod">
          <ac:chgData name="Deepti Vaidyanathan" userId="d3f2712c-13e9-42bb-ab8c-92148060916a" providerId="ADAL" clId="{E50954F7-1882-4C1B-B81B-C53667ABA041}" dt="2026-10-21T18:06:55.519" v="151" actId="1076"/>
          <ac:cxnSpMkLst>
            <pc:docMk/>
            <pc:sldMk cId="2514631042" sldId="2076138490"/>
            <ac:cxnSpMk id="42" creationId="{AC84605E-9358-0C70-7169-317AB94090B9}"/>
          </ac:cxnSpMkLst>
        </pc:cxnChg>
        <pc:cxnChg chg="add mod">
          <ac:chgData name="Deepti Vaidyanathan" userId="d3f2712c-13e9-42bb-ab8c-92148060916a" providerId="ADAL" clId="{E50954F7-1882-4C1B-B81B-C53667ABA041}" dt="2026-10-21T18:11:02.010" v="365" actId="14100"/>
          <ac:cxnSpMkLst>
            <pc:docMk/>
            <pc:sldMk cId="2514631042" sldId="2076138490"/>
            <ac:cxnSpMk id="57" creationId="{70AE30B7-F151-B6BC-5172-5D1BB5EBAAE0}"/>
          </ac:cxnSpMkLst>
        </pc:cxnChg>
        <pc:cxnChg chg="add mod">
          <ac:chgData name="Deepti Vaidyanathan" userId="d3f2712c-13e9-42bb-ab8c-92148060916a" providerId="ADAL" clId="{E50954F7-1882-4C1B-B81B-C53667ABA041}" dt="2026-10-21T18:11:25.150" v="371" actId="14100"/>
          <ac:cxnSpMkLst>
            <pc:docMk/>
            <pc:sldMk cId="2514631042" sldId="2076138490"/>
            <ac:cxnSpMk id="61" creationId="{F390F9BF-BA42-C737-27C9-BC326541139D}"/>
          </ac:cxnSpMkLst>
        </pc:cxnChg>
        <pc:cxnChg chg="add mod">
          <ac:chgData name="Deepti Vaidyanathan" userId="d3f2712c-13e9-42bb-ab8c-92148060916a" providerId="ADAL" clId="{E50954F7-1882-4C1B-B81B-C53667ABA041}" dt="2026-10-21T18:11:37.080" v="374" actId="14100"/>
          <ac:cxnSpMkLst>
            <pc:docMk/>
            <pc:sldMk cId="2514631042" sldId="2076138490"/>
            <ac:cxnSpMk id="66" creationId="{390F9748-2898-E19B-38FB-2766AFCC058A}"/>
          </ac:cxnSpMkLst>
        </pc:cxnChg>
        <pc:cxnChg chg="add mod">
          <ac:chgData name="Deepti Vaidyanathan" userId="d3f2712c-13e9-42bb-ab8c-92148060916a" providerId="ADAL" clId="{E50954F7-1882-4C1B-B81B-C53667ABA041}" dt="2026-10-21T18:11:46.157" v="377" actId="14100"/>
          <ac:cxnSpMkLst>
            <pc:docMk/>
            <pc:sldMk cId="2514631042" sldId="2076138490"/>
            <ac:cxnSpMk id="69" creationId="{E7C3D7AB-A1AE-00C8-E053-84A90E639673}"/>
          </ac:cxnSpMkLst>
        </pc:cxnChg>
        <pc:cxnChg chg="add mod">
          <ac:chgData name="Deepti Vaidyanathan" userId="d3f2712c-13e9-42bb-ab8c-92148060916a" providerId="ADAL" clId="{E50954F7-1882-4C1B-B81B-C53667ABA041}" dt="2026-10-21T19:18:30.036" v="382" actId="14100"/>
          <ac:cxnSpMkLst>
            <pc:docMk/>
            <pc:sldMk cId="2514631042" sldId="2076138490"/>
            <ac:cxnSpMk id="72" creationId="{E044CB56-8C90-7007-BC98-412004B1B101}"/>
          </ac:cxnSpMkLst>
        </pc:cxnChg>
      </pc:sldChg>
    </pc:docChg>
  </pc:docChgLst>
  <pc:docChgLst>
    <pc:chgData name="Deepti Vaidyanathan" userId="S::deeptivai@microsoft.com::d3f2712c-13e9-42bb-ab8c-92148060916a" providerId="AD" clId="Web-{A44E0346-51A9-9F7C-B097-C5E87D619372}"/>
    <pc:docChg chg="modSld">
      <pc:chgData name="Deepti Vaidyanathan" userId="S::deeptivai@microsoft.com::d3f2712c-13e9-42bb-ab8c-92148060916a" providerId="AD" clId="Web-{A44E0346-51A9-9F7C-B097-C5E87D619372}" dt="2026-10-15T23:32:25.658" v="4353" actId="20577"/>
      <pc:docMkLst>
        <pc:docMk/>
      </pc:docMkLst>
      <pc:sldChg chg="modNotes">
        <pc:chgData name="Deepti Vaidyanathan" userId="S::deeptivai@microsoft.com::d3f2712c-13e9-42bb-ab8c-92148060916a" providerId="AD" clId="Web-{A44E0346-51A9-9F7C-B097-C5E87D619372}" dt="2026-10-15T18:26:24.408" v="1285"/>
        <pc:sldMkLst>
          <pc:docMk/>
          <pc:sldMk cId="4256147837" sldId="351"/>
        </pc:sldMkLst>
      </pc:sldChg>
      <pc:sldChg chg="modSp modNotes">
        <pc:chgData name="Deepti Vaidyanathan" userId="S::deeptivai@microsoft.com::d3f2712c-13e9-42bb-ab8c-92148060916a" providerId="AD" clId="Web-{A44E0346-51A9-9F7C-B097-C5E87D619372}" dt="2026-10-15T23:32:25.658" v="4353" actId="20577"/>
        <pc:sldMkLst>
          <pc:docMk/>
          <pc:sldMk cId="2733828661" sldId="353"/>
        </pc:sldMkLst>
        <pc:spChg chg="mod">
          <ac:chgData name="Deepti Vaidyanathan" userId="S::deeptivai@microsoft.com::d3f2712c-13e9-42bb-ab8c-92148060916a" providerId="AD" clId="Web-{A44E0346-51A9-9F7C-B097-C5E87D619372}" dt="2026-10-14T22:01:36.281" v="3" actId="20577"/>
          <ac:spMkLst>
            <pc:docMk/>
            <pc:sldMk cId="2733828661" sldId="353"/>
            <ac:spMk id="4" creationId="{2BE5B449-D3C3-3748-66BD-58478DFF8A35}"/>
          </ac:spMkLst>
        </pc:spChg>
        <pc:spChg chg="mod">
          <ac:chgData name="Deepti Vaidyanathan" userId="S::deeptivai@microsoft.com::d3f2712c-13e9-42bb-ab8c-92148060916a" providerId="AD" clId="Web-{A44E0346-51A9-9F7C-B097-C5E87D619372}" dt="2026-10-15T23:32:25.658" v="4353" actId="20577"/>
          <ac:spMkLst>
            <pc:docMk/>
            <pc:sldMk cId="2733828661" sldId="353"/>
            <ac:spMk id="15" creationId="{10DDF6E0-BE85-CF07-6219-6B3403B36CDA}"/>
          </ac:spMkLst>
        </pc:spChg>
      </pc:sldChg>
      <pc:sldChg chg="modSp modAnim modNotes">
        <pc:chgData name="Deepti Vaidyanathan" userId="S::deeptivai@microsoft.com::d3f2712c-13e9-42bb-ab8c-92148060916a" providerId="AD" clId="Web-{A44E0346-51A9-9F7C-B097-C5E87D619372}" dt="2026-10-15T22:22:36.720" v="4341"/>
        <pc:sldMkLst>
          <pc:docMk/>
          <pc:sldMk cId="358779215" sldId="357"/>
        </pc:sldMkLst>
        <pc:spChg chg="mod">
          <ac:chgData name="Deepti Vaidyanathan" userId="S::deeptivai@microsoft.com::d3f2712c-13e9-42bb-ab8c-92148060916a" providerId="AD" clId="Web-{A44E0346-51A9-9F7C-B097-C5E87D619372}" dt="2026-10-15T20:34:20.420" v="2946" actId="1076"/>
          <ac:spMkLst>
            <pc:docMk/>
            <pc:sldMk cId="358779215" sldId="357"/>
            <ac:spMk id="19" creationId="{D00F06D3-1172-7EB7-A265-B861B4355EFD}"/>
          </ac:spMkLst>
        </pc:spChg>
        <pc:spChg chg="mod">
          <ac:chgData name="Deepti Vaidyanathan" userId="S::deeptivai@microsoft.com::d3f2712c-13e9-42bb-ab8c-92148060916a" providerId="AD" clId="Web-{A44E0346-51A9-9F7C-B097-C5E87D619372}" dt="2026-10-15T20:34:23.483" v="2947" actId="1076"/>
          <ac:spMkLst>
            <pc:docMk/>
            <pc:sldMk cId="358779215" sldId="357"/>
            <ac:spMk id="27" creationId="{BCCFBA60-E3CF-7E07-67C4-180A12A1EB9D}"/>
          </ac:spMkLst>
        </pc:spChg>
        <pc:spChg chg="mod">
          <ac:chgData name="Deepti Vaidyanathan" userId="S::deeptivai@microsoft.com::d3f2712c-13e9-42bb-ab8c-92148060916a" providerId="AD" clId="Web-{A44E0346-51A9-9F7C-B097-C5E87D619372}" dt="2026-10-15T20:51:23.599" v="3154" actId="20577"/>
          <ac:spMkLst>
            <pc:docMk/>
            <pc:sldMk cId="358779215" sldId="357"/>
            <ac:spMk id="29" creationId="{E5993D9E-E778-4F6F-9902-8DE4CB37EC4C}"/>
          </ac:spMkLst>
        </pc:spChg>
        <pc:grpChg chg="mod">
          <ac:chgData name="Deepti Vaidyanathan" userId="S::deeptivai@microsoft.com::d3f2712c-13e9-42bb-ab8c-92148060916a" providerId="AD" clId="Web-{A44E0346-51A9-9F7C-B097-C5E87D619372}" dt="2026-10-15T20:34:09.467" v="2943" actId="1076"/>
          <ac:grpSpMkLst>
            <pc:docMk/>
            <pc:sldMk cId="358779215" sldId="357"/>
            <ac:grpSpMk id="30" creationId="{D3AF6EC1-0030-0EC8-D78D-A47E5A48D1AF}"/>
          </ac:grpSpMkLst>
        </pc:grpChg>
        <pc:grpChg chg="mod">
          <ac:chgData name="Deepti Vaidyanathan" userId="S::deeptivai@microsoft.com::d3f2712c-13e9-42bb-ab8c-92148060916a" providerId="AD" clId="Web-{A44E0346-51A9-9F7C-B097-C5E87D619372}" dt="2026-10-15T20:34:11.342" v="2944" actId="1076"/>
          <ac:grpSpMkLst>
            <pc:docMk/>
            <pc:sldMk cId="358779215" sldId="357"/>
            <ac:grpSpMk id="31" creationId="{CDCFA853-A392-9148-7959-86A3164EC07C}"/>
          </ac:grpSpMkLst>
        </pc:grpChg>
        <pc:grpChg chg="mod">
          <ac:chgData name="Deepti Vaidyanathan" userId="S::deeptivai@microsoft.com::d3f2712c-13e9-42bb-ab8c-92148060916a" providerId="AD" clId="Web-{A44E0346-51A9-9F7C-B097-C5E87D619372}" dt="2026-10-15T20:32:58.310" v="2929" actId="1076"/>
          <ac:grpSpMkLst>
            <pc:docMk/>
            <pc:sldMk cId="358779215" sldId="357"/>
            <ac:grpSpMk id="32" creationId="{38EF584C-F8F6-46E5-3077-D7177E32587A}"/>
          </ac:grpSpMkLst>
        </pc:grpChg>
      </pc:sldChg>
      <pc:sldChg chg="modNotes">
        <pc:chgData name="Deepti Vaidyanathan" userId="S::deeptivai@microsoft.com::d3f2712c-13e9-42bb-ab8c-92148060916a" providerId="AD" clId="Web-{A44E0346-51A9-9F7C-B097-C5E87D619372}" dt="2026-10-15T22:21:52.797" v="4340"/>
        <pc:sldMkLst>
          <pc:docMk/>
          <pc:sldMk cId="2514631042" sldId="2076138490"/>
        </pc:sldMkLst>
      </pc:sldChg>
      <pc:sldChg chg="modNotes">
        <pc:chgData name="Deepti Vaidyanathan" userId="S::deeptivai@microsoft.com::d3f2712c-13e9-42bb-ab8c-92148060916a" providerId="AD" clId="Web-{A44E0346-51A9-9F7C-B097-C5E87D619372}" dt="2026-10-15T18:52:11.882" v="2365"/>
        <pc:sldMkLst>
          <pc:docMk/>
          <pc:sldMk cId="1645589190" sldId="2076138491"/>
        </pc:sldMkLst>
      </pc:sldChg>
      <pc:sldChg chg="modNotes">
        <pc:chgData name="Deepti Vaidyanathan" userId="S::deeptivai@microsoft.com::d3f2712c-13e9-42bb-ab8c-92148060916a" providerId="AD" clId="Web-{A44E0346-51A9-9F7C-B097-C5E87D619372}" dt="2026-10-15T22:10:42.980" v="4224"/>
        <pc:sldMkLst>
          <pc:docMk/>
          <pc:sldMk cId="1400404869" sldId="2076138494"/>
        </pc:sldMkLst>
      </pc:sldChg>
      <pc:sldChg chg="modNotes">
        <pc:chgData name="Deepti Vaidyanathan" userId="S::deeptivai@microsoft.com::d3f2712c-13e9-42bb-ab8c-92148060916a" providerId="AD" clId="Web-{A44E0346-51A9-9F7C-B097-C5E87D619372}" dt="2026-10-15T18:26:29.064" v="1287"/>
        <pc:sldMkLst>
          <pc:docMk/>
          <pc:sldMk cId="3639446982" sldId="2076138496"/>
        </pc:sldMkLst>
      </pc:sldChg>
    </pc:docChg>
  </pc:docChgLst>
</pc:chgInfo>
</file>

<file path=ppt/comments/modernComment_7BBF5BFA_95E23982.xml><?xml version="1.0" encoding="utf-8"?>
<p188:cmLst xmlns:a="http://schemas.openxmlformats.org/drawingml/2006/main" xmlns:r="http://schemas.openxmlformats.org/officeDocument/2006/relationships" xmlns:p188="http://schemas.microsoft.com/office/powerpoint/2018/8/main">
  <p188:cm id="{C875363B-EEFB-4DE7-B4F0-C0AA942E0F84}" authorId="{7B8900E0-F291-0268-5C94-D8B0693FC660}" created="2026-10-14T22:34:35.513">
    <pc:sldMkLst xmlns:pc="http://schemas.microsoft.com/office/powerpoint/2013/main/command">
      <pc:docMk/>
      <pc:sldMk cId="2514631042" sldId="2076138490"/>
    </pc:sldMkLst>
    <p188:txBody>
      <a:bodyPr/>
      <a:lstStyle/>
      <a:p>
        <a:r>
          <a:rPr lang="en-US"/>
          <a:t>Combine slides 14-15, talk abt what we did w/ RPG design thinking in diagram</a:t>
        </a:r>
      </a:p>
    </p188:txBody>
  </p188:cm>
</p188:cmLst>
</file>

<file path=ppt/comments/modernComment_7BBF5BFB_6215B2C6.xml><?xml version="1.0" encoding="utf-8"?>
<p188:cmLst xmlns:a="http://schemas.openxmlformats.org/drawingml/2006/main" xmlns:r="http://schemas.openxmlformats.org/officeDocument/2006/relationships" xmlns:p188="http://schemas.microsoft.com/office/powerpoint/2018/8/main">
  <p188:cm id="{3F6A360E-9116-4898-B900-A4FDBBE4DB46}" authorId="{7B8900E0-F291-0268-5C94-D8B0693FC660}" created="2026-10-14T22:21:39.940">
    <pc:sldMkLst xmlns:pc="http://schemas.microsoft.com/office/powerpoint/2013/main/command">
      <pc:docMk/>
      <pc:sldMk cId="1645589190" sldId="2076138491"/>
    </pc:sldMkLst>
    <p188:txBody>
      <a:bodyPr/>
      <a:lstStyle/>
      <a:p>
        <a:r>
          <a:rPr lang="en-US"/>
          <a:t>Update the Cats in the city filled out worksheet page
link broken for pax 2025</a:t>
        </a:r>
      </a:p>
    </p188:txBody>
  </p188:cm>
</p188:cmLst>
</file>

<file path=ppt/comments/modernComment_7BBF5C00_D8ED8DC6.xml><?xml version="1.0" encoding="utf-8"?>
<p188:cmLst xmlns:a="http://schemas.openxmlformats.org/drawingml/2006/main" xmlns:r="http://schemas.openxmlformats.org/officeDocument/2006/relationships" xmlns:p188="http://schemas.microsoft.com/office/powerpoint/2018/8/main">
  <p188:cm id="{745FCBDF-45F8-413E-B588-3C6B78268447}" authorId="{7B8900E0-F291-0268-5C94-D8B0693FC660}" status="resolved" created="2026-10-14T22:12:10.979" complete="100000">
    <ac:deMkLst xmlns:ac="http://schemas.microsoft.com/office/drawing/2013/main/command">
      <pc:docMk xmlns:pc="http://schemas.microsoft.com/office/powerpoint/2013/main/command"/>
      <pc:sldMk xmlns:pc="http://schemas.microsoft.com/office/powerpoint/2013/main/command" cId="3639446982" sldId="2076138496"/>
      <ac:spMk id="2" creationId="{A6A3E76A-59A8-9867-7766-6B760A35A8D5}"/>
    </ac:deMkLst>
    <p188:txBody>
      <a:bodyPr/>
      <a:lstStyle/>
      <a:p>
        <a:r>
          <a:rPr lang="en-US"/>
          <a:t>Shorten, just quick intro of slides + workshop time org</a:t>
        </a:r>
      </a:p>
    </p188:txBody>
  </p188:cm>
</p188:cmLst>
</file>

<file path=ppt/comments/modernComment_7BBF5C02_E7E293AE.xml><?xml version="1.0" encoding="utf-8"?>
<p188:cmLst xmlns:a="http://schemas.openxmlformats.org/drawingml/2006/main" xmlns:r="http://schemas.openxmlformats.org/officeDocument/2006/relationships" xmlns:p188="http://schemas.microsoft.com/office/powerpoint/2018/8/main">
  <p188:cm id="{7344C220-4F05-46FA-BDA5-565EC28E777F}" authorId="{097E9E3C-0296-9C85-5AD8-075DE372EF69}" status="resolved" created="2026-10-14T22:24:09.532" complete="100000">
    <pc:sldMkLst xmlns:pc="http://schemas.microsoft.com/office/powerpoint/2013/main/command">
      <pc:docMk/>
      <pc:sldMk cId="3890385838" sldId="2076138498"/>
    </pc:sldMkLst>
    <p188:txBody>
      <a:bodyPr/>
      <a:lstStyle/>
      <a:p>
        <a:r>
          <a:rPr lang="en-US"/>
          <a:t>Shorten but don’t remove lol </a:t>
        </a:r>
      </a:p>
    </p188:txBody>
  </p188:cm>
</p188:cmLst>
</file>

<file path=ppt/comments/modernComment_15F_FDAFA97D.xml><?xml version="1.0" encoding="utf-8"?>
<p188:cmLst xmlns:a="http://schemas.openxmlformats.org/drawingml/2006/main" xmlns:r="http://schemas.openxmlformats.org/officeDocument/2006/relationships" xmlns:p188="http://schemas.microsoft.com/office/powerpoint/2018/8/main">
  <p188:cm id="{E305E72D-2C0B-4771-9CEA-5DBA737453BB}" authorId="{097E9E3C-0296-9C85-5AD8-075DE372EF69}" status="resolved" created="2026-08-13T22:14:46.607" complete="100000">
    <pc:sldMkLst xmlns:pc="http://schemas.microsoft.com/office/powerpoint/2013/main/command">
      <pc:docMk/>
      <pc:sldMk cId="4256147837" sldId="351"/>
    </pc:sldMkLst>
    <p188:txBody>
      <a:bodyPr/>
      <a:lstStyle/>
      <a:p>
        <a:r>
          <a:rPr lang="en-US"/>
          <a:t>Mention that TTRPGs are kind of the basis of many video games—these same design steps can be used to make video games, board games, card games, etc.</a:t>
        </a:r>
      </a:p>
    </p188:txBody>
  </p188:cm>
  <p188:cm id="{EC7F38E7-9980-47A7-BDA9-489E3CBE4F89}" authorId="{097E9E3C-0296-9C85-5AD8-075DE372EF69}" status="resolved" created="2026-10-14T22:14:56.067" complete="100000">
    <pc:sldMkLst xmlns:pc="http://schemas.microsoft.com/office/powerpoint/2013/main/command">
      <pc:docMk/>
      <pc:sldMk cId="4256147837" sldId="351"/>
    </pc:sldMkLst>
    <p188:txBody>
      <a:bodyPr/>
      <a:lstStyle/>
      <a:p>
        <a:r>
          <a:rPr lang="en-US"/>
          <a:t>Cut the “why make a TTRPG” part but keep the explanation of lasers and feelings and how short it is </a:t>
        </a:r>
      </a:p>
    </p188:txBody>
  </p188:cm>
</p188:cmLst>
</file>

<file path=ppt/comments/modernComment_16B_5B2997F1.xml><?xml version="1.0" encoding="utf-8"?>
<p188:cmLst xmlns:a="http://schemas.openxmlformats.org/drawingml/2006/main" xmlns:r="http://schemas.openxmlformats.org/officeDocument/2006/relationships" xmlns:p188="http://schemas.microsoft.com/office/powerpoint/2018/8/main">
  <p188:cm id="{7894C845-F93A-4DC5-A2CA-BB9FEAC8FB98}" authorId="{7B8900E0-F291-0268-5C94-D8B0693FC660}" status="resolved" created="2026-08-13T22:22:36.567" complete="100000">
    <pc:sldMkLst xmlns:pc="http://schemas.microsoft.com/office/powerpoint/2013/main/command">
      <pc:docMk/>
      <pc:sldMk cId="1529452529" sldId="363"/>
    </pc:sldMkLst>
    <p188:txBody>
      <a:bodyPr/>
      <a:lstStyle/>
      <a:p>
        <a:r>
          <a:rPr lang="en-US"/>
          <a:t>Add video game stuff</a:t>
        </a:r>
      </a:p>
    </p188:txBody>
  </p188:cm>
  <p188:cm id="{E6369012-C9C9-4334-9FB8-191EC9F4729D}" authorId="{097E9E3C-0296-9C85-5AD8-075DE372EF69}" created="2026-10-15T23:17:38.853">
    <pc:sldMkLst xmlns:pc="http://schemas.microsoft.com/office/powerpoint/2013/main/command">
      <pc:docMk/>
      <pc:sldMk cId="1529452529" sldId="363"/>
    </pc:sldMkLst>
    <p188:txBody>
      <a:bodyPr/>
      <a:lstStyle/>
      <a:p>
        <a:r>
          <a:rPr lang="en-US"/>
          <a:t>Fix the animation etc</a:t>
        </a:r>
      </a:p>
    </p188:txBody>
  </p188:cm>
</p188:cmLst>
</file>

<file path=ppt/comments/modernComment_161_A2F2EA35.xml><?xml version="1.0" encoding="utf-8"?>
<p188:cmLst xmlns:a="http://schemas.openxmlformats.org/drawingml/2006/main" xmlns:r="http://schemas.openxmlformats.org/officeDocument/2006/relationships" xmlns:p188="http://schemas.microsoft.com/office/powerpoint/2018/8/main">
  <p188:cm id="{7DD7D593-1645-4DF8-B5C9-3BBAB11F4F37}" authorId="{7B8900E0-F291-0268-5C94-D8B0693FC660}" created="2026-10-14T22:16:19.857">
    <pc:sldMkLst xmlns:pc="http://schemas.microsoft.com/office/powerpoint/2013/main/command">
      <pc:docMk/>
      <pc:sldMk cId="2733828661" sldId="353"/>
    </pc:sldMkLst>
    <p188:txBody>
      <a:bodyPr/>
      <a:lstStyle/>
      <a:p>
        <a:r>
          <a:rPr lang="en-US"/>
          <a:t>Shorten Cat RPG examples</a:t>
        </a:r>
      </a:p>
    </p188:txBody>
  </p188:cm>
  <p188:cm id="{C082DA8B-7E29-4465-928D-8B78761401D9}" authorId="{097E9E3C-0296-9C85-5AD8-075DE372EF69}" created="2026-10-15T22:48:44.506">
    <pc:sldMkLst xmlns:pc="http://schemas.microsoft.com/office/powerpoint/2013/main/command">
      <pc:docMk/>
      <pc:sldMk cId="2733828661" sldId="353"/>
    </pc:sldMkLst>
    <p188:txBody>
      <a:bodyPr/>
      <a:lstStyle/>
      <a:p>
        <a:r>
          <a:rPr lang="en-US"/>
          <a:t>“Now that you have a topic…” could be “Once you have…” since they don’t have the topic yet </a:t>
        </a:r>
      </a:p>
    </p188:txBody>
  </p188:cm>
</p188:cmLst>
</file>

<file path=ppt/comments/modernComment_165_1562894F.xml><?xml version="1.0" encoding="utf-8"?>
<p188:cmLst xmlns:a="http://schemas.openxmlformats.org/drawingml/2006/main" xmlns:r="http://schemas.openxmlformats.org/officeDocument/2006/relationships" xmlns:p188="http://schemas.microsoft.com/office/powerpoint/2018/8/main">
  <p188:cm id="{784FA3CF-AE1F-46AD-8367-81816F91C98D}" authorId="{7B8900E0-F291-0268-5C94-D8B0693FC660}" status="resolved" created="2026-10-14T22:32:11.042" complete="100000">
    <ac:deMkLst xmlns:ac="http://schemas.microsoft.com/office/drawing/2013/main/command">
      <pc:docMk xmlns:pc="http://schemas.microsoft.com/office/powerpoint/2013/main/command"/>
      <pc:sldMk xmlns:pc="http://schemas.microsoft.com/office/powerpoint/2013/main/command" cId="358779215" sldId="357"/>
      <ac:spMk id="19" creationId="{D00F06D3-1172-7EB7-A265-B861B4355EFD}"/>
    </ac:deMkLst>
    <p188:txBody>
      <a:bodyPr/>
      <a:lstStyle/>
      <a:p>
        <a:r>
          <a:rPr lang="en-US"/>
          <a:t>Combine slides 11 + 12, core mechanic in limited number and immersion tip in KISS</a:t>
        </a:r>
      </a:p>
    </p188:txBody>
  </p188:cm>
</p188:cmLst>
</file>

<file path=ppt/comments/modernComment_170_84B7D4E0.xml><?xml version="1.0" encoding="utf-8"?>
<p188:cmLst xmlns:a="http://schemas.openxmlformats.org/drawingml/2006/main" xmlns:r="http://schemas.openxmlformats.org/officeDocument/2006/relationships" xmlns:p188="http://schemas.microsoft.com/office/powerpoint/2018/8/main">
  <p188:cm id="{A81AB299-5FF4-42C3-B704-27240D9411AC}" authorId="{097E9E3C-0296-9C85-5AD8-075DE372EF69}" status="resolved" created="2025-07-08T22:43:51.221" complete="100000">
    <pc:sldMkLst xmlns:pc="http://schemas.microsoft.com/office/powerpoint/2013/main/command">
      <pc:docMk/>
      <pc:sldMk cId="2226640096" sldId="368"/>
    </pc:sldMkLst>
    <p188:txBody>
      <a:bodyPr/>
      <a:lstStyle/>
      <a:p>
        <a:r>
          <a:rPr lang="en-US"/>
          <a:t>[@nina navazio] update the worksheet to explain “What players do while playing”</a:t>
        </a:r>
      </a:p>
    </p188:txBody>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1:58.874"/>
    </inkml:context>
    <inkml:brush xml:id="br0">
      <inkml:brushProperty name="width" value="0.1" units="cm"/>
      <inkml:brushProperty name="height" value="0.1" units="cm"/>
    </inkml:brush>
  </inkml:definitions>
  <inkml:trace contextRef="#ctx0" brushRef="#br0">0 1616 24575,'25'2'0,"-1"1"0,0 0 0,0 2 0,25 9 0,-23-7 0,-4 0 0,1 1 0,-2 1 0,0 1 0,0 1 0,24 16 0,94 77 0,-104-75 0,-4-6 0,45 28 0,-60-42 0,0-1 0,0 0 0,1-2 0,0 0 0,22 5 0,22 0 0,-25-5 0,43 13 0,-53-13 0,0-1 0,1-1 0,-1-2 0,1-1 0,47-4 0,-8 2 0,212 20 0,-183-8 0,128-3 0,244-41 0,-245 15 0,-59 10 0,214 18 0,-305-7 0,0-4 0,95-12 0,140-38 0,-230 39 0,22-4 0,-44 5 0,74-4 0,-41 6 0,17-11 0,-10 1 0,-84 16 0,-1 0 0,1 0 0,-1-1 0,19-9 0,-17 7 0,1 0 0,17-4 0,37-6 0,40-11 0,-55 11 0,81-33 0,-119 43 0,0-1 0,-1-1 0,0 0 0,-1-1 0,1 0 0,-2-1 0,12-12 0,-7 7 0,1 0 0,1 1 0,-1 1 0,21-11 0,-13 8 0,35-28 0,208-200 0,-232 212 0,53-47 0,164-112 0,-228 176 0,1 2 0,1 0 0,0 2 0,1 1 0,56-13 0,146-9 0,-117 20 0,-95 9 0,-1-1 0,0 0 0,0-1 0,0-1 0,0 0 0,27-17 0,85-63 0,-21 11 0,-52 41 0,-15 7 0,2 2 0,1 2 0,80-31 0,-51 29 0,44-12 0,-56 20 0,0-2 0,58-27 0,-87 28 0,-1 0 0,50-40 0,-57 37 0,38-41 0,-21 20 0,-19 15 0,-18 25 0,-4 7 0,-6 10 0,0-7 0,-1 1 0,0-1 0,-1 0 0,0 0 0,0-1 0,0 0 0,-1-1 0,0 0 0,0 0 0,-1-1 0,-13 6 0,-2 0 0,-1-2 0,0-1 0,-38 8 0,25-11 0,-57 2 0,54-5 0,-42 7 0,80-9 0,-1 1 0,1-1 0,-1 0 0,0 0 0,1 0 0,-9-2 0,12 2 0,0 0 0,1 0 0,-1 0 0,0-1 0,0 1 0,0 0 0,0-1 0,0 1 0,1 0 0,-1-1 0,0 1 0,0-1 0,1 0 0,-1 1 0,0-1 0,1 1 0,-1-1 0,1 0 0,-1 0 0,1 1 0,-1-1 0,1 0 0,-1 0 0,1 1 0,0-1 0,-1 0 0,1 0 0,0 0 0,0 0 0,0 0 0,-1 0 0,1 0 0,0 1 0,0-1 0,0 0 0,1 0 0,-1 0 0,0 0 0,0 0 0,0 0 0,1-1 0,0 0 0,0 0 0,0 1 0,1-1 0,-1 1 0,0-1 0,1 1 0,-1-1 0,1 1 0,0 0 0,-1-1 0,1 1 0,0 0 0,0 0 0,-1 0 0,1 1 0,0-1 0,0 0 0,0 1 0,0-1 0,0 1 0,4-1 0,48-3 0,-47 4 0,53 0 0,-39 1 0,0-1 0,-1 0 0,0-2 0,1 0 0,-1-2 0,39-11 0,-51 12 0,-1 0 0,1 0 0,-1-1 0,0-1 0,0 1 0,-1-1 0,11-9 0,-6 3 0,0 2 0,1-1 0,0 1 0,1 1 0,-1 0 0,2 1 0,-1 1 0,1 0 0,18-6 0,-31 12 0,-1 0 0,1-1 0,0 1 0,0 0 0,0 0 0,-1 0 0,1 0 0,0 0 0,0 0 0,0 0 0,0 0 0,-1 0 0,1 0 0,0 0 0,0 0 0,0 1 0,-1-1 0,1 0 0,0 1 0,0-1 0,-1 0 0,1 1 0,0-1 0,-1 1 0,1-1 0,1 2 0,-2-1 0,1 0 0,0 1 0,-1-1 0,1 1 0,-1-1 0,1 0 0,-1 1 0,0-1 0,0 1 0,0-1 0,0 1 0,0-1 0,0 3 0,-1 7 0,-1-1 0,0 0 0,-5 14 0,5-19 0,-4 11 0,-1-1 0,-14 25 0,3-5 0,-8 27 0,19-42 0,-1-1 0,-14 25 0,14-33 0,0-1 0,0 0 0,-18 16 0,10-10 0,15-15 0,0 0 0,0 0 0,0 0 0,0 1 0,0-1 0,0 0 0,1 1 0,-1-1 0,0 1 0,1-1 0,-1 1 0,1-1 0,-1 1 0,1-1 0,0 1 0,-1 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3:07.315"/>
    </inkml:context>
    <inkml:brush xml:id="br0">
      <inkml:brushProperty name="width" value="0.10583" units="cm"/>
      <inkml:brushProperty name="height" value="0.10583" units="cm"/>
      <inkml:brushProperty name="color" value="#322239"/>
    </inkml:brush>
  </inkml:definitions>
  <inkml:trace contextRef="#ctx0" brushRef="#br0">3191 326 24575,'-48'-1'0,"0"-3"0,1-2 0,-1-2 0,1-1 0,0-3 0,-57-23 0,83 25 0,1 0 0,-26-17 0,25 14 0,-32-15 0,33 21 0,0 1 0,0 1 0,-1 0 0,0 2 0,-30-2 0,23 3 0,0-1 0,-36-10 0,-183-56 0,192 53 0,38 10 0,-1 0 0,1 1 0,-1 1 0,0 1 0,-23-1 0,3 4 0,-213 3 0,147 9 0,40-3 0,45-5 0,0 0 0,0 1 0,0 1 0,-30 13 0,29-10 0,0-2 0,-1-1 0,-23 4 0,22-6 0,-40 14 0,26-6 0,0-1 0,-59 8 0,13 2 0,33-8 0,31-7 0,-1 1 0,-33 17 0,-10 4 0,25-13 0,23-9 0,0 0 0,-1-1 0,1 0 0,-1-2 0,0 1 0,-16 0 0,20-3 0,0 0 0,0 1 0,-1 1 0,1 0 0,-19 8 0,-52 30 0,38-17 0,4-1 0,31-17 0,1-1 0,-1 1 0,0-2 0,-1 1 0,1-1 0,-1-1 0,-18 5 0,1-3 0,-41 13 0,-3 1 0,69-19 0,-1 1 0,1-1 0,-1 1 0,1 0 0,-1 0 0,1 0 0,0 0 0,-1 1 0,1-1 0,0 0 0,0 1 0,0 0 0,0-1 0,0 1 0,1 0 0,-1 0 0,0 0 0,1 0 0,-3 5 0,3-4 0,-1 1 0,1 0 0,0 0 0,0 0 0,0 1 0,1-1 0,0 0 0,-1 0 0,1 0 0,1 0 0,0 7 0,0-4 0,0 0 0,1-1 0,0 1 0,0 0 0,1-1 0,-1 0 0,2 1 0,-1-1 0,0 0 0,1-1 0,0 1 0,1-1 0,-1 1 0,11 8 0,-9-9 0,1 0 0,-1 0 0,-1 1 0,1 0 0,-1 0 0,0 1 0,0-1 0,-1 1 0,7 15 0,1 5 0,11 42 0,4 9 0,46 132 0,-7-17 0,-57-175 0,0 0 0,16 21 0,-16-27 0,-2 0 0,1 0 0,-1 1 0,-1 0 0,8 25 0,-11-26 0,1-1 0,-1 0 0,9 17 0,-9-24 0,-1 0 0,1 0 0,0-1 0,0 1 0,0 0 0,0-1 0,1 0 0,-1 0 0,1 0 0,0 0 0,7 3 0,28 17 0,38 31 0,-15-10 0,-52-37 0,-1 0 0,0 1 0,15 18 0,-17-17 0,1-1 0,0 0 0,0 0 0,15 9 0,-19-14 0,8 5 0,-1 0 0,1-1 0,0-1 0,1 0 0,0 0 0,0-1 0,0-1 0,1 0 0,17 2 0,-11-2 0,0 0 0,19 7 0,-21-5 0,0-1 0,0-1 0,21 2 0,-27-4 0,0 0 0,1 1 0,-1 0 0,17 8 0,-16-6 0,0-1 0,0 0 0,20 3 0,21 1 0,-36-4 0,0-1 0,0-1 0,0 0 0,1-2 0,-1 0 0,0-1 0,36-6 0,-50 5 0,-1 1 0,1-1 0,-1 0 0,0 0 0,1 0 0,-1 0 0,0 0 0,0-1 0,0 1 0,0-1 0,-1 0 0,1 0 0,-1 0 0,0 0 0,0-1 0,2-3 0,-3 5 0,1 0 0,-1 0 0,-1 0 0,1 0 0,0 0 0,0 0 0,-1 0 0,0-1 0,1 1 0,-1 0 0,0 0 0,0 0 0,0-1 0,0 1 0,0 0 0,-1 0 0,1 0 0,-1-1 0,1 1 0,-1 0 0,0 0 0,0 0 0,0 0 0,0 0 0,0 0 0,0 0 0,-1 0 0,-1-2 0,-12-8 0,0 1 0,0 1 0,-1 1 0,0 0 0,-17-7 0,15 8 0,2 0 0,-1-1 0,1-1 0,-27-22 0,23 13 0,-30-26 0,46 42 0,0 0 0,-1 0 0,1 1 0,0-1 0,-1 1 0,0 0 0,1 1 0,-1-1 0,0 1 0,-8-2 0,12 3 0,0 0 0,0 0 0,-1 0 0,1 0 0,0 0 0,0 0 0,0 0 0,0 0 0,0 0 0,0 0 0,-1 1 0,1-1 0,0 1 0,0-1 0,0 1 0,0-1 0,0 1 0,0-1 0,0 1 0,-1 1 0,2-1 0,-1-1 0,1 1 0,0 0 0,-1 0 0,1 0 0,0 0 0,-1 0 0,1 0 0,0 0 0,0 0 0,0 0 0,0 0 0,0 0 0,0 0 0,0 0 0,0 0 0,1 0 0,-1 1 0,2 3 0,0 1 0,0-1 0,1 0 0,-1 0 0,1-1 0,6 9 0,-3-7 0,0-1 0,0 0 0,1 0 0,-1 0 0,1 0 0,0-1 0,0-1 0,13 6 0,20 11 0,2 10 0,-33-23 0,0 0 0,1-1 0,-1 0 0,1 0 0,0-1 0,1 0 0,10 3 0,-12-6 0,31 7 0,-38-9 0,1 0 0,-1 0 0,0 0 0,1 0 0,-1-1 0,0 1 0,1-1 0,-1 1 0,0-1 0,1 0 0,-1 0 0,0 0 0,0 0 0,3-2 0,-4 3 0,-1-1 0,0 1 0,1 0 0,-1 0 0,1-1 0,-1 1 0,0 0 0,1 0 0,-1-1 0,0 1 0,1 0 0,-1-1 0,0 1 0,0-1 0,1 1 0,-1 0 0,0-1 0,0 1 0,0-1 0,0 1 0,1-1 0,-1 1 0,0-1 0,-8-2 0,-16 5 0,16 2 0,0-1 0,1 1 0,-1 1 0,1-1 0,0 1 0,0 1 0,-11 10 0,11-9 0,0 0 0,0-1 0,-1 0 0,0-1 0,-13 7 0,-32 17 0,41-21 0,-1-1 0,1 0 0,-26 8 0,-69 27 0,98-39 0,1 1 0,-1 1 0,1 0 0,0 0 0,1 1 0,-1-1 0,1 2 0,1-1 0,-1 1 0,-7 9 0,-3 3 0,6-12 342,11-7-370,0 0 1,0 0 0,0 1 0,0-1 0,0 0 0,-1 0 0,1 0 0,0 0 0,0 0 0,0 0 0,0 0 0,-1 0-1,1 0 1,0 0 0,0 0 0,0 0 0,0 0 0,-1 0 0,1 0 0,0 0 0,0 0 0,0 0 0,0 0-1,-1 0 1,1 0 0,0 0 0,0 0 0,0-1 0,0 1 0,0 0 0,-1 0 0,1 0 0,0 0 0,0 0-1,0 0 1,0 0 0,0-1 0,0 1 0,0 0 0,-1 0 0,1 0 0,0 0 0,0 0 0,0-1 0,0 1-1,0 0 1,0 0 0,0 0 0,0 0 0,0-1 0,0 1 0,0 0 0,0 0 0,0 0 0,0 0 0,0-1 0,0 1-1,0 0 1,0 0 0,0 0 0,0 0 0,1-1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41703E-D67A-824B-83DA-F2C6174A6B11}" type="datetimeFigureOut">
              <a:rPr lang="en-US" smtClean="0"/>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E10D6F-BD72-CF40-A81C-37A07F86FADE}" type="slidenum">
              <a:rPr lang="en-US" smtClean="0"/>
              <a:t>‹#›</a:t>
            </a:fld>
            <a:endParaRPr lang="en-US"/>
          </a:p>
        </p:txBody>
      </p:sp>
    </p:spTree>
    <p:extLst>
      <p:ext uri="{BB962C8B-B14F-4D97-AF65-F5344CB8AC3E}">
        <p14:creationId xmlns:p14="http://schemas.microsoft.com/office/powerpoint/2010/main" val="439671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mn-lt"/>
              </a:rPr>
              <a:t>&lt;</a:t>
            </a:r>
            <a:r>
              <a:rPr lang="en-US" err="1">
                <a:cs typeface="+mn-lt"/>
              </a:rPr>
              <a:t>deepti</a:t>
            </a:r>
            <a:r>
              <a:rPr lang="en-US">
                <a:cs typeface="+mn-lt"/>
              </a:rPr>
              <a:t>&gt; Welcome to Create your own one-page RPG, a design thinking workshop. My name is Deepti Vaidyanathan, I’m a software engineer in Azure Compute, and I’ve been playing RPGs since college haven’t really stopped since! I’m joined by my Cohost, Nina, and our wonderful friend William who helped us create this workshop! Nina?... </a:t>
            </a:r>
          </a:p>
          <a:p>
            <a:endParaRPr lang="en-US">
              <a:cs typeface="+mn-lt"/>
            </a:endParaRPr>
          </a:p>
          <a:p>
            <a:endParaRPr lang="en-US">
              <a:cs typeface="+mn-lt"/>
            </a:endParaRPr>
          </a:p>
          <a:p>
            <a:r>
              <a:rPr lang="en-US">
                <a:cs typeface="+mn-lt"/>
              </a:rPr>
              <a:t>Awesome, we’re ready to really get started now. Going over the checklist, please make sure that you have the worksheets you need, there should be two pieces of paper, and they should say Part 1, 2, and 3 on them. If you don’t have a physical copy, you can follow along with a copy from our </a:t>
            </a:r>
            <a:r>
              <a:rPr lang="en-US" err="1">
                <a:cs typeface="+mn-lt"/>
              </a:rPr>
              <a:t>Github</a:t>
            </a:r>
            <a:r>
              <a:rPr lang="en-US">
                <a:cs typeface="+mn-lt"/>
              </a:rPr>
              <a:t> at tinyurl.com/</a:t>
            </a:r>
            <a:r>
              <a:rPr lang="en-US" err="1">
                <a:cs typeface="+mn-lt"/>
              </a:rPr>
              <a:t>CreateYourOwnOnePageRPG</a:t>
            </a:r>
            <a:r>
              <a:rPr lang="en-US">
                <a:cs typeface="+mn-lt"/>
              </a:rPr>
              <a:t> &gt; Worksheets. </a:t>
            </a:r>
          </a:p>
          <a:p>
            <a:endParaRPr lang="en-US"/>
          </a:p>
        </p:txBody>
      </p:sp>
      <p:sp>
        <p:nvSpPr>
          <p:cNvPr id="4" name="Slide Number Placeholder 3"/>
          <p:cNvSpPr>
            <a:spLocks noGrp="1"/>
          </p:cNvSpPr>
          <p:nvPr>
            <p:ph type="sldNum" sz="quarter" idx="5"/>
          </p:nvPr>
        </p:nvSpPr>
        <p:spPr/>
        <p:txBody>
          <a:bodyPr/>
          <a:lstStyle/>
          <a:p>
            <a:fld id="{76E10D6F-BD72-CF40-A81C-37A07F86FADE}" type="slidenum">
              <a:rPr lang="en-US" smtClean="0"/>
              <a:t>1</a:t>
            </a:fld>
            <a:endParaRPr lang="en-US"/>
          </a:p>
        </p:txBody>
      </p:sp>
    </p:spTree>
    <p:extLst>
      <p:ext uri="{BB962C8B-B14F-4D97-AF65-F5344CB8AC3E}">
        <p14:creationId xmlns:p14="http://schemas.microsoft.com/office/powerpoint/2010/main" val="18273420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&lt;</a:t>
            </a:r>
            <a:r>
              <a:rPr lang="en-US" err="1">
                <a:cs typeface="Calibri"/>
              </a:rPr>
              <a:t>deepti</a:t>
            </a:r>
            <a:r>
              <a:rPr lang="en-US">
                <a:cs typeface="Calibri"/>
              </a:rPr>
              <a:t>&gt; So just to set expectations, by the end of this workshop you'll have filled out both pages of the worksheet (or at least have an idea of how to fill it out), and hopefully will be inspired to continue to work on your RPGs. </a:t>
            </a:r>
          </a:p>
          <a:p>
            <a:r>
              <a:rPr lang="en-US">
                <a:cs typeface="Calibri"/>
              </a:rPr>
              <a:t>We'll take you through how to fill out each part step-by-step and give you about 10-15 minutes of workshop time to fill out your own sheets, but feel free to skip ahead or write things down whenever inspiration strikes. </a:t>
            </a:r>
          </a:p>
          <a:p>
            <a:r>
              <a:rPr lang="en-US">
                <a:cs typeface="Calibri"/>
              </a:rPr>
              <a:t>At the end, we'll discuss how this all relates back to design thinking and provide next steps if you want to continue to develop your RPG.</a:t>
            </a:r>
            <a:endParaRPr lang="en-US">
              <a:ea typeface="Calibri"/>
              <a:cs typeface="Calibri"/>
            </a:endParaRPr>
          </a:p>
        </p:txBody>
      </p:sp>
      <p:sp>
        <p:nvSpPr>
          <p:cNvPr id="4" name="Slide Number Placeholder 3"/>
          <p:cNvSpPr>
            <a:spLocks noGrp="1"/>
          </p:cNvSpPr>
          <p:nvPr>
            <p:ph type="sldNum" sz="quarter" idx="5"/>
          </p:nvPr>
        </p:nvSpPr>
        <p:spPr/>
        <p:txBody>
          <a:bodyPr/>
          <a:lstStyle/>
          <a:p>
            <a:fld id="{76E10D6F-BD72-CF40-A81C-37A07F86FADE}" type="slidenum">
              <a:rPr lang="en-US" smtClean="0"/>
              <a:t>2</a:t>
            </a:fld>
            <a:endParaRPr lang="en-US"/>
          </a:p>
        </p:txBody>
      </p:sp>
    </p:spTree>
    <p:extLst>
      <p:ext uri="{BB962C8B-B14F-4D97-AF65-F5344CB8AC3E}">
        <p14:creationId xmlns:p14="http://schemas.microsoft.com/office/powerpoint/2010/main" val="368158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a:latin typeface="Segoe UI"/>
                <a:cs typeface="Segoe UI"/>
              </a:rPr>
              <a:t>&lt;nina&gt;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ea typeface="Calibri"/>
                <a:cs typeface="Calibri"/>
              </a:rPr>
              <a:t>So, what is a TTRPG? Let’s look at this scene from </a:t>
            </a:r>
            <a:r>
              <a:rPr lang="en-US" sz="900" i="1">
                <a:ea typeface="Calibri"/>
                <a:cs typeface="Calibri"/>
              </a:rPr>
              <a:t>Stranger Things</a:t>
            </a:r>
            <a:r>
              <a:rPr lang="en-US" sz="900" i="0">
                <a:ea typeface="Calibri"/>
                <a:cs typeface="Calibri"/>
              </a:rPr>
              <a:t>, here </a:t>
            </a:r>
            <a:r>
              <a:rPr lang="en-US" sz="1200">
                <a:latin typeface="+mn-lt"/>
                <a:cs typeface="+mn-cs"/>
              </a:rPr>
              <a:t>you can see the </a:t>
            </a:r>
            <a:r>
              <a:rPr lang="en-US" sz="850">
                <a:latin typeface="Segoe UI"/>
                <a:cs typeface="Segoe UI"/>
              </a:rPr>
              <a:t>two roles at the table: the Players, </a:t>
            </a:r>
          </a:p>
          <a:p>
            <a:r>
              <a:rPr lang="en-US" sz="850" b="1">
                <a:latin typeface="Segoe UI"/>
                <a:cs typeface="Segoe UI"/>
              </a:rPr>
              <a:t>&lt;click&gt;</a:t>
            </a:r>
            <a:r>
              <a:rPr lang="en-US" sz="850">
                <a:latin typeface="Segoe UI"/>
                <a:cs typeface="Segoe UI"/>
              </a:rPr>
              <a:t> </a:t>
            </a:r>
          </a:p>
          <a:p>
            <a:r>
              <a:rPr lang="en-US" sz="850">
                <a:latin typeface="Segoe UI"/>
                <a:cs typeface="Segoe UI"/>
              </a:rPr>
              <a:t>and the Main Storyteller </a:t>
            </a:r>
          </a:p>
          <a:p>
            <a:r>
              <a:rPr lang="en-US" sz="850" b="1">
                <a:latin typeface="Segoe UI"/>
                <a:cs typeface="Segoe UI"/>
              </a:rPr>
              <a:t>&lt;click&gt;</a:t>
            </a:r>
            <a:r>
              <a:rPr lang="en-US" sz="850">
                <a:latin typeface="Segoe UI"/>
                <a:cs typeface="Segoe UI"/>
              </a:rPr>
              <a:t> </a:t>
            </a:r>
          </a:p>
          <a:p>
            <a:r>
              <a:rPr lang="en-US" sz="850">
                <a:latin typeface="Segoe UI"/>
                <a:cs typeface="Segoe UI"/>
              </a:rPr>
              <a:t>(also known as the Game Master or Dungeon Master or Main Storyteller, the terminology differs and is up to you.)</a:t>
            </a:r>
          </a:p>
          <a:p>
            <a:r>
              <a:rPr lang="en-US" sz="850">
                <a:latin typeface="Segoe UI"/>
                <a:cs typeface="Segoe UI"/>
              </a:rPr>
              <a:t>Everyone here is playing the game, but the Main Storyteller knows a lot more than the other players about the events that will be unfolding—they’ve probably prepared a series of scenes, quests, and enemies for the player to experience and meet. </a:t>
            </a:r>
          </a:p>
          <a:p>
            <a:endParaRPr lang="en-US" sz="850">
              <a:latin typeface="Segoe UI"/>
              <a:cs typeface="Segoe UI"/>
            </a:endParaRPr>
          </a:p>
          <a:p>
            <a:r>
              <a:rPr lang="en-US" sz="850">
                <a:latin typeface="Segoe UI"/>
                <a:cs typeface="Segoe UI"/>
              </a:rPr>
              <a:t>Your games today could be similar or completely different– like having no Main Storyteller at all. It’s all up to you. But ultimately, we’re all here to tell a story together. </a:t>
            </a:r>
          </a:p>
          <a:p>
            <a:endParaRPr lang="en-US" sz="850">
              <a:latin typeface="Segoe UI"/>
              <a:cs typeface="Segoe UI"/>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10/23/2026 10:49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13142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&lt;</a:t>
            </a:r>
            <a:r>
              <a:rPr lang="en-US" err="1">
                <a:cs typeface="Calibri"/>
              </a:rPr>
              <a:t>nina</a:t>
            </a:r>
            <a:r>
              <a:rPr lang="en-US">
                <a:cs typeface="Calibri"/>
              </a:rPr>
              <a:t>&gt;</a:t>
            </a:r>
          </a:p>
          <a:p>
            <a:r>
              <a:rPr lang="en-US">
                <a:ea typeface="Calibri"/>
                <a:cs typeface="Calibri"/>
              </a:rPr>
              <a:t>OK So our friends in Stranger Things were playing with plenty of books and papers detailing the rules. But a One-page RPG, like what we’re making today, fits literally on one page. Let’s look at the one-page RPG &lt;click&gt; Lasers and Feelings for example. </a:t>
            </a:r>
          </a:p>
          <a:p>
            <a:endParaRPr lang="en-US">
              <a:ea typeface="Calibri"/>
              <a:cs typeface="Calibri"/>
            </a:endParaRPr>
          </a:p>
          <a:p>
            <a:r>
              <a:rPr lang="en-US">
                <a:ea typeface="Calibri"/>
                <a:cs typeface="Calibri"/>
              </a:rPr>
              <a:t>On this dense but singular page, there are rules for &lt;click&gt; character creation, which players only have one stat to worry about, </a:t>
            </a:r>
            <a:r>
              <a:rPr lang="en-US">
                <a:cs typeface="Calibri"/>
              </a:rPr>
              <a:t>&lt;click&gt;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cs typeface="Calibri"/>
              </a:rPr>
              <a:t>instructions on setting up the team’s silly Star Trek parody ship, &lt;click&gt;</a:t>
            </a:r>
          </a:p>
          <a:p>
            <a:r>
              <a:rPr lang="en-US">
                <a:cs typeface="Calibri"/>
              </a:rPr>
              <a:t>a loose rule about making decisions, &lt;click&gt;</a:t>
            </a:r>
          </a:p>
          <a:p>
            <a:r>
              <a:rPr lang="en-US">
                <a:cs typeface="Calibri"/>
              </a:rPr>
              <a:t>and some fun optional randomization for the story. &lt;click&gt;</a:t>
            </a:r>
          </a:p>
          <a:p>
            <a:r>
              <a:rPr lang="en-US">
                <a:cs typeface="Calibri"/>
              </a:rPr>
              <a:t>There’s somehow even space for suggestions for the Game Master and a drawing of a space ship with some links.</a:t>
            </a:r>
            <a:endParaRPr lang="en-US">
              <a:ea typeface="Calibri"/>
              <a:cs typeface="Calibri"/>
            </a:endParaRPr>
          </a:p>
          <a:p>
            <a:endParaRPr lang="en-US">
              <a:cs typeface="Calibri"/>
            </a:endParaRPr>
          </a:p>
          <a:p>
            <a:r>
              <a:rPr lang="en-US">
                <a:cs typeface="Calibri"/>
              </a:rPr>
              <a:t>This is all GMs need—and all players need– to play this game. This is what we aspire to: a page with everything for your game so it’s easy to share, learn, and play. By the end of this workshop, you should all leave with a solid foundation for your own one page RPG. </a:t>
            </a:r>
            <a:endParaRPr lang="en-US">
              <a:ea typeface="Calibri"/>
              <a:cs typeface="Calibri"/>
            </a:endParaRPr>
          </a:p>
        </p:txBody>
      </p:sp>
      <p:sp>
        <p:nvSpPr>
          <p:cNvPr id="4" name="Slide Number Placeholder 3"/>
          <p:cNvSpPr>
            <a:spLocks noGrp="1"/>
          </p:cNvSpPr>
          <p:nvPr>
            <p:ph type="sldNum" sz="quarter" idx="5"/>
          </p:nvPr>
        </p:nvSpPr>
        <p:spPr/>
        <p:txBody>
          <a:bodyPr/>
          <a:lstStyle/>
          <a:p>
            <a:fld id="{76E10D6F-BD72-CF40-A81C-37A07F86FADE}" type="slidenum">
              <a:rPr lang="en-US" smtClean="0"/>
              <a:t>4</a:t>
            </a:fld>
            <a:endParaRPr lang="en-US"/>
          </a:p>
        </p:txBody>
      </p:sp>
    </p:spTree>
    <p:extLst>
      <p:ext uri="{BB962C8B-B14F-4D97-AF65-F5344CB8AC3E}">
        <p14:creationId xmlns:p14="http://schemas.microsoft.com/office/powerpoint/2010/main" val="2788391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Deepti</a:t>
            </a:r>
            <a:endParaRPr lang="en-US">
              <a:ea typeface="Calibri"/>
              <a:cs typeface="Calibri"/>
            </a:endParaRPr>
          </a:p>
          <a:p>
            <a:pPr marL="171450" indent="-171450">
              <a:buFont typeface="Calibri"/>
              <a:buChar char="-"/>
            </a:pPr>
            <a:r>
              <a:rPr lang="en-US">
                <a:ea typeface="Calibri"/>
                <a:cs typeface="Calibri"/>
              </a:rPr>
              <a:t>So now that we have a bit of background, we can start making our RPGs by empathizing with our game's potential players and defining aspects of our game based on what we want our players to experience. </a:t>
            </a:r>
          </a:p>
          <a:p>
            <a:pPr marL="171450" indent="-171450">
              <a:buFont typeface="Calibri"/>
              <a:buChar char="-"/>
            </a:pPr>
            <a:r>
              <a:rPr lang="en-US">
                <a:ea typeface="Calibri"/>
                <a:cs typeface="Calibri"/>
              </a:rPr>
              <a:t>&lt;CLICK&gt; The first step is to brainstorm and research some general topics you could turn into a game. They can be based on anything, like your favorite movie or TV show, personal experiences like road tripping, or even a random Wikipedia article! Once you have a few ideas, pick your favorite topic that you’ll base your game on. For this presentation, we'll be running through the example with &lt;CLICK&gt; Cats</a:t>
            </a:r>
            <a:endParaRPr lang="en-US" strike="noStrike">
              <a:ea typeface="Calibri"/>
              <a:cs typeface="Calibri"/>
            </a:endParaRPr>
          </a:p>
          <a:p>
            <a:pPr marL="171450" indent="-171450">
              <a:buFont typeface="Calibri"/>
              <a:buChar char="-"/>
            </a:pPr>
            <a:r>
              <a:rPr lang="en-US">
                <a:ea typeface="Calibri"/>
                <a:cs typeface="Calibri"/>
              </a:rPr>
              <a:t>Once you have a topic, &lt;CLICK&gt; you should think about what other external media you could use to inspire elements of your game. You can research existing references that are related to your topic, games that had engaging rules or mechanics, or even draw from your personal experience with your topic. </a:t>
            </a:r>
          </a:p>
          <a:p>
            <a:pPr marL="171450" indent="-171450">
              <a:buFont typeface="Calibri"/>
              <a:buChar char="-"/>
            </a:pPr>
            <a:r>
              <a:rPr lang="en-US">
                <a:ea typeface="Calibri"/>
                <a:cs typeface="Calibri"/>
              </a:rPr>
              <a:t>With your inspirations </a:t>
            </a:r>
            <a:r>
              <a:rPr lang="en-US"/>
              <a:t>&lt;CLICK&gt;</a:t>
            </a:r>
            <a:r>
              <a:rPr lang="en-US">
                <a:cs typeface="Calibri"/>
              </a:rPr>
              <a:t> </a:t>
            </a:r>
            <a:r>
              <a:rPr lang="en-US">
                <a:ea typeface="Calibri"/>
                <a:cs typeface="Calibri"/>
              </a:rPr>
              <a:t>you can use them to generate Theme words to describe the vibes of your game. How would you want a player to describe the world of your game? What sort of creatures or things exist in your inspirations, and could any of them be in your game’s world?</a:t>
            </a:r>
          </a:p>
          <a:p>
            <a:pPr marL="171450" indent="-171450">
              <a:buFont typeface="Calibri"/>
              <a:buChar char="-"/>
            </a:pPr>
            <a:r>
              <a:rPr lang="en-US">
                <a:ea typeface="Calibri"/>
                <a:cs typeface="Calibri"/>
              </a:rPr>
              <a:t> As you write down these descriptors, think about the ways you could illustrate your game’s themes to your players. If the game is supposed to be scary, how can you raise the stakes for the players? If it’s a silly game, how can players get silly?</a:t>
            </a:r>
          </a:p>
          <a:p>
            <a:pPr marL="171450" indent="-171450">
              <a:buFont typeface="Calibri"/>
              <a:buChar char="-"/>
            </a:pPr>
            <a:r>
              <a:rPr lang="en-US">
                <a:ea typeface="Calibri"/>
                <a:cs typeface="Calibri"/>
              </a:rPr>
              <a:t> If I were making my Cat RPG, for example, I'd want the game to have a chaotic and silly vibe, so I could say that cats in my game can be vocal, clumsy, spicy, etc.</a:t>
            </a:r>
          </a:p>
          <a:p>
            <a:pPr marL="171450" indent="-171450">
              <a:buFont typeface="Calibri"/>
              <a:buChar char="-"/>
            </a:pPr>
            <a:r>
              <a:rPr lang="en-US">
                <a:ea typeface="Calibri"/>
                <a:cs typeface="Calibri"/>
              </a:rPr>
              <a:t>&lt;CLICK&gt; Once you have a sense of your game’s themes, you can start writing down common “actions” that characters could do to interact with the world or actions that could happen to them. Look back at your Inspirations and Themes and see if there’s any character-world interactions that happen frequently. What should players expect to be able to do or encounter as they play your game so that they feel the themes you wrote down earlier?</a:t>
            </a:r>
          </a:p>
          <a:p>
            <a:pPr marL="171450" indent="-171450">
              <a:buFont typeface="Calibri"/>
              <a:buChar char="-"/>
            </a:pPr>
            <a:r>
              <a:rPr lang="en-US">
                <a:ea typeface="Calibri"/>
                <a:cs typeface="Calibri"/>
              </a:rPr>
              <a:t>These actions are going to help us make our games’ rules and mechanics because in your game, the outcome of these actions will likely be determined by the game mechanics you create. In the Cat RPG, for example, players might expect to be able to explore small spaces, hide from scary noises, interact with other animals/humans, etc. </a:t>
            </a:r>
          </a:p>
          <a:p>
            <a:pPr marL="171450" indent="-171450">
              <a:buFont typeface="Calibri"/>
              <a:buChar char="-"/>
            </a:pPr>
            <a:r>
              <a:rPr lang="en-US">
                <a:ea typeface="Calibri"/>
                <a:cs typeface="Calibri"/>
              </a:rPr>
              <a:t>With these actions in mind, I’d want to think about how the players can succeed or fail and how I can make these actions fit the chaotic theme in gameplay (which we’ll go more into detail later).</a:t>
            </a:r>
            <a:endParaRPr lang="en-US"/>
          </a:p>
          <a:p>
            <a:pPr marL="171450" indent="-171450">
              <a:buFont typeface="Calibri"/>
              <a:buChar char="-"/>
            </a:pPr>
            <a:endParaRPr lang="en-US">
              <a:ea typeface="Calibri"/>
              <a:cs typeface="Calibri"/>
            </a:endParaRPr>
          </a:p>
          <a:p>
            <a:pPr marL="171450" indent="-171450">
              <a:buFont typeface="Calibri"/>
              <a:buChar char="-"/>
            </a:pPr>
            <a:endParaRPr lang="en-US">
              <a:ea typeface="Calibri"/>
              <a:cs typeface="Calibri"/>
            </a:endParaRPr>
          </a:p>
          <a:p>
            <a:pPr marL="171450" indent="-171450">
              <a:buFont typeface="Calibri"/>
              <a:buChar char="-"/>
            </a:pPr>
            <a:endParaRPr lang="en-US">
              <a:ea typeface="Calibri"/>
              <a:cs typeface="Calibri"/>
            </a:endParaRPr>
          </a:p>
          <a:p>
            <a:pPr marL="171450" indent="-171450">
              <a:buFont typeface="Calibri"/>
              <a:buChar char="-"/>
            </a:pPr>
            <a:endParaRPr lang="en-US">
              <a:ea typeface="Calibri"/>
              <a:cs typeface="Calibri"/>
            </a:endParaRPr>
          </a:p>
          <a:p>
            <a:pPr marL="171450" indent="-171450">
              <a:buFont typeface="Calibri"/>
              <a:buChar char="-"/>
            </a:pPr>
            <a:endParaRPr lang="en-US">
              <a:ea typeface="Calibri"/>
              <a:cs typeface="Calibri"/>
            </a:endParaRPr>
          </a:p>
          <a:p>
            <a:pPr marL="171450" indent="-171450">
              <a:buFont typeface="Calibri"/>
              <a:buChar char="-"/>
            </a:pPr>
            <a:endParaRPr lang="en-US">
              <a:ea typeface="Calibri"/>
              <a:cs typeface="Calibri"/>
            </a:endParaRPr>
          </a:p>
          <a:p>
            <a:pPr marL="171450" marR="0" lvl="0" indent="-171450" algn="l" defTabSz="914400" rtl="0" eaLnBrk="1" fontAlgn="auto" latinLnBrk="0" hangingPunct="1">
              <a:lnSpc>
                <a:spcPct val="100000"/>
              </a:lnSpc>
              <a:spcBef>
                <a:spcPts val="0"/>
              </a:spcBef>
              <a:spcAft>
                <a:spcPts val="0"/>
              </a:spcAft>
              <a:buClrTx/>
              <a:buSzTx/>
              <a:buFont typeface="Calibri"/>
              <a:buChar char="-"/>
              <a:tabLst/>
              <a:defRPr/>
            </a:pPr>
            <a:r>
              <a:rPr lang="en-US">
                <a:cs typeface="Calibri"/>
              </a:rPr>
              <a:t>(</a:t>
            </a:r>
            <a:r>
              <a:rPr lang="en-US">
                <a:ea typeface="Calibri"/>
                <a:cs typeface="Calibri"/>
              </a:rPr>
              <a:t>Slide gives instructions and tips on how to fill out Part 1 of the worksheet, and what to think about as they fill it out)</a:t>
            </a:r>
          </a:p>
          <a:p>
            <a:pPr marL="171450" indent="-171450">
              <a:buFont typeface="Calibri"/>
              <a:buChar char="-"/>
            </a:pPr>
            <a:r>
              <a:rPr lang="en-US">
                <a:ea typeface="Calibri"/>
                <a:cs typeface="Calibri"/>
              </a:rPr>
              <a:t>Deleted content:</a:t>
            </a:r>
          </a:p>
          <a:p>
            <a:pPr marL="171450" marR="0" lvl="0" indent="-171450" algn="l" defTabSz="914400" rtl="0" eaLnBrk="1" fontAlgn="auto" latinLnBrk="0" hangingPunct="1">
              <a:lnSpc>
                <a:spcPct val="100000"/>
              </a:lnSpc>
              <a:spcBef>
                <a:spcPts val="0"/>
              </a:spcBef>
              <a:spcAft>
                <a:spcPts val="0"/>
              </a:spcAft>
              <a:buClrTx/>
              <a:buSzTx/>
              <a:buFont typeface="Calibri"/>
              <a:buChar char="-"/>
              <a:tabLst/>
              <a:defRPr/>
            </a:pPr>
            <a:r>
              <a:rPr lang="en-US" sz="1200">
                <a:latin typeface="Gill Sans Nova Light_MSFontService"/>
              </a:rPr>
              <a:t>What is unique about those "actions"? </a:t>
            </a:r>
          </a:p>
          <a:p>
            <a:pPr marL="171450" indent="-171450">
              <a:buFont typeface="Calibri"/>
              <a:buChar char="-"/>
              <a:defRPr/>
            </a:pPr>
            <a:r>
              <a:rPr lang="en-US" sz="1200" strike="noStrike">
                <a:latin typeface="Gill Sans Nova Light_MSFontService"/>
              </a:rPr>
              <a:t>How could you portray that "unique-ness" into a game, like a "game mechanic"?</a:t>
            </a:r>
            <a:endParaRPr lang="en-US"/>
          </a:p>
          <a:p>
            <a:pPr marL="171450" marR="0" lvl="0" indent="-171450" algn="l" defTabSz="914400">
              <a:lnSpc>
                <a:spcPct val="100000"/>
              </a:lnSpc>
              <a:spcBef>
                <a:spcPts val="0"/>
              </a:spcBef>
              <a:spcAft>
                <a:spcPts val="0"/>
              </a:spcAft>
              <a:buClrTx/>
              <a:buSzTx/>
              <a:buFont typeface="Calibri"/>
              <a:buChar char="-"/>
              <a:tabLst/>
              <a:defRPr/>
            </a:pPr>
            <a:r>
              <a:rPr lang="en-US"/>
              <a:t>How can those "actions" be illustrated in gameplay, to help players really experience what it’s like to do those things?</a:t>
            </a:r>
            <a:endParaRPr lang="en-US">
              <a:ea typeface="Calibri"/>
              <a:cs typeface="Calibri"/>
            </a:endParaRPr>
          </a:p>
          <a:p>
            <a:pPr marL="171450" marR="0" lvl="0" indent="-171450" algn="l" defTabSz="914400">
              <a:lnSpc>
                <a:spcPct val="100000"/>
              </a:lnSpc>
              <a:spcBef>
                <a:spcPts val="0"/>
              </a:spcBef>
              <a:spcAft>
                <a:spcPts val="0"/>
              </a:spcAft>
              <a:buClrTx/>
              <a:buSzTx/>
              <a:buFont typeface="Calibri"/>
              <a:buChar char="-"/>
              <a:tabLst/>
              <a:defRPr/>
            </a:pPr>
            <a:r>
              <a:rPr lang="en-US">
                <a:ea typeface="Calibri"/>
                <a:cs typeface="Calibri"/>
              </a:rPr>
              <a:t>These actions are going to serve as the basis for our game’s mechanics which will help us determine the outcome of , so as you’re writing them down start thinking about ways that they can be illustrated in gameplay </a:t>
            </a:r>
          </a:p>
          <a:p>
            <a:pPr marL="171450" marR="0" lvl="0" indent="-171450" algn="l" defTabSz="914400">
              <a:lnSpc>
                <a:spcPct val="100000"/>
              </a:lnSpc>
              <a:spcBef>
                <a:spcPts val="0"/>
              </a:spcBef>
              <a:spcAft>
                <a:spcPts val="0"/>
              </a:spcAft>
              <a:buClrTx/>
              <a:buSzTx/>
              <a:buFont typeface="Calibri"/>
              <a:buChar char="-"/>
              <a:tabLst/>
              <a:defRPr/>
            </a:pPr>
            <a:r>
              <a:rPr lang="en-US" strike="sngStrike">
                <a:ea typeface="Calibri"/>
                <a:cs typeface="Calibri"/>
              </a:rPr>
              <a:t>fleshing out what our game should look like from the players' perspective.</a:t>
            </a:r>
            <a:r>
              <a:rPr lang="en-US">
                <a:ea typeface="Calibri"/>
                <a:cs typeface="Calibri"/>
              </a:rPr>
              <a:t> </a:t>
            </a:r>
            <a:endParaRPr lang="en-US">
              <a:cs typeface="Calibri" panose="020F0502020204030204"/>
            </a:endParaRPr>
          </a:p>
          <a:p>
            <a:pPr marL="171450" indent="-171450">
              <a:buFont typeface="Calibri"/>
              <a:buChar char="-"/>
            </a:pPr>
            <a:endParaRPr lang="en-US">
              <a:latin typeface="Gill Sans Nova Light_MSFontService"/>
              <a:ea typeface="Calibri"/>
              <a:cs typeface="Calibri"/>
            </a:endParaRPr>
          </a:p>
          <a:p>
            <a:pPr marL="171450" indent="-171450">
              <a:buFont typeface="Calibri"/>
              <a:buChar char="-"/>
            </a:pPr>
            <a:endParaRPr lang="en-US">
              <a:ea typeface="Calibri"/>
              <a:cs typeface="Calibri"/>
            </a:endParaRPr>
          </a:p>
        </p:txBody>
      </p:sp>
      <p:sp>
        <p:nvSpPr>
          <p:cNvPr id="4" name="Slide Number Placeholder 3"/>
          <p:cNvSpPr>
            <a:spLocks noGrp="1"/>
          </p:cNvSpPr>
          <p:nvPr>
            <p:ph type="sldNum" sz="quarter" idx="5"/>
          </p:nvPr>
        </p:nvSpPr>
        <p:spPr/>
        <p:txBody>
          <a:bodyPr/>
          <a:lstStyle/>
          <a:p>
            <a:fld id="{76E10D6F-BD72-CF40-A81C-37A07F86FADE}" type="slidenum">
              <a:rPr lang="en-US" smtClean="0"/>
              <a:t>5</a:t>
            </a:fld>
            <a:endParaRPr lang="en-US"/>
          </a:p>
        </p:txBody>
      </p:sp>
    </p:spTree>
    <p:extLst>
      <p:ext uri="{BB962C8B-B14F-4D97-AF65-F5344CB8AC3E}">
        <p14:creationId xmlns:p14="http://schemas.microsoft.com/office/powerpoint/2010/main" val="2347707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Deepti</a:t>
            </a:r>
            <a:endParaRPr lang="en-US">
              <a:ea typeface="Calibri"/>
              <a:cs typeface="Calibri"/>
            </a:endParaRPr>
          </a:p>
          <a:p>
            <a:pPr marL="171450" indent="-171450">
              <a:buFont typeface="Calibri"/>
              <a:buChar char="-"/>
            </a:pPr>
            <a:r>
              <a:rPr lang="en-US">
                <a:ea typeface="Calibri"/>
                <a:cs typeface="Calibri"/>
              </a:rPr>
              <a:t>So now we’ll give you about 10 minutes to fill out Part 1 of the worksheet so that you can figure out your topic and fill out your Inspirations, Themes, and Actions. </a:t>
            </a:r>
          </a:p>
          <a:p>
            <a:pPr marL="171450" indent="-171450">
              <a:buFont typeface="Calibri"/>
              <a:buChar char="-"/>
            </a:pPr>
            <a:r>
              <a:rPr lang="en-US">
                <a:ea typeface="Calibri"/>
                <a:cs typeface="Calibri"/>
              </a:rPr>
              <a:t>The goal is to get as many ideas written down as possible, so nothing needs to be perfect. If you need some inspiration we've provided examples of what the Cat RPG would look like in this part and you can also go to the </a:t>
            </a:r>
            <a:r>
              <a:rPr lang="en-US" err="1">
                <a:ea typeface="Calibri"/>
                <a:cs typeface="Calibri"/>
              </a:rPr>
              <a:t>tinyurl</a:t>
            </a:r>
            <a:r>
              <a:rPr lang="en-US">
                <a:ea typeface="Calibri"/>
                <a:cs typeface="Calibri"/>
              </a:rPr>
              <a:t> below to see the fully filled out worksheet example. Feel free to let us know if you have any questions!</a:t>
            </a:r>
            <a:endParaRPr lang="en-US"/>
          </a:p>
          <a:p>
            <a:pPr marL="171450" indent="-171450">
              <a:buFont typeface="Calibri"/>
              <a:buChar char="-"/>
            </a:pPr>
            <a:endParaRPr lang="en-US">
              <a:ea typeface="Calibri"/>
              <a:cs typeface="Calibri"/>
            </a:endParaRPr>
          </a:p>
          <a:p>
            <a:pPr marL="171450" indent="-171450">
              <a:buFont typeface="Calibri"/>
              <a:buChar char="-"/>
            </a:pPr>
            <a:endParaRPr lang="en-US">
              <a:ea typeface="Calibri"/>
              <a:cs typeface="Calibri"/>
            </a:endParaRPr>
          </a:p>
          <a:p>
            <a:pPr marL="171450" indent="-171450">
              <a:buFont typeface="Calibri"/>
              <a:buChar char="-"/>
            </a:pPr>
            <a:endParaRPr lang="en-US">
              <a:ea typeface="Calibri"/>
              <a:cs typeface="Calibri"/>
            </a:endParaRPr>
          </a:p>
          <a:p>
            <a:pPr marL="171450" indent="-171450">
              <a:buFont typeface="Calibri"/>
              <a:buChar char="-"/>
            </a:pPr>
            <a:endParaRPr lang="en-US">
              <a:ea typeface="Calibri"/>
              <a:cs typeface="Calibri"/>
            </a:endParaRPr>
          </a:p>
          <a:p>
            <a:pPr marL="171450" marR="0" lvl="0" indent="-171450" algn="l" defTabSz="914400" rtl="0" eaLnBrk="1" fontAlgn="auto" latinLnBrk="0" hangingPunct="1">
              <a:lnSpc>
                <a:spcPct val="100000"/>
              </a:lnSpc>
              <a:spcBef>
                <a:spcPts val="0"/>
              </a:spcBef>
              <a:spcAft>
                <a:spcPts val="0"/>
              </a:spcAft>
              <a:buClrTx/>
              <a:buSzTx/>
              <a:buFont typeface="Calibri"/>
              <a:buChar char="-"/>
              <a:tabLst/>
              <a:defRPr/>
            </a:pPr>
            <a:r>
              <a:rPr lang="en-US">
                <a:ea typeface="Calibri"/>
                <a:cs typeface="Calibri"/>
              </a:rPr>
              <a:t>This workshop time will be about 10 minutes to fill out Part 1 of the worksheet, </a:t>
            </a:r>
          </a:p>
          <a:p>
            <a:pPr marL="171450" indent="-171450">
              <a:buFont typeface="Calibri"/>
              <a:buChar char="-"/>
            </a:pPr>
            <a:r>
              <a:rPr lang="en-US">
                <a:ea typeface="Calibri"/>
                <a:cs typeface="Calibri"/>
              </a:rPr>
              <a:t>the goal of this section is to brainstorm without filter so that they have plenty of ideas to choose from in the next sections</a:t>
            </a:r>
          </a:p>
          <a:p>
            <a:pPr marL="171450" indent="-171450">
              <a:buFont typeface="Calibri"/>
              <a:buChar char="-"/>
            </a:pPr>
            <a:r>
              <a:rPr lang="en-US">
                <a:ea typeface="Calibri"/>
                <a:cs typeface="Calibri"/>
              </a:rPr>
              <a:t>We'll also provide an example worksheet that we've filled out to give them a sense of what it might look like</a:t>
            </a:r>
          </a:p>
          <a:p>
            <a:endParaRPr lang="en-US"/>
          </a:p>
        </p:txBody>
      </p:sp>
      <p:sp>
        <p:nvSpPr>
          <p:cNvPr id="4" name="Slide Number Placeholder 3"/>
          <p:cNvSpPr>
            <a:spLocks noGrp="1"/>
          </p:cNvSpPr>
          <p:nvPr>
            <p:ph type="sldNum" sz="quarter" idx="5"/>
          </p:nvPr>
        </p:nvSpPr>
        <p:spPr/>
        <p:txBody>
          <a:bodyPr/>
          <a:lstStyle/>
          <a:p>
            <a:fld id="{76E10D6F-BD72-CF40-A81C-37A07F86FADE}" type="slidenum">
              <a:rPr lang="en-US" smtClean="0"/>
              <a:t>6</a:t>
            </a:fld>
            <a:endParaRPr lang="en-US"/>
          </a:p>
        </p:txBody>
      </p:sp>
    </p:spTree>
    <p:extLst>
      <p:ext uri="{BB962C8B-B14F-4D97-AF65-F5344CB8AC3E}">
        <p14:creationId xmlns:p14="http://schemas.microsoft.com/office/powerpoint/2010/main" val="539323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&lt;nina&gt;</a:t>
            </a:r>
          </a:p>
          <a:p>
            <a:endParaRPr lang="en-US">
              <a:cs typeface="Calibri"/>
            </a:endParaRPr>
          </a:p>
          <a:p>
            <a:r>
              <a:rPr lang="en-US">
                <a:cs typeface="Calibri"/>
              </a:rPr>
              <a:t>You’ve brainstormed some actions, now let’s turn those into gameplay. </a:t>
            </a:r>
          </a:p>
          <a:p>
            <a:endParaRPr lang="en-US">
              <a:cs typeface="Calibri"/>
            </a:endParaRPr>
          </a:p>
          <a:p>
            <a:r>
              <a:rPr lang="en-US">
                <a:cs typeface="Calibri"/>
              </a:rPr>
              <a:t>The core of any RPG, or any game really, is it’s “mechanics”. &lt;click&gt; The “Mechanics” of a game are the rules and parts of a game that govern and guide the player’s actions, and also how the game responds to those actions. </a:t>
            </a:r>
          </a:p>
          <a:p>
            <a:endParaRPr lang="en-US">
              <a:cs typeface="Calibri"/>
            </a:endParaRPr>
          </a:p>
          <a:p>
            <a:r>
              <a:rPr lang="en-US">
                <a:cs typeface="Calibri"/>
              </a:rPr>
              <a:t>When players make a decision, mechanics help determine the outcome. For example, in the simple board game Snakes and Ladders, there’s only one decision for players to make, without a choice: roll the dice. Since the goal is to get to the top of the board, the only way to do so is by rolling and moving that many spaces. But the mechanics of the snakes and ladders determines how that action goes–if you roll a 4, &lt;click&gt; then you go up the board, to simulate climbing a ladder, from space number 4 to space number 14. </a:t>
            </a:r>
          </a:p>
          <a:p>
            <a:endParaRPr lang="en-US">
              <a:cs typeface="Calibri"/>
            </a:endParaRPr>
          </a:p>
          <a:p>
            <a:r>
              <a:rPr lang="en-US">
                <a:cs typeface="Calibri"/>
              </a:rPr>
              <a:t>On your next turn, if you roll a two, &lt;click&gt; you’ll slide right down the snake to space number 6. In this way, Snakes and Ladders pretends you’re really climbing and sliding, even if you’re playing on a flat board. </a:t>
            </a:r>
          </a:p>
          <a:p>
            <a:endParaRPr lang="en-US">
              <a:cs typeface="Calibri"/>
            </a:endParaRPr>
          </a:p>
          <a:p>
            <a:r>
              <a:rPr lang="en-US">
                <a:cs typeface="Calibri"/>
              </a:rPr>
              <a:t>But this is a relatively simple game. How could we level this up into an RPG? Currently in the game snakes and ladders, every player is exactly the same. Rolling the same dice, moving along the board the same. But imagine that you could create your own character for Snakes and ladders-- &lt;click&gt; we could consider what might make players feel </a:t>
            </a:r>
            <a:r>
              <a:rPr lang="en-US" b="1">
                <a:cs typeface="Calibri"/>
              </a:rPr>
              <a:t>special.</a:t>
            </a:r>
            <a:r>
              <a:rPr lang="en-US" b="0">
                <a:cs typeface="Calibri"/>
              </a:rPr>
              <a:t> And how can those quirks impact the mechanic of climbing ladders and sliding down snakes?</a:t>
            </a:r>
          </a:p>
          <a:p>
            <a:endParaRPr lang="en-US" b="0">
              <a:cs typeface="Calibri"/>
            </a:endParaRPr>
          </a:p>
          <a:p>
            <a:r>
              <a:rPr lang="en-US" b="0">
                <a:cs typeface="Calibri"/>
              </a:rPr>
              <a:t>Maybe a character has a background in climbing ladders, so they actually get to climb one extra row--but they’ll also slide down any slides they land on, even if it’s midway through the slide. Maybe another character is particularly sticky, and thus resistant to slides– maybe they only slide half the distance of the slide, but they can also only climb half the distance of the ladder.</a:t>
            </a:r>
          </a:p>
          <a:p>
            <a:endParaRPr lang="en-US" b="0">
              <a:cs typeface="Calibri"/>
            </a:endParaRPr>
          </a:p>
          <a:p>
            <a:r>
              <a:rPr lang="en-US" b="0">
                <a:cs typeface="Calibri"/>
              </a:rPr>
              <a:t>These choices not only help people build the backstories of their characters and interact with the </a:t>
            </a:r>
            <a:r>
              <a:rPr lang="en-US" b="0" err="1">
                <a:cs typeface="Calibri"/>
              </a:rPr>
              <a:t>gameworld</a:t>
            </a:r>
            <a:r>
              <a:rPr lang="en-US" b="0">
                <a:cs typeface="Calibri"/>
              </a:rPr>
              <a:t> in interesting ways, but they also directly impact the mechanics of the game. With just a simple change of customization for players, we can make the simple game of climbing and sliding into an epic storytelling game about a party of heroes trying to withstand the trials and tribulations of a cursed forest full of.. Snakes and ladders.</a:t>
            </a:r>
            <a:endParaRPr lang="en-US">
              <a:cs typeface="Calibri"/>
            </a:endParaRPr>
          </a:p>
        </p:txBody>
      </p:sp>
      <p:sp>
        <p:nvSpPr>
          <p:cNvPr id="4" name="Slide Number Placeholder 3"/>
          <p:cNvSpPr>
            <a:spLocks noGrp="1"/>
          </p:cNvSpPr>
          <p:nvPr>
            <p:ph type="sldNum" sz="quarter" idx="5"/>
          </p:nvPr>
        </p:nvSpPr>
        <p:spPr/>
        <p:txBody>
          <a:bodyPr/>
          <a:lstStyle/>
          <a:p>
            <a:fld id="{76E10D6F-BD72-CF40-A81C-37A07F86FADE}" type="slidenum">
              <a:rPr lang="en-US" smtClean="0"/>
              <a:t>7</a:t>
            </a:fld>
            <a:endParaRPr lang="en-US"/>
          </a:p>
        </p:txBody>
      </p:sp>
    </p:spTree>
    <p:extLst>
      <p:ext uri="{BB962C8B-B14F-4D97-AF65-F5344CB8AC3E}">
        <p14:creationId xmlns:p14="http://schemas.microsoft.com/office/powerpoint/2010/main" val="2963268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E22D8-79F2-90CD-D5EE-D8DCB13733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D5012-4B58-DFCC-F9D2-D610B60D5E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429AB4-6A49-2675-25E3-F5AF34BB9DB1}"/>
              </a:ext>
            </a:extLst>
          </p:cNvPr>
          <p:cNvSpPr>
            <a:spLocks noGrp="1"/>
          </p:cNvSpPr>
          <p:nvPr>
            <p:ph type="body" idx="1"/>
          </p:nvPr>
        </p:nvSpPr>
        <p:spPr/>
        <p:txBody>
          <a:bodyPr/>
          <a:lstStyle/>
          <a:p>
            <a:r>
              <a:rPr lang="en-US">
                <a:cs typeface="Calibri"/>
              </a:rPr>
              <a:t>&lt;nina&gt; </a:t>
            </a:r>
          </a:p>
          <a:p>
            <a:r>
              <a:rPr lang="en-US">
                <a:cs typeface="Calibri"/>
              </a:rPr>
              <a:t>Soon you’ll get 15 minutes to work on turning your own actions into mechanics. In order to do that, take a look at your actions. What is an action that needs an outcome, and can have some randomness?</a:t>
            </a:r>
          </a:p>
          <a:p>
            <a:endParaRPr lang="en-US">
              <a:cs typeface="Calibri"/>
            </a:endParaRPr>
          </a:p>
          <a:p>
            <a:r>
              <a:rPr lang="en-US">
                <a:cs typeface="Calibri"/>
              </a:rPr>
              <a:t>Let’s take a look at Dungeons and Dragons 5e. One of the main actions you can do is fight. What are all the things that go into fighting? &lt;click&gt; What are the actions? &lt;click&gt;</a:t>
            </a:r>
          </a:p>
          <a:p>
            <a:endParaRPr lang="en-US">
              <a:cs typeface="Calibri"/>
            </a:endParaRPr>
          </a:p>
          <a:p>
            <a:r>
              <a:rPr lang="en-US">
                <a:cs typeface="Calibri"/>
              </a:rPr>
              <a:t>Well, for starters you might be swinging a sword, casting a spell, or throwing your fists. Let’s pick swinging a sword.</a:t>
            </a:r>
          </a:p>
          <a:p>
            <a:endParaRPr lang="en-US">
              <a:cs typeface="Calibri"/>
            </a:endParaRPr>
          </a:p>
          <a:p>
            <a:r>
              <a:rPr lang="en-US">
                <a:cs typeface="Calibri"/>
              </a:rPr>
              <a:t>DnD 5e is very character-focused, emphasizing leveling up characters and their skills. So to swing a sword, you’d need to know &lt;click&gt; the things impacting that action that are relevant to your game. &lt;click&gt; So how strong are you? What type of weapon are you swinging? And how strong is the enemy’s armor? </a:t>
            </a:r>
          </a:p>
          <a:p>
            <a:endParaRPr lang="en-US">
              <a:cs typeface="Calibri"/>
            </a:endParaRPr>
          </a:p>
          <a:p>
            <a:r>
              <a:rPr lang="en-US">
                <a:cs typeface="Calibri"/>
              </a:rPr>
              <a:t>Each of these things contributes to &lt;click&gt; the mechanic of fighting– &lt;click&gt; and in D&amp;D 5e they’re known as attributes, weapon stats, and armor class respectively. This is just one part of the larger system of D&amp;D 5e—you can see how work like this scales into massive RPGs and huge tomes of books, which is what DnD 5e aims to be.</a:t>
            </a:r>
          </a:p>
          <a:p>
            <a:endParaRPr lang="en-US">
              <a:cs typeface="Calibri"/>
            </a:endParaRPr>
          </a:p>
          <a:p>
            <a:r>
              <a:rPr lang="en-US">
                <a:cs typeface="Calibri"/>
              </a:rPr>
              <a:t>But for today, we’re looking to write just a one page RPG. So a one-page RPG variant wouldn’t be so detailed. Maybe you’re just focused a character’s strength, or maybe it’s an RPG all about weapons so that would get the mechanic focus.</a:t>
            </a:r>
          </a:p>
        </p:txBody>
      </p:sp>
      <p:sp>
        <p:nvSpPr>
          <p:cNvPr id="4" name="Slide Number Placeholder 3">
            <a:extLst>
              <a:ext uri="{FF2B5EF4-FFF2-40B4-BE49-F238E27FC236}">
                <a16:creationId xmlns:a16="http://schemas.microsoft.com/office/drawing/2014/main" id="{E37652F1-F462-1DA7-7277-00ABB822A5BB}"/>
              </a:ext>
            </a:extLst>
          </p:cNvPr>
          <p:cNvSpPr>
            <a:spLocks noGrp="1"/>
          </p:cNvSpPr>
          <p:nvPr>
            <p:ph type="sldNum" sz="quarter" idx="5"/>
          </p:nvPr>
        </p:nvSpPr>
        <p:spPr/>
        <p:txBody>
          <a:bodyPr/>
          <a:lstStyle/>
          <a:p>
            <a:fld id="{76E10D6F-BD72-CF40-A81C-37A07F86FADE}" type="slidenum">
              <a:rPr lang="en-US" smtClean="0"/>
              <a:t>8</a:t>
            </a:fld>
            <a:endParaRPr lang="en-US"/>
          </a:p>
        </p:txBody>
      </p:sp>
    </p:spTree>
    <p:extLst>
      <p:ext uri="{BB962C8B-B14F-4D97-AF65-F5344CB8AC3E}">
        <p14:creationId xmlns:p14="http://schemas.microsoft.com/office/powerpoint/2010/main" val="371268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00B53-899B-654B-7FA3-2F6CF43EE1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6FE116-F63A-60D4-1443-163F08C860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0692F5-55B7-4B23-D09A-933A33C3D98A}"/>
              </a:ext>
            </a:extLst>
          </p:cNvPr>
          <p:cNvSpPr>
            <a:spLocks noGrp="1"/>
          </p:cNvSpPr>
          <p:nvPr>
            <p:ph type="body" idx="1"/>
          </p:nvPr>
        </p:nvSpPr>
        <p:spPr/>
        <p:txBody>
          <a:bodyPr/>
          <a:lstStyle/>
          <a:p>
            <a:r>
              <a:rPr lang="en-US">
                <a:cs typeface="Calibri"/>
              </a:rPr>
              <a:t>&lt;nina&gt; So when you’re considering the actions you want to turn into a mechanic, ask yourself: &lt;click&gt;</a:t>
            </a:r>
          </a:p>
          <a:p>
            <a:pPr marL="171450" indent="-171450">
              <a:buFontTx/>
              <a:buChar char="-"/>
            </a:pPr>
            <a:r>
              <a:rPr lang="en-US">
                <a:cs typeface="Calibri"/>
              </a:rPr>
              <a:t>What information helps determine the outcome? and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cs typeface="Calibri"/>
              </a:rPr>
              <a:t>Is there randomness involved?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cs typeface="Calibri"/>
              </a:rPr>
              <a:t>This is where we can have fun with it: randomness doesn’t have to be dice. Consider using &lt;click&gt; candles, like in the game 10 candles where a candle blown out means a character dies. Or use &lt;click&gt; maps and navigation, maybe the distance between two objects is the randomness. And I could go on, you could use &lt;click&gt; cards, stopwatches, Jenga towers, silent budding, and so much more. Consider your main theme and vibe, and think on how you can bring those through in your tools of chance. A cooking game might use breaking pasta piece or rolling piece of pasta; maybe a botanical game </a:t>
            </a:r>
            <a:r>
              <a:rPr lang="en-US" err="1">
                <a:cs typeface="Calibri"/>
              </a:rPr>
              <a:t>game</a:t>
            </a:r>
            <a:r>
              <a:rPr lang="en-US">
                <a:cs typeface="Calibri"/>
              </a:rPr>
              <a:t> requires players to bring their own flowers and pick petals off of them. The possibilities are really endless!</a:t>
            </a:r>
          </a:p>
        </p:txBody>
      </p:sp>
      <p:sp>
        <p:nvSpPr>
          <p:cNvPr id="4" name="Slide Number Placeholder 3">
            <a:extLst>
              <a:ext uri="{FF2B5EF4-FFF2-40B4-BE49-F238E27FC236}">
                <a16:creationId xmlns:a16="http://schemas.microsoft.com/office/drawing/2014/main" id="{9B8A7081-D637-4D18-88A0-64536283ACC0}"/>
              </a:ext>
            </a:extLst>
          </p:cNvPr>
          <p:cNvSpPr>
            <a:spLocks noGrp="1"/>
          </p:cNvSpPr>
          <p:nvPr>
            <p:ph type="sldNum" sz="quarter" idx="5"/>
          </p:nvPr>
        </p:nvSpPr>
        <p:spPr/>
        <p:txBody>
          <a:bodyPr/>
          <a:lstStyle/>
          <a:p>
            <a:fld id="{76E10D6F-BD72-CF40-A81C-37A07F86FADE}" type="slidenum">
              <a:rPr lang="en-US" smtClean="0"/>
              <a:t>9</a:t>
            </a:fld>
            <a:endParaRPr lang="en-US"/>
          </a:p>
        </p:txBody>
      </p:sp>
    </p:spTree>
    <p:extLst>
      <p:ext uri="{BB962C8B-B14F-4D97-AF65-F5344CB8AC3E}">
        <p14:creationId xmlns:p14="http://schemas.microsoft.com/office/powerpoint/2010/main" val="1890865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&lt;nina&gt;</a:t>
            </a:r>
          </a:p>
          <a:p>
            <a:r>
              <a:rPr lang="en-US"/>
              <a:t>And on this slide, we’ve got some more sample mechanics here. In Cats in the City, for example, the DM can simulate the chaos of real cats by asking players to roll a die which might hurt or help them. Check out the other examples on the slide here if you need inspiration, and we’ll see you again in 15 minutes. </a:t>
            </a:r>
          </a:p>
          <a:p>
            <a:endParaRPr lang="en-US"/>
          </a:p>
          <a:p>
            <a:endParaRPr lang="en-US"/>
          </a:p>
        </p:txBody>
      </p:sp>
      <p:sp>
        <p:nvSpPr>
          <p:cNvPr id="4" name="Slide Number Placeholder 3"/>
          <p:cNvSpPr>
            <a:spLocks noGrp="1"/>
          </p:cNvSpPr>
          <p:nvPr>
            <p:ph type="sldNum" sz="quarter" idx="5"/>
          </p:nvPr>
        </p:nvSpPr>
        <p:spPr/>
        <p:txBody>
          <a:bodyPr/>
          <a:lstStyle/>
          <a:p>
            <a:fld id="{76E10D6F-BD72-CF40-A81C-37A07F86FADE}" type="slidenum">
              <a:rPr lang="en-US" smtClean="0"/>
              <a:t>10</a:t>
            </a:fld>
            <a:endParaRPr lang="en-US"/>
          </a:p>
        </p:txBody>
      </p:sp>
    </p:spTree>
    <p:extLst>
      <p:ext uri="{BB962C8B-B14F-4D97-AF65-F5344CB8AC3E}">
        <p14:creationId xmlns:p14="http://schemas.microsoft.com/office/powerpoint/2010/main" val="35855652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Deepti</a:t>
            </a:r>
          </a:p>
          <a:p>
            <a:r>
              <a:rPr lang="en-US"/>
              <a:t>We've done a lot of brainstorming, now we're going to synthesize those ideas to make a playable one-page RPG. </a:t>
            </a:r>
          </a:p>
          <a:p>
            <a:pPr marL="171450" indent="-171450">
              <a:buFont typeface="Calibri"/>
              <a:buChar char="-"/>
            </a:pPr>
            <a:r>
              <a:rPr lang="en-US"/>
              <a:t>While it can be tempting to keep all the cool ideas we've generated so far, our goal is to create a simple game that still conveys the themes of our world, so we need to &lt;Click&gt; Keep it Simple Silly!</a:t>
            </a:r>
          </a:p>
          <a:p>
            <a:pPr marL="171450" indent="-171450">
              <a:buFont typeface="Calibri"/>
              <a:buChar char="-"/>
            </a:pPr>
            <a:r>
              <a:rPr lang="en-US"/>
              <a:t>We need to know what our game is fundamentally about before we can decide what rules or features are essential, so it helps to define the quick pitch or core idea of our game based on the brainstorming in previous sections. Is this an adventurous sci-fi game about being crew members on a spaceship, like in Lasers &amp; Feelings? Or a micro RPG about being an astronomer, or on a road trip, or being cats in the big city? </a:t>
            </a:r>
          </a:p>
          <a:p>
            <a:pPr marL="171450" indent="-171450">
              <a:buFont typeface="Calibri"/>
              <a:buChar char="-"/>
            </a:pPr>
            <a:r>
              <a:rPr lang="en-US"/>
              <a:t>As we're sifting through our ideas, we can use this core idea as a guiding star to help us keep only what's essential for a first draft and save the rest for a later date. Keep content that help players feel more immersed in the world described by your pitch, or help them set up faster like encounter tables or example adventures. Everything else can be added in a later draft or even left for the players to define in game! For instance, in the Cats in the City RPG, I don't need to provide a map of the actual city because the players can build that themselves. Instead, I could provide a short encounter table that describes some of the people, animals, or places they might see to give them story inspiration.</a:t>
            </a:r>
          </a:p>
          <a:p>
            <a:pPr marL="171450" indent="-171450">
              <a:buFont typeface="Calibri"/>
              <a:buChar char="-"/>
            </a:pPr>
            <a:endParaRPr lang="en-US"/>
          </a:p>
          <a:p>
            <a:pPr marL="171450" indent="-171450">
              <a:buFont typeface="Arial"/>
              <a:buChar char="•"/>
            </a:pPr>
            <a:r>
              <a:rPr lang="en-US"/>
              <a:t>In the spirit of Keeping it Simple, &lt;CLICK&gt; our prototype only needs one or two simple mechanics to help players navigate the world. Once again, we can use our core idea or pitch to decide on a core mechanic that determines the outcome of player's decisions, and then maybe add one or two more rules that contribute to player immersion in some way. The purpose of these mechanics should be to make it easier for the players to build the world and story, so we can keep our rules simple while also being creative. For example, in the horror roleplaying game Dread, they provide a character questionnaire for players and build tangible anxiety into the core mechanic by having player outcomes determined by pulling blocks from a Jenga tower, where bad things happen once the tower falls and every choice draws the players closer to that inevitability. The rest of play can be left to the rule of cool while the small ruleset keeps the game grounded to the dreadful themes of the world.</a:t>
            </a:r>
          </a:p>
          <a:p>
            <a:pPr marL="171450" indent="-171450">
              <a:buFont typeface="Arial"/>
              <a:buChar char="•"/>
            </a:pPr>
            <a:endParaRPr lang="en-US"/>
          </a:p>
          <a:p>
            <a:pPr marL="171450" indent="-171450">
              <a:buFont typeface="Arial"/>
              <a:buChar char="•"/>
            </a:pPr>
            <a:r>
              <a:rPr lang="en-US"/>
              <a:t>When we do need to add multiple rules to our game, &lt;CLICK&gt; we can still simplify them by having them use a single type of comparison or logical operator. If your core mechanic is to use dice to roll over a certain number to succeed, then you don't need to add a mechanic to roll under a number, sum up the totals of dice, etc. Because it makes it harder for players to understand what a "good" roll and "bad" roll looks like. Convoluted rules can be a barrier to immersion, no one wants to break character for a rules calculation or clarification. So it's best to keep things concise so that players can add their own complications to the game. &lt;CLICK&gt;</a:t>
            </a:r>
          </a:p>
        </p:txBody>
      </p:sp>
      <p:sp>
        <p:nvSpPr>
          <p:cNvPr id="4" name="Slide Number Placeholder 3"/>
          <p:cNvSpPr>
            <a:spLocks noGrp="1"/>
          </p:cNvSpPr>
          <p:nvPr>
            <p:ph type="sldNum" sz="quarter" idx="5"/>
          </p:nvPr>
        </p:nvSpPr>
        <p:spPr/>
        <p:txBody>
          <a:bodyPr/>
          <a:lstStyle/>
          <a:p>
            <a:fld id="{76E10D6F-BD72-CF40-A81C-37A07F86FADE}" type="slidenum">
              <a:rPr lang="en-US" smtClean="0"/>
              <a:t>11</a:t>
            </a:fld>
            <a:endParaRPr lang="en-US"/>
          </a:p>
        </p:txBody>
      </p:sp>
    </p:spTree>
    <p:extLst>
      <p:ext uri="{BB962C8B-B14F-4D97-AF65-F5344CB8AC3E}">
        <p14:creationId xmlns:p14="http://schemas.microsoft.com/office/powerpoint/2010/main" val="955503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cs typeface="Calibri"/>
              </a:rPr>
              <a:t>Deepti</a:t>
            </a:r>
          </a:p>
          <a:p>
            <a:pPr>
              <a:defRPr/>
            </a:pPr>
            <a:endParaRPr lang="en-US">
              <a:ea typeface="Calibri"/>
              <a:cs typeface="Calibri"/>
            </a:endParaRPr>
          </a:p>
          <a:p>
            <a:pPr>
              <a:defRPr/>
            </a:pPr>
            <a:r>
              <a:rPr lang="en-US">
                <a:ea typeface="Calibri"/>
                <a:cs typeface="Calibri"/>
              </a:rPr>
              <a:t>So with all that in mind, let's build a prototype! We'll give you 15 minutes to describe your game and how to play it, once again feel free to ping one of us </a:t>
            </a:r>
            <a:r>
              <a:rPr lang="en-US" err="1">
                <a:ea typeface="Calibri"/>
                <a:cs typeface="Calibri"/>
              </a:rPr>
              <a:t>i</a:t>
            </a:r>
            <a:r>
              <a:rPr lang="en-US">
                <a:ea typeface="Calibri"/>
                <a:cs typeface="Calibri"/>
              </a:rPr>
              <a:t>f you need help or have a question.</a:t>
            </a:r>
          </a:p>
        </p:txBody>
      </p:sp>
      <p:sp>
        <p:nvSpPr>
          <p:cNvPr id="4" name="Slide Number Placeholder 3"/>
          <p:cNvSpPr>
            <a:spLocks noGrp="1"/>
          </p:cNvSpPr>
          <p:nvPr>
            <p:ph type="sldNum" sz="quarter" idx="5"/>
          </p:nvPr>
        </p:nvSpPr>
        <p:spPr/>
        <p:txBody>
          <a:bodyPr/>
          <a:lstStyle/>
          <a:p>
            <a:fld id="{76E10D6F-BD72-CF40-A81C-37A07F86FADE}" type="slidenum">
              <a:rPr lang="en-US" smtClean="0"/>
              <a:t>12</a:t>
            </a:fld>
            <a:endParaRPr lang="en-US"/>
          </a:p>
        </p:txBody>
      </p:sp>
    </p:spTree>
    <p:extLst>
      <p:ext uri="{BB962C8B-B14F-4D97-AF65-F5344CB8AC3E}">
        <p14:creationId xmlns:p14="http://schemas.microsoft.com/office/powerpoint/2010/main" val="2456730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err="1">
                <a:cs typeface="Calibri"/>
              </a:rPr>
              <a:t>deepti</a:t>
            </a:r>
            <a:endParaRPr lang="en-US">
              <a:ea typeface="Calibri"/>
              <a:cs typeface="Calibri"/>
            </a:endParaRPr>
          </a:p>
          <a:p>
            <a:endParaRPr lang="en-US">
              <a:ea typeface="Calibri"/>
              <a:cs typeface="Calibri"/>
            </a:endParaRPr>
          </a:p>
          <a:p>
            <a:pPr marL="171450" indent="-171450">
              <a:buFont typeface="Calibri"/>
              <a:buChar char="-"/>
            </a:pPr>
            <a:r>
              <a:rPr lang="en-US"/>
              <a:t>It might not have felt like it as you were making the game, but everyone here just used Design Thinking to make an RPG!</a:t>
            </a:r>
          </a:p>
          <a:p>
            <a:pPr marL="171450" indent="-171450">
              <a:buFont typeface="Calibri"/>
              <a:buChar char="-"/>
            </a:pPr>
            <a:r>
              <a:rPr lang="en-US"/>
              <a:t>&lt;CLICK&gt; Design thinking was originally adapted for business purposes by the design consultancy IDEO and its founder Tim Brown. </a:t>
            </a:r>
          </a:p>
          <a:p>
            <a:pPr marL="171450" indent="-171450">
              <a:buFont typeface="Calibri"/>
              <a:buChar char="-"/>
            </a:pPr>
            <a:r>
              <a:rPr lang="en-US"/>
              <a:t>They used it as a way to understand business needs and challenges and find solutions to problems in a way that’s human-centered at its core and favors progress over perfection. ​The trick in design thinking is to get into the shoes of the customer, to understand what they want and empathize with them in every step of the design process. </a:t>
            </a:r>
          </a:p>
          <a:p>
            <a:pPr marL="171450" indent="-171450">
              <a:buFont typeface="Calibri"/>
              <a:buChar char="-"/>
            </a:pPr>
            <a:r>
              <a:rPr lang="en-US"/>
              <a:t>It allows us to build robust solutions by having us iterate through multiple stages of &lt;CLICK&gt; empathizing with our audience, (which you did when we picked a topic and described how we wanted our players to experience it) &lt;CLICK&gt;defining our problem space (which you did by defining what things and actions should be included in our game's world), &lt;CLICK&gt;generating ideas for solutions (which you also did by turning all those actions into game mechanics), &lt;CLICK&gt;prototyping the best ideas (which you should have right in front of you), &lt;CLICK&gt; and testing these prototypes to gather feedback that we can integrate into our next iteration (which we'll talk about soon). &lt;Click&gt; Frequently development in one stage can lead to updates in any or all stages regardless of order, &lt;CLICK&gt; and the design thinking framework encourages us to bounce between these stages regardless of order so that we can maintain creative freedom while keeping our ideas organized.&lt;Click&gt;</a:t>
            </a:r>
          </a:p>
          <a:p>
            <a:pPr marL="171450" indent="-171450">
              <a:buFont typeface="Calibri"/>
              <a:buChar char="-"/>
            </a:pPr>
            <a:endParaRPr lang="en-US">
              <a:ea typeface="Calibri"/>
              <a:cs typeface="Calibri"/>
            </a:endParaRPr>
          </a:p>
          <a:p>
            <a:pPr marL="171450" indent="-171450">
              <a:buFont typeface="Calibri"/>
              <a:buChar char="-"/>
            </a:pPr>
            <a:endParaRPr lang="en-US">
              <a:ea typeface="Calibri"/>
              <a:cs typeface="Calibri"/>
            </a:endParaRPr>
          </a:p>
          <a:p>
            <a:pPr marL="171450" indent="-171450">
              <a:buFont typeface="Calibri"/>
              <a:buChar char="-"/>
            </a:pPr>
            <a:endParaRPr lang="en-US">
              <a:ea typeface="Calibri"/>
              <a:cs typeface="Calibri"/>
            </a:endParaRPr>
          </a:p>
          <a:p>
            <a:pPr marL="171450" indent="-171450">
              <a:buFont typeface="Calibri"/>
              <a:buChar char="-"/>
            </a:pPr>
            <a:endParaRPr lang="en-US">
              <a:ea typeface="Calibri"/>
              <a:cs typeface="Calibri"/>
            </a:endParaRPr>
          </a:p>
          <a:p>
            <a:pPr marL="171450" indent="-171450">
              <a:buFont typeface="Calibri"/>
              <a:buChar char="-"/>
            </a:pPr>
            <a:r>
              <a:rPr lang="en-US">
                <a:ea typeface="Calibri"/>
                <a:cs typeface="Calibri"/>
              </a:rPr>
              <a:t>We tie all the work we've done to abstract design thinking principles.</a:t>
            </a:r>
          </a:p>
          <a:p>
            <a:pPr marL="171450" indent="-171450">
              <a:buFont typeface="Calibri"/>
              <a:buChar char="-"/>
            </a:pPr>
            <a:r>
              <a:rPr lang="en-US">
                <a:ea typeface="Calibri"/>
                <a:cs typeface="Calibri"/>
              </a:rPr>
              <a:t>Emphasize that Design Thinking is an iterative process, we've only helped them with the first iteration of their game but they can repeat these steps to improve their game</a:t>
            </a:r>
          </a:p>
          <a:p>
            <a:pPr marL="628650" lvl="1" indent="-171450">
              <a:buFont typeface="Courier New"/>
              <a:buChar char="o"/>
            </a:pPr>
            <a:r>
              <a:rPr lang="en-US">
                <a:ea typeface="Calibri"/>
                <a:cs typeface="Calibri"/>
              </a:rPr>
              <a:t>This is why we emphasized that nothing needs to be perfect, Design Thinking favors progress over perfection</a:t>
            </a:r>
          </a:p>
        </p:txBody>
      </p:sp>
      <p:sp>
        <p:nvSpPr>
          <p:cNvPr id="4" name="Slide Number Placeholder 3"/>
          <p:cNvSpPr>
            <a:spLocks noGrp="1"/>
          </p:cNvSpPr>
          <p:nvPr>
            <p:ph type="sldNum" sz="quarter" idx="5"/>
          </p:nvPr>
        </p:nvSpPr>
        <p:spPr/>
        <p:txBody>
          <a:bodyPr/>
          <a:lstStyle/>
          <a:p>
            <a:fld id="{76E10D6F-BD72-CF40-A81C-37A07F86FADE}" type="slidenum">
              <a:rPr lang="en-US" smtClean="0"/>
              <a:t>13</a:t>
            </a:fld>
            <a:endParaRPr lang="en-US"/>
          </a:p>
        </p:txBody>
      </p:sp>
    </p:spTree>
    <p:extLst>
      <p:ext uri="{BB962C8B-B14F-4D97-AF65-F5344CB8AC3E}">
        <p14:creationId xmlns:p14="http://schemas.microsoft.com/office/powerpoint/2010/main" val="21018428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&lt;nina&gt; And now that each of you has an amazing RPG on your hands, what will you do next? </a:t>
            </a:r>
          </a:p>
          <a:p>
            <a:endParaRPr lang="en-US">
              <a:cs typeface="Calibri"/>
            </a:endParaRPr>
          </a:p>
          <a:p>
            <a:r>
              <a:rPr lang="en-US">
                <a:cs typeface="Calibri"/>
              </a:rPr>
              <a:t>The first thing you should consider is </a:t>
            </a:r>
            <a:r>
              <a:rPr lang="en-US" b="1">
                <a:cs typeface="Calibri"/>
              </a:rPr>
              <a:t>playtesting</a:t>
            </a:r>
            <a:r>
              <a:rPr lang="en-US">
                <a:cs typeface="Calibri"/>
              </a:rPr>
              <a:t> &lt;click&gt;. Get a group of friends or other conference goers, and ask them to play your game so you can observe. Take silent notes, and don't talk to the players while they're playing. &lt;click&gt; And ask players to think out loud so you know what’s going on in their heads.</a:t>
            </a:r>
            <a:br>
              <a:rPr lang="en-US">
                <a:cs typeface="+mn-lt"/>
              </a:rPr>
            </a:br>
            <a:br>
              <a:rPr lang="en-US">
                <a:cs typeface="+mn-lt"/>
              </a:rPr>
            </a:br>
            <a:r>
              <a:rPr lang="en-US">
                <a:cs typeface="Calibri"/>
              </a:rPr>
              <a:t>You can adjust your wording afterwards so it's closer to what you </a:t>
            </a:r>
            <a:r>
              <a:rPr lang="en-US" i="1">
                <a:cs typeface="Calibri"/>
              </a:rPr>
              <a:t>want</a:t>
            </a:r>
            <a:r>
              <a:rPr lang="en-US">
                <a:cs typeface="Calibri"/>
              </a:rPr>
              <a:t> people to read, but &lt;click&gt; roleplaying games are generally up to interpretation. Some people may even come up with amazing ideas you didn't think about! </a:t>
            </a:r>
            <a:br>
              <a:rPr lang="en-US">
                <a:cs typeface="+mn-lt"/>
              </a:rPr>
            </a:br>
            <a:br>
              <a:rPr lang="en-US">
                <a:cs typeface="+mn-lt"/>
              </a:rPr>
            </a:br>
            <a:r>
              <a:rPr lang="en-US">
                <a:cs typeface="Calibri"/>
              </a:rPr>
              <a:t>After you've </a:t>
            </a:r>
            <a:r>
              <a:rPr lang="en-US" err="1">
                <a:cs typeface="Calibri"/>
              </a:rPr>
              <a:t>playtested</a:t>
            </a:r>
            <a:r>
              <a:rPr lang="en-US">
                <a:cs typeface="Calibri"/>
              </a:rPr>
              <a:t>, consider &lt;click&gt; publishing your game. Site like the DMs Guild, </a:t>
            </a:r>
            <a:r>
              <a:rPr lang="en-US" err="1">
                <a:cs typeface="Calibri"/>
              </a:rPr>
              <a:t>Drivethru</a:t>
            </a:r>
            <a:r>
              <a:rPr lang="en-US">
                <a:cs typeface="Calibri"/>
              </a:rPr>
              <a:t> RPG, and Roll20 are open marketplaces specifically for RPGs where you could put up your game for others to find, play, and even pay you. Similarly, &lt;click&gt; Itch.io is a website that is commonly known as an indie video game platform, but it also hosts a significant amount of RPGs, and there are frequent </a:t>
            </a:r>
            <a:r>
              <a:rPr lang="en-US" err="1">
                <a:cs typeface="Calibri"/>
              </a:rPr>
              <a:t>onepage</a:t>
            </a:r>
            <a:r>
              <a:rPr lang="en-US">
                <a:cs typeface="Calibri"/>
              </a:rPr>
              <a:t> RPG jams you can participate in to write an RPG in a short amount of time (but longer than this workshop). But when you use any marketplace, I recommend reading up on their policies before setting up shop so you understand how they function. You could also host your game on </a:t>
            </a:r>
            <a:r>
              <a:rPr lang="en-US" err="1">
                <a:cs typeface="Calibri"/>
              </a:rPr>
              <a:t>Github</a:t>
            </a:r>
            <a:r>
              <a:rPr lang="en-US">
                <a:cs typeface="Calibri"/>
              </a:rPr>
              <a:t> as a free </a:t>
            </a:r>
            <a:r>
              <a:rPr lang="en-US" err="1">
                <a:cs typeface="Calibri"/>
              </a:rPr>
              <a:t>Github</a:t>
            </a:r>
            <a:r>
              <a:rPr lang="en-US">
                <a:cs typeface="Calibri"/>
              </a:rPr>
              <a:t> Page, or on your own personal website. </a:t>
            </a:r>
          </a:p>
          <a:p>
            <a:endParaRPr lang="en-US">
              <a:cs typeface="Calibri"/>
            </a:endParaRPr>
          </a:p>
          <a:p>
            <a:r>
              <a:rPr lang="en-US">
                <a:cs typeface="Calibri"/>
              </a:rPr>
              <a:t>You might also have a &lt;click&gt; local game or book store that would be willing to sell or give away copies of your game. And you can playtest there too!</a:t>
            </a:r>
          </a:p>
          <a:p>
            <a:endParaRPr lang="en-US">
              <a:cs typeface="Calibri"/>
            </a:endParaRPr>
          </a:p>
          <a:p>
            <a:r>
              <a:rPr lang="en-US">
                <a:cs typeface="Calibri"/>
              </a:rPr>
              <a:t>Regardless of where and how you publish, your game should be accessible online or for ordering physical copies, payment should be simple (if you’re looking to get paid), and players should know where to find more of your games. </a:t>
            </a:r>
          </a:p>
        </p:txBody>
      </p:sp>
      <p:sp>
        <p:nvSpPr>
          <p:cNvPr id="4" name="Slide Number Placeholder 3"/>
          <p:cNvSpPr>
            <a:spLocks noGrp="1"/>
          </p:cNvSpPr>
          <p:nvPr>
            <p:ph type="sldNum" sz="quarter" idx="5"/>
          </p:nvPr>
        </p:nvSpPr>
        <p:spPr/>
        <p:txBody>
          <a:bodyPr/>
          <a:lstStyle/>
          <a:p>
            <a:fld id="{76E10D6F-BD72-CF40-A81C-37A07F86FADE}" type="slidenum">
              <a:rPr lang="en-US" smtClean="0"/>
              <a:t>14</a:t>
            </a:fld>
            <a:endParaRPr lang="en-US"/>
          </a:p>
        </p:txBody>
      </p:sp>
    </p:spTree>
    <p:extLst>
      <p:ext uri="{BB962C8B-B14F-4D97-AF65-F5344CB8AC3E}">
        <p14:creationId xmlns:p14="http://schemas.microsoft.com/office/powerpoint/2010/main" val="27777153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&lt;nina&gt;</a:t>
            </a:r>
          </a:p>
          <a:p>
            <a:endParaRPr lang="en-US">
              <a:cs typeface="Calibri"/>
            </a:endParaRPr>
          </a:p>
          <a:p>
            <a:r>
              <a:rPr lang="en-US">
                <a:cs typeface="Calibri"/>
              </a:rPr>
              <a:t>And that’s all we’ve got for you! We’ll leave you with a list of all the games we talked about during this talk, and if anyone has any questions we're more than happy to answer them. We hope that you’re inspired to continue working on this game, play it with your friends, and continue design thinking throughout your day.</a:t>
            </a:r>
          </a:p>
        </p:txBody>
      </p:sp>
      <p:sp>
        <p:nvSpPr>
          <p:cNvPr id="4" name="Slide Number Placeholder 3"/>
          <p:cNvSpPr>
            <a:spLocks noGrp="1"/>
          </p:cNvSpPr>
          <p:nvPr>
            <p:ph type="sldNum" sz="quarter" idx="5"/>
          </p:nvPr>
        </p:nvSpPr>
        <p:spPr/>
        <p:txBody>
          <a:bodyPr/>
          <a:lstStyle/>
          <a:p>
            <a:fld id="{76E10D6F-BD72-CF40-A81C-37A07F86FADE}" type="slidenum">
              <a:rPr lang="en-US" smtClean="0"/>
              <a:t>15</a:t>
            </a:fld>
            <a:endParaRPr lang="en-US"/>
          </a:p>
        </p:txBody>
      </p:sp>
    </p:spTree>
    <p:extLst>
      <p:ext uri="{BB962C8B-B14F-4D97-AF65-F5344CB8AC3E}">
        <p14:creationId xmlns:p14="http://schemas.microsoft.com/office/powerpoint/2010/main" val="28818297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6E10D6F-BD72-CF40-A81C-37A07F86FADE}" type="slidenum">
              <a:rPr lang="en-US" smtClean="0"/>
              <a:t>16</a:t>
            </a:fld>
            <a:endParaRPr lang="en-US"/>
          </a:p>
        </p:txBody>
      </p:sp>
    </p:spTree>
    <p:extLst>
      <p:ext uri="{BB962C8B-B14F-4D97-AF65-F5344CB8AC3E}">
        <p14:creationId xmlns:p14="http://schemas.microsoft.com/office/powerpoint/2010/main" val="16372496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svg"/><Relationship Id="rId2" Type="http://schemas.openxmlformats.org/officeDocument/2006/relationships/image" Target="../media/image1.sv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4.sv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6.svg"/><Relationship Id="rId2" Type="http://schemas.openxmlformats.org/officeDocument/2006/relationships/image" Target="../media/image8.sv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3.svg"/><Relationship Id="rId2" Type="http://schemas.openxmlformats.org/officeDocument/2006/relationships/image" Target="../media/image9.sv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svg"/><Relationship Id="rId2" Type="http://schemas.openxmlformats.org/officeDocument/2006/relationships/image" Target="../media/image10.sv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6.svg"/><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1.svg"/><Relationship Id="rId2" Type="http://schemas.openxmlformats.org/officeDocument/2006/relationships/image" Target="../media/image11.sv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3.svg"/><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12.svg"/><Relationship Id="rId1" Type="http://schemas.openxmlformats.org/officeDocument/2006/relationships/slideMaster" Target="../slideMasters/slideMaster1.xml"/><Relationship Id="rId6" Type="http://schemas.openxmlformats.org/officeDocument/2006/relationships/image" Target="../media/image1.svg"/><Relationship Id="rId5" Type="http://schemas.openxmlformats.org/officeDocument/2006/relationships/image" Target="../media/image2.svg"/><Relationship Id="rId4"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069848" y="1054916"/>
            <a:ext cx="10058400" cy="685800"/>
          </a:xfrm>
          <a:prstGeom prst="rect">
            <a:avLst/>
          </a:prstGeom>
        </p:spPr>
        <p:txBody>
          <a:bodyPr lIns="0" tIns="0" rIns="0" bIns="0" anchor="b">
            <a:noAutofit/>
          </a:bodyPr>
          <a:lstStyle>
            <a:lvl1pPr algn="ctr">
              <a:defRPr sz="4800" spc="300" baseline="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066800" y="2234175"/>
            <a:ext cx="10058400" cy="365760"/>
          </a:xfrm>
        </p:spPr>
        <p:txBody>
          <a:bodyPr>
            <a:noAutofit/>
          </a:bodyPr>
          <a:lstStyle>
            <a:lvl1pPr marL="0" indent="0" algn="ctr">
              <a:buNone/>
              <a:defRPr sz="2000" cap="all" spc="300" baseline="0">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Freeform 11">
            <a:extLst>
              <a:ext uri="{FF2B5EF4-FFF2-40B4-BE49-F238E27FC236}">
                <a16:creationId xmlns:a16="http://schemas.microsoft.com/office/drawing/2014/main" id="{6BCB80F8-76C5-7477-4C73-77682F26129F}"/>
              </a:ext>
            </a:extLst>
          </p:cNvPr>
          <p:cNvSpPr/>
          <p:nvPr userDrawn="1"/>
        </p:nvSpPr>
        <p:spPr>
          <a:xfrm>
            <a:off x="11786139" y="84634"/>
            <a:ext cx="337051" cy="336855"/>
          </a:xfrm>
          <a:custGeom>
            <a:avLst/>
            <a:gdLst>
              <a:gd name="connsiteX0" fmla="*/ 196508 w 337051"/>
              <a:gd name="connsiteY0" fmla="*/ 108569 h 336855"/>
              <a:gd name="connsiteX1" fmla="*/ 170052 w 337051"/>
              <a:gd name="connsiteY1" fmla="*/ 0 h 336855"/>
              <a:gd name="connsiteX2" fmla="*/ 141880 w 337051"/>
              <a:gd name="connsiteY2" fmla="*/ 108169 h 336855"/>
              <a:gd name="connsiteX3" fmla="*/ 108747 w 337051"/>
              <a:gd name="connsiteY3" fmla="*/ 140640 h 336855"/>
              <a:gd name="connsiteX4" fmla="*/ 0 w 337051"/>
              <a:gd name="connsiteY4" fmla="*/ 166934 h 336855"/>
              <a:gd name="connsiteX5" fmla="*/ 108238 w 337051"/>
              <a:gd name="connsiteY5" fmla="*/ 195122 h 336855"/>
              <a:gd name="connsiteX6" fmla="*/ 140735 w 337051"/>
              <a:gd name="connsiteY6" fmla="*/ 228191 h 336855"/>
              <a:gd name="connsiteX7" fmla="*/ 167063 w 337051"/>
              <a:gd name="connsiteY7" fmla="*/ 336855 h 336855"/>
              <a:gd name="connsiteX8" fmla="*/ 195299 w 337051"/>
              <a:gd name="connsiteY8" fmla="*/ 228686 h 336855"/>
              <a:gd name="connsiteX9" fmla="*/ 228369 w 337051"/>
              <a:gd name="connsiteY9" fmla="*/ 196215 h 336855"/>
              <a:gd name="connsiteX10" fmla="*/ 337052 w 337051"/>
              <a:gd name="connsiteY10" fmla="*/ 169921 h 336855"/>
              <a:gd name="connsiteX11" fmla="*/ 228813 w 337051"/>
              <a:gd name="connsiteY11" fmla="*/ 141733 h 336855"/>
              <a:gd name="connsiteX12" fmla="*/ 196508 w 337051"/>
              <a:gd name="connsiteY12" fmla="*/ 108569 h 336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051" h="336855">
                <a:moveTo>
                  <a:pt x="196508" y="108569"/>
                </a:moveTo>
                <a:lnTo>
                  <a:pt x="170052" y="0"/>
                </a:lnTo>
                <a:lnTo>
                  <a:pt x="141880" y="108169"/>
                </a:lnTo>
                <a:cubicBezTo>
                  <a:pt x="137683" y="124306"/>
                  <a:pt x="124900" y="136757"/>
                  <a:pt x="108747" y="140640"/>
                </a:cubicBezTo>
                <a:lnTo>
                  <a:pt x="0" y="166934"/>
                </a:lnTo>
                <a:lnTo>
                  <a:pt x="108238" y="195122"/>
                </a:lnTo>
                <a:cubicBezTo>
                  <a:pt x="124392" y="199304"/>
                  <a:pt x="136856" y="212054"/>
                  <a:pt x="140735" y="228191"/>
                </a:cubicBezTo>
                <a:lnTo>
                  <a:pt x="167063" y="336855"/>
                </a:lnTo>
                <a:lnTo>
                  <a:pt x="195299" y="228686"/>
                </a:lnTo>
                <a:cubicBezTo>
                  <a:pt x="199496" y="212549"/>
                  <a:pt x="212215" y="200098"/>
                  <a:pt x="228369" y="196215"/>
                </a:cubicBezTo>
                <a:lnTo>
                  <a:pt x="337052" y="169921"/>
                </a:lnTo>
                <a:lnTo>
                  <a:pt x="228813" y="141733"/>
                </a:lnTo>
                <a:cubicBezTo>
                  <a:pt x="212915" y="137450"/>
                  <a:pt x="200387" y="124700"/>
                  <a:pt x="196508" y="108569"/>
                </a:cubicBezTo>
                <a:close/>
              </a:path>
            </a:pathLst>
          </a:custGeom>
          <a:solidFill>
            <a:schemeClr val="accent1"/>
          </a:solidFill>
          <a:ln w="6357" cap="flat">
            <a:noFill/>
            <a:prstDash val="solid"/>
            <a:miter/>
          </a:ln>
        </p:spPr>
        <p:txBody>
          <a:bodyPr rtlCol="0" anchor="ctr">
            <a:noAutofit/>
          </a:bodyPr>
          <a:lstStyle/>
          <a:p>
            <a:endParaRPr lang="en-US"/>
          </a:p>
        </p:txBody>
      </p:sp>
      <p:sp>
        <p:nvSpPr>
          <p:cNvPr id="7" name="Freeform 12">
            <a:extLst>
              <a:ext uri="{FF2B5EF4-FFF2-40B4-BE49-F238E27FC236}">
                <a16:creationId xmlns:a16="http://schemas.microsoft.com/office/drawing/2014/main" id="{C327C148-E35A-0DCB-85FB-6E0AE4BE1C42}"/>
              </a:ext>
            </a:extLst>
          </p:cNvPr>
          <p:cNvSpPr/>
          <p:nvPr userDrawn="1"/>
        </p:nvSpPr>
        <p:spPr>
          <a:xfrm>
            <a:off x="109377" y="1791111"/>
            <a:ext cx="464819" cy="456806"/>
          </a:xfrm>
          <a:custGeom>
            <a:avLst/>
            <a:gdLst>
              <a:gd name="connsiteX0" fmla="*/ 763136 w 763135"/>
              <a:gd name="connsiteY0" fmla="*/ 459146 h 749979"/>
              <a:gd name="connsiteX1" fmla="*/ 487307 w 763135"/>
              <a:gd name="connsiteY1" fmla="*/ 341018 h 749979"/>
              <a:gd name="connsiteX2" fmla="*/ 644621 w 763135"/>
              <a:gd name="connsiteY2" fmla="*/ 84073 h 749979"/>
              <a:gd name="connsiteX3" fmla="*/ 405333 w 763135"/>
              <a:gd name="connsiteY3" fmla="*/ 265741 h 749979"/>
              <a:gd name="connsiteX4" fmla="*/ 263053 w 763135"/>
              <a:gd name="connsiteY4" fmla="*/ 0 h 749979"/>
              <a:gd name="connsiteX5" fmla="*/ 299594 w 763135"/>
              <a:gd name="connsiteY5" fmla="*/ 299636 h 749979"/>
              <a:gd name="connsiteX6" fmla="*/ 0 w 763135"/>
              <a:gd name="connsiteY6" fmla="*/ 290998 h 749979"/>
              <a:gd name="connsiteX7" fmla="*/ 275829 w 763135"/>
              <a:gd name="connsiteY7" fmla="*/ 408961 h 749979"/>
              <a:gd name="connsiteX8" fmla="*/ 118515 w 763135"/>
              <a:gd name="connsiteY8" fmla="*/ 666071 h 749979"/>
              <a:gd name="connsiteX9" fmla="*/ 357803 w 763135"/>
              <a:gd name="connsiteY9" fmla="*/ 484239 h 749979"/>
              <a:gd name="connsiteX10" fmla="*/ 500083 w 763135"/>
              <a:gd name="connsiteY10" fmla="*/ 749980 h 749979"/>
              <a:gd name="connsiteX11" fmla="*/ 463700 w 763135"/>
              <a:gd name="connsiteY11" fmla="*/ 450344 h 749979"/>
              <a:gd name="connsiteX12" fmla="*/ 763136 w 763135"/>
              <a:gd name="connsiteY12" fmla="*/ 459146 h 749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63135" h="749979">
                <a:moveTo>
                  <a:pt x="763136" y="459146"/>
                </a:moveTo>
                <a:lnTo>
                  <a:pt x="487307" y="341018"/>
                </a:lnTo>
                <a:lnTo>
                  <a:pt x="644621" y="84073"/>
                </a:lnTo>
                <a:lnTo>
                  <a:pt x="405333" y="265741"/>
                </a:lnTo>
                <a:lnTo>
                  <a:pt x="263053" y="0"/>
                </a:lnTo>
                <a:lnTo>
                  <a:pt x="299594" y="299636"/>
                </a:lnTo>
                <a:lnTo>
                  <a:pt x="0" y="290998"/>
                </a:lnTo>
                <a:lnTo>
                  <a:pt x="275829" y="408961"/>
                </a:lnTo>
                <a:lnTo>
                  <a:pt x="118515" y="666071"/>
                </a:lnTo>
                <a:lnTo>
                  <a:pt x="357803" y="484239"/>
                </a:lnTo>
                <a:lnTo>
                  <a:pt x="500083" y="749980"/>
                </a:lnTo>
                <a:lnTo>
                  <a:pt x="463700" y="450344"/>
                </a:lnTo>
                <a:lnTo>
                  <a:pt x="763136" y="459146"/>
                </a:lnTo>
                <a:close/>
              </a:path>
            </a:pathLst>
          </a:custGeom>
          <a:solidFill>
            <a:schemeClr val="accent1">
              <a:alpha val="75000"/>
            </a:schemeClr>
          </a:solidFill>
          <a:ln w="6357" cap="flat">
            <a:noFill/>
            <a:prstDash val="solid"/>
            <a:miter/>
          </a:ln>
        </p:spPr>
        <p:txBody>
          <a:bodyPr rtlCol="0" anchor="ctr">
            <a:noAutofit/>
          </a:bodyPr>
          <a:lstStyle/>
          <a:p>
            <a:endParaRPr lang="en-US"/>
          </a:p>
        </p:txBody>
      </p:sp>
      <p:sp>
        <p:nvSpPr>
          <p:cNvPr id="9" name="Freeform 15">
            <a:extLst>
              <a:ext uri="{FF2B5EF4-FFF2-40B4-BE49-F238E27FC236}">
                <a16:creationId xmlns:a16="http://schemas.microsoft.com/office/drawing/2014/main" id="{094CD60E-C387-2567-79C1-04FB31B14A3D}"/>
              </a:ext>
            </a:extLst>
          </p:cNvPr>
          <p:cNvSpPr/>
          <p:nvPr userDrawn="1"/>
        </p:nvSpPr>
        <p:spPr>
          <a:xfrm>
            <a:off x="11716376" y="482555"/>
            <a:ext cx="432443" cy="413124"/>
          </a:xfrm>
          <a:custGeom>
            <a:avLst/>
            <a:gdLst>
              <a:gd name="connsiteX0" fmla="*/ 265826 w 432443"/>
              <a:gd name="connsiteY0" fmla="*/ 168421 h 413124"/>
              <a:gd name="connsiteX1" fmla="*/ 302457 w 432443"/>
              <a:gd name="connsiteY1" fmla="*/ 0 h 413124"/>
              <a:gd name="connsiteX2" fmla="*/ 209099 w 432443"/>
              <a:gd name="connsiteY2" fmla="*/ 143043 h 413124"/>
              <a:gd name="connsiteX3" fmla="*/ 86044 w 432443"/>
              <a:gd name="connsiteY3" fmla="*/ 26300 h 413124"/>
              <a:gd name="connsiteX4" fmla="*/ 159495 w 432443"/>
              <a:gd name="connsiteY4" fmla="*/ 181336 h 413124"/>
              <a:gd name="connsiteX5" fmla="*/ 0 w 432443"/>
              <a:gd name="connsiteY5" fmla="*/ 232862 h 413124"/>
              <a:gd name="connsiteX6" fmla="*/ 166618 w 432443"/>
              <a:gd name="connsiteY6" fmla="*/ 244703 h 413124"/>
              <a:gd name="connsiteX7" fmla="*/ 130178 w 432443"/>
              <a:gd name="connsiteY7" fmla="*/ 413124 h 413124"/>
              <a:gd name="connsiteX8" fmla="*/ 223535 w 432443"/>
              <a:gd name="connsiteY8" fmla="*/ 270082 h 413124"/>
              <a:gd name="connsiteX9" fmla="*/ 346400 w 432443"/>
              <a:gd name="connsiteY9" fmla="*/ 386824 h 413124"/>
              <a:gd name="connsiteX10" fmla="*/ 273075 w 432443"/>
              <a:gd name="connsiteY10" fmla="*/ 231788 h 413124"/>
              <a:gd name="connsiteX11" fmla="*/ 432444 w 432443"/>
              <a:gd name="connsiteY11" fmla="*/ 180262 h 413124"/>
              <a:gd name="connsiteX12" fmla="*/ 265826 w 432443"/>
              <a:gd name="connsiteY12" fmla="*/ 168421 h 413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2443" h="413124">
                <a:moveTo>
                  <a:pt x="265826" y="168421"/>
                </a:moveTo>
                <a:lnTo>
                  <a:pt x="302457" y="0"/>
                </a:lnTo>
                <a:lnTo>
                  <a:pt x="209099" y="143043"/>
                </a:lnTo>
                <a:lnTo>
                  <a:pt x="86044" y="26300"/>
                </a:lnTo>
                <a:lnTo>
                  <a:pt x="159495" y="181336"/>
                </a:lnTo>
                <a:lnTo>
                  <a:pt x="0" y="232862"/>
                </a:lnTo>
                <a:lnTo>
                  <a:pt x="166618" y="244703"/>
                </a:lnTo>
                <a:lnTo>
                  <a:pt x="130178" y="413124"/>
                </a:lnTo>
                <a:lnTo>
                  <a:pt x="223535" y="270082"/>
                </a:lnTo>
                <a:lnTo>
                  <a:pt x="346400" y="386824"/>
                </a:lnTo>
                <a:lnTo>
                  <a:pt x="273075" y="231788"/>
                </a:lnTo>
                <a:lnTo>
                  <a:pt x="432444" y="180262"/>
                </a:lnTo>
                <a:lnTo>
                  <a:pt x="265826" y="168421"/>
                </a:lnTo>
                <a:close/>
              </a:path>
            </a:pathLst>
          </a:custGeom>
          <a:solidFill>
            <a:schemeClr val="accent1">
              <a:alpha val="50000"/>
            </a:schemeClr>
          </a:solidFill>
          <a:ln w="6357" cap="flat">
            <a:noFill/>
            <a:prstDash val="solid"/>
            <a:miter/>
          </a:ln>
        </p:spPr>
        <p:txBody>
          <a:bodyPr rtlCol="0" anchor="ctr">
            <a:noAutofit/>
          </a:bodyPr>
          <a:lstStyle/>
          <a:p>
            <a:endParaRPr lang="en-US"/>
          </a:p>
        </p:txBody>
      </p:sp>
      <p:sp>
        <p:nvSpPr>
          <p:cNvPr id="10" name="Freeform 16">
            <a:extLst>
              <a:ext uri="{FF2B5EF4-FFF2-40B4-BE49-F238E27FC236}">
                <a16:creationId xmlns:a16="http://schemas.microsoft.com/office/drawing/2014/main" id="{118CEC94-78DB-19AB-77DD-495E94E7DE55}"/>
              </a:ext>
            </a:extLst>
          </p:cNvPr>
          <p:cNvSpPr/>
          <p:nvPr userDrawn="1"/>
        </p:nvSpPr>
        <p:spPr>
          <a:xfrm>
            <a:off x="196060" y="2984112"/>
            <a:ext cx="279816" cy="260586"/>
          </a:xfrm>
          <a:custGeom>
            <a:avLst/>
            <a:gdLst>
              <a:gd name="connsiteX0" fmla="*/ 171992 w 279816"/>
              <a:gd name="connsiteY0" fmla="*/ 106230 h 260586"/>
              <a:gd name="connsiteX1" fmla="*/ 195700 w 279816"/>
              <a:gd name="connsiteY1" fmla="*/ 0 h 260586"/>
              <a:gd name="connsiteX2" fmla="*/ 135285 w 279816"/>
              <a:gd name="connsiteY2" fmla="*/ 90226 h 260586"/>
              <a:gd name="connsiteX3" fmla="*/ 55696 w 279816"/>
              <a:gd name="connsiteY3" fmla="*/ 16588 h 260586"/>
              <a:gd name="connsiteX4" fmla="*/ 103195 w 279816"/>
              <a:gd name="connsiteY4" fmla="*/ 114385 h 260586"/>
              <a:gd name="connsiteX5" fmla="*/ 0 w 279816"/>
              <a:gd name="connsiteY5" fmla="*/ 146882 h 260586"/>
              <a:gd name="connsiteX6" fmla="*/ 107825 w 279816"/>
              <a:gd name="connsiteY6" fmla="*/ 154356 h 260586"/>
              <a:gd name="connsiteX7" fmla="*/ 84212 w 279816"/>
              <a:gd name="connsiteY7" fmla="*/ 260586 h 260586"/>
              <a:gd name="connsiteX8" fmla="*/ 144627 w 279816"/>
              <a:gd name="connsiteY8" fmla="*/ 170360 h 260586"/>
              <a:gd name="connsiteX9" fmla="*/ 224120 w 279816"/>
              <a:gd name="connsiteY9" fmla="*/ 243998 h 260586"/>
              <a:gd name="connsiteX10" fmla="*/ 176717 w 279816"/>
              <a:gd name="connsiteY10" fmla="*/ 146201 h 260586"/>
              <a:gd name="connsiteX11" fmla="*/ 279816 w 279816"/>
              <a:gd name="connsiteY11" fmla="*/ 113705 h 260586"/>
              <a:gd name="connsiteX12" fmla="*/ 171992 w 279816"/>
              <a:gd name="connsiteY12" fmla="*/ 106230 h 2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9816" h="260586">
                <a:moveTo>
                  <a:pt x="171992" y="106230"/>
                </a:moveTo>
                <a:lnTo>
                  <a:pt x="195700" y="0"/>
                </a:lnTo>
                <a:lnTo>
                  <a:pt x="135285" y="90226"/>
                </a:lnTo>
                <a:lnTo>
                  <a:pt x="55696" y="16588"/>
                </a:lnTo>
                <a:lnTo>
                  <a:pt x="103195" y="114385"/>
                </a:lnTo>
                <a:lnTo>
                  <a:pt x="0" y="146882"/>
                </a:lnTo>
                <a:lnTo>
                  <a:pt x="107825" y="154356"/>
                </a:lnTo>
                <a:lnTo>
                  <a:pt x="84212" y="260586"/>
                </a:lnTo>
                <a:lnTo>
                  <a:pt x="144627" y="170360"/>
                </a:lnTo>
                <a:lnTo>
                  <a:pt x="224120" y="243998"/>
                </a:lnTo>
                <a:lnTo>
                  <a:pt x="176717" y="146201"/>
                </a:lnTo>
                <a:lnTo>
                  <a:pt x="279816" y="113705"/>
                </a:lnTo>
                <a:lnTo>
                  <a:pt x="171992" y="106230"/>
                </a:lnTo>
                <a:close/>
              </a:path>
            </a:pathLst>
          </a:custGeom>
          <a:solidFill>
            <a:schemeClr val="accent1"/>
          </a:solidFill>
          <a:ln w="6357" cap="flat">
            <a:noFill/>
            <a:prstDash val="solid"/>
            <a:miter/>
          </a:ln>
        </p:spPr>
        <p:txBody>
          <a:bodyPr rtlCol="0" anchor="ctr">
            <a:noAutofit/>
          </a:bodyPr>
          <a:lstStyle/>
          <a:p>
            <a:endParaRPr lang="en-US"/>
          </a:p>
        </p:txBody>
      </p:sp>
      <p:sp>
        <p:nvSpPr>
          <p:cNvPr id="11" name="Freeform 17">
            <a:extLst>
              <a:ext uri="{FF2B5EF4-FFF2-40B4-BE49-F238E27FC236}">
                <a16:creationId xmlns:a16="http://schemas.microsoft.com/office/drawing/2014/main" id="{77881F6D-6DC8-2386-9620-B36874FBE270}"/>
              </a:ext>
            </a:extLst>
          </p:cNvPr>
          <p:cNvSpPr/>
          <p:nvPr userDrawn="1"/>
        </p:nvSpPr>
        <p:spPr>
          <a:xfrm>
            <a:off x="11458628" y="122769"/>
            <a:ext cx="279816" cy="260586"/>
          </a:xfrm>
          <a:custGeom>
            <a:avLst/>
            <a:gdLst>
              <a:gd name="connsiteX0" fmla="*/ 172024 w 279816"/>
              <a:gd name="connsiteY0" fmla="*/ 106230 h 260586"/>
              <a:gd name="connsiteX1" fmla="*/ 195681 w 279816"/>
              <a:gd name="connsiteY1" fmla="*/ 0 h 260586"/>
              <a:gd name="connsiteX2" fmla="*/ 135266 w 279816"/>
              <a:gd name="connsiteY2" fmla="*/ 90226 h 260586"/>
              <a:gd name="connsiteX3" fmla="*/ 55709 w 279816"/>
              <a:gd name="connsiteY3" fmla="*/ 16588 h 260586"/>
              <a:gd name="connsiteX4" fmla="*/ 103214 w 279816"/>
              <a:gd name="connsiteY4" fmla="*/ 114385 h 260586"/>
              <a:gd name="connsiteX5" fmla="*/ 0 w 279816"/>
              <a:gd name="connsiteY5" fmla="*/ 146882 h 260586"/>
              <a:gd name="connsiteX6" fmla="*/ 107793 w 279816"/>
              <a:gd name="connsiteY6" fmla="*/ 154356 h 260586"/>
              <a:gd name="connsiteX7" fmla="*/ 84199 w 279816"/>
              <a:gd name="connsiteY7" fmla="*/ 260586 h 260586"/>
              <a:gd name="connsiteX8" fmla="*/ 144614 w 279816"/>
              <a:gd name="connsiteY8" fmla="*/ 170360 h 260586"/>
              <a:gd name="connsiteX9" fmla="*/ 224108 w 279816"/>
              <a:gd name="connsiteY9" fmla="*/ 243998 h 260586"/>
              <a:gd name="connsiteX10" fmla="*/ 176730 w 279816"/>
              <a:gd name="connsiteY10" fmla="*/ 146201 h 260586"/>
              <a:gd name="connsiteX11" fmla="*/ 279816 w 279816"/>
              <a:gd name="connsiteY11" fmla="*/ 113705 h 260586"/>
              <a:gd name="connsiteX12" fmla="*/ 172024 w 279816"/>
              <a:gd name="connsiteY12" fmla="*/ 106230 h 2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9816" h="260586">
                <a:moveTo>
                  <a:pt x="172024" y="106230"/>
                </a:moveTo>
                <a:lnTo>
                  <a:pt x="195681" y="0"/>
                </a:lnTo>
                <a:lnTo>
                  <a:pt x="135266" y="90226"/>
                </a:lnTo>
                <a:lnTo>
                  <a:pt x="55709" y="16588"/>
                </a:lnTo>
                <a:lnTo>
                  <a:pt x="103214" y="114385"/>
                </a:lnTo>
                <a:lnTo>
                  <a:pt x="0" y="146882"/>
                </a:lnTo>
                <a:lnTo>
                  <a:pt x="107793" y="154356"/>
                </a:lnTo>
                <a:lnTo>
                  <a:pt x="84199" y="260586"/>
                </a:lnTo>
                <a:lnTo>
                  <a:pt x="144614" y="170360"/>
                </a:lnTo>
                <a:lnTo>
                  <a:pt x="224108" y="243998"/>
                </a:lnTo>
                <a:lnTo>
                  <a:pt x="176730" y="146201"/>
                </a:lnTo>
                <a:lnTo>
                  <a:pt x="279816" y="113705"/>
                </a:lnTo>
                <a:lnTo>
                  <a:pt x="172024" y="106230"/>
                </a:lnTo>
                <a:close/>
              </a:path>
            </a:pathLst>
          </a:custGeom>
          <a:solidFill>
            <a:schemeClr val="accent1">
              <a:alpha val="75000"/>
            </a:schemeClr>
          </a:solidFill>
          <a:ln w="6357" cap="flat">
            <a:noFill/>
            <a:prstDash val="solid"/>
            <a:miter/>
          </a:ln>
        </p:spPr>
        <p:txBody>
          <a:bodyPr rtlCol="0" anchor="ctr">
            <a:noAutofit/>
          </a:bodyPr>
          <a:lstStyle/>
          <a:p>
            <a:endParaRPr lang="en-US"/>
          </a:p>
        </p:txBody>
      </p:sp>
      <p:sp>
        <p:nvSpPr>
          <p:cNvPr id="12" name="Freeform 33">
            <a:extLst>
              <a:ext uri="{FF2B5EF4-FFF2-40B4-BE49-F238E27FC236}">
                <a16:creationId xmlns:a16="http://schemas.microsoft.com/office/drawing/2014/main" id="{6BECF6E6-E7EC-0752-CFA9-0A14648606A2}"/>
              </a:ext>
            </a:extLst>
          </p:cNvPr>
          <p:cNvSpPr/>
          <p:nvPr userDrawn="1"/>
        </p:nvSpPr>
        <p:spPr>
          <a:xfrm>
            <a:off x="145146" y="3906411"/>
            <a:ext cx="381644" cy="550497"/>
          </a:xfrm>
          <a:custGeom>
            <a:avLst/>
            <a:gdLst>
              <a:gd name="connsiteX0" fmla="*/ 258805 w 381644"/>
              <a:gd name="connsiteY0" fmla="*/ 222000 h 381421"/>
              <a:gd name="connsiteX1" fmla="*/ 381644 w 381644"/>
              <a:gd name="connsiteY1" fmla="*/ 191474 h 381421"/>
              <a:gd name="connsiteX2" fmla="*/ 258938 w 381644"/>
              <a:gd name="connsiteY2" fmla="*/ 160178 h 381421"/>
              <a:gd name="connsiteX3" fmla="*/ 221958 w 381644"/>
              <a:gd name="connsiteY3" fmla="*/ 122920 h 381421"/>
              <a:gd name="connsiteX4" fmla="*/ 191528 w 381644"/>
              <a:gd name="connsiteY4" fmla="*/ 0 h 381421"/>
              <a:gd name="connsiteX5" fmla="*/ 160227 w 381644"/>
              <a:gd name="connsiteY5" fmla="*/ 122672 h 381421"/>
              <a:gd name="connsiteX6" fmla="*/ 122954 w 381644"/>
              <a:gd name="connsiteY6" fmla="*/ 159644 h 381421"/>
              <a:gd name="connsiteX7" fmla="*/ 0 w 381644"/>
              <a:gd name="connsiteY7" fmla="*/ 190063 h 381421"/>
              <a:gd name="connsiteX8" fmla="*/ 122712 w 381644"/>
              <a:gd name="connsiteY8" fmla="*/ 221352 h 381421"/>
              <a:gd name="connsiteX9" fmla="*/ 159693 w 381644"/>
              <a:gd name="connsiteY9" fmla="*/ 258616 h 381421"/>
              <a:gd name="connsiteX10" fmla="*/ 190116 w 381644"/>
              <a:gd name="connsiteY10" fmla="*/ 381422 h 381421"/>
              <a:gd name="connsiteX11" fmla="*/ 221418 w 381644"/>
              <a:gd name="connsiteY11" fmla="*/ 258749 h 381421"/>
              <a:gd name="connsiteX12" fmla="*/ 258805 w 381644"/>
              <a:gd name="connsiteY12" fmla="*/ 222000 h 381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644" h="381421">
                <a:moveTo>
                  <a:pt x="258805" y="222000"/>
                </a:moveTo>
                <a:lnTo>
                  <a:pt x="381644" y="191474"/>
                </a:lnTo>
                <a:lnTo>
                  <a:pt x="258938" y="160178"/>
                </a:lnTo>
                <a:cubicBezTo>
                  <a:pt x="240630" y="155538"/>
                  <a:pt x="226448" y="141168"/>
                  <a:pt x="221958" y="122920"/>
                </a:cubicBezTo>
                <a:lnTo>
                  <a:pt x="191528" y="0"/>
                </a:lnTo>
                <a:lnTo>
                  <a:pt x="160227" y="122672"/>
                </a:lnTo>
                <a:cubicBezTo>
                  <a:pt x="155584" y="140971"/>
                  <a:pt x="141212" y="155150"/>
                  <a:pt x="122954" y="159644"/>
                </a:cubicBezTo>
                <a:lnTo>
                  <a:pt x="0" y="190063"/>
                </a:lnTo>
                <a:lnTo>
                  <a:pt x="122712" y="221352"/>
                </a:lnTo>
                <a:cubicBezTo>
                  <a:pt x="141015" y="225998"/>
                  <a:pt x="155197" y="240362"/>
                  <a:pt x="159693" y="258616"/>
                </a:cubicBezTo>
                <a:lnTo>
                  <a:pt x="190116" y="381422"/>
                </a:lnTo>
                <a:lnTo>
                  <a:pt x="221418" y="258749"/>
                </a:lnTo>
                <a:cubicBezTo>
                  <a:pt x="226174" y="240788"/>
                  <a:pt x="240547" y="226494"/>
                  <a:pt x="258805" y="222000"/>
                </a:cubicBezTo>
                <a:close/>
              </a:path>
            </a:pathLst>
          </a:custGeom>
          <a:solidFill>
            <a:schemeClr val="accent1">
              <a:alpha val="85000"/>
            </a:schemeClr>
          </a:solidFill>
          <a:ln w="6357" cap="flat">
            <a:noFill/>
            <a:prstDash val="solid"/>
            <a:miter/>
          </a:ln>
        </p:spPr>
        <p:txBody>
          <a:bodyPr rtlCol="0" anchor="ctr">
            <a:noAutofit/>
          </a:bodyPr>
          <a:lstStyle/>
          <a:p>
            <a:endParaRPr lang="en-US"/>
          </a:p>
        </p:txBody>
      </p:sp>
      <p:sp>
        <p:nvSpPr>
          <p:cNvPr id="4" name="Freeform 15">
            <a:extLst>
              <a:ext uri="{FF2B5EF4-FFF2-40B4-BE49-F238E27FC236}">
                <a16:creationId xmlns:a16="http://schemas.microsoft.com/office/drawing/2014/main" id="{C711DBDB-7661-9F0D-ED18-610855D8F2D9}"/>
              </a:ext>
            </a:extLst>
          </p:cNvPr>
          <p:cNvSpPr/>
          <p:nvPr userDrawn="1"/>
        </p:nvSpPr>
        <p:spPr>
          <a:xfrm>
            <a:off x="109377" y="641792"/>
            <a:ext cx="432443" cy="413124"/>
          </a:xfrm>
          <a:custGeom>
            <a:avLst/>
            <a:gdLst>
              <a:gd name="connsiteX0" fmla="*/ 265826 w 432443"/>
              <a:gd name="connsiteY0" fmla="*/ 168421 h 413124"/>
              <a:gd name="connsiteX1" fmla="*/ 302457 w 432443"/>
              <a:gd name="connsiteY1" fmla="*/ 0 h 413124"/>
              <a:gd name="connsiteX2" fmla="*/ 209099 w 432443"/>
              <a:gd name="connsiteY2" fmla="*/ 143043 h 413124"/>
              <a:gd name="connsiteX3" fmla="*/ 86044 w 432443"/>
              <a:gd name="connsiteY3" fmla="*/ 26300 h 413124"/>
              <a:gd name="connsiteX4" fmla="*/ 159495 w 432443"/>
              <a:gd name="connsiteY4" fmla="*/ 181336 h 413124"/>
              <a:gd name="connsiteX5" fmla="*/ 0 w 432443"/>
              <a:gd name="connsiteY5" fmla="*/ 232862 h 413124"/>
              <a:gd name="connsiteX6" fmla="*/ 166618 w 432443"/>
              <a:gd name="connsiteY6" fmla="*/ 244703 h 413124"/>
              <a:gd name="connsiteX7" fmla="*/ 130178 w 432443"/>
              <a:gd name="connsiteY7" fmla="*/ 413124 h 413124"/>
              <a:gd name="connsiteX8" fmla="*/ 223535 w 432443"/>
              <a:gd name="connsiteY8" fmla="*/ 270082 h 413124"/>
              <a:gd name="connsiteX9" fmla="*/ 346400 w 432443"/>
              <a:gd name="connsiteY9" fmla="*/ 386824 h 413124"/>
              <a:gd name="connsiteX10" fmla="*/ 273075 w 432443"/>
              <a:gd name="connsiteY10" fmla="*/ 231788 h 413124"/>
              <a:gd name="connsiteX11" fmla="*/ 432444 w 432443"/>
              <a:gd name="connsiteY11" fmla="*/ 180262 h 413124"/>
              <a:gd name="connsiteX12" fmla="*/ 265826 w 432443"/>
              <a:gd name="connsiteY12" fmla="*/ 168421 h 413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2443" h="413124">
                <a:moveTo>
                  <a:pt x="265826" y="168421"/>
                </a:moveTo>
                <a:lnTo>
                  <a:pt x="302457" y="0"/>
                </a:lnTo>
                <a:lnTo>
                  <a:pt x="209099" y="143043"/>
                </a:lnTo>
                <a:lnTo>
                  <a:pt x="86044" y="26300"/>
                </a:lnTo>
                <a:lnTo>
                  <a:pt x="159495" y="181336"/>
                </a:lnTo>
                <a:lnTo>
                  <a:pt x="0" y="232862"/>
                </a:lnTo>
                <a:lnTo>
                  <a:pt x="166618" y="244703"/>
                </a:lnTo>
                <a:lnTo>
                  <a:pt x="130178" y="413124"/>
                </a:lnTo>
                <a:lnTo>
                  <a:pt x="223535" y="270082"/>
                </a:lnTo>
                <a:lnTo>
                  <a:pt x="346400" y="386824"/>
                </a:lnTo>
                <a:lnTo>
                  <a:pt x="273075" y="231788"/>
                </a:lnTo>
                <a:lnTo>
                  <a:pt x="432444" y="180262"/>
                </a:lnTo>
                <a:lnTo>
                  <a:pt x="265826" y="168421"/>
                </a:lnTo>
                <a:close/>
              </a:path>
            </a:pathLst>
          </a:custGeom>
          <a:solidFill>
            <a:schemeClr val="accent1">
              <a:alpha val="50000"/>
            </a:schemeClr>
          </a:solidFill>
          <a:ln w="6357" cap="flat">
            <a:noFill/>
            <a:prstDash val="solid"/>
            <a:miter/>
          </a:ln>
        </p:spPr>
        <p:txBody>
          <a:bodyPr rtlCol="0" anchor="ctr">
            <a:noAutofit/>
          </a:bodyPr>
          <a:lstStyle/>
          <a:p>
            <a:endParaRPr lang="en-US"/>
          </a:p>
        </p:txBody>
      </p:sp>
      <p:sp>
        <p:nvSpPr>
          <p:cNvPr id="5" name="Content Placeholder 2">
            <a:extLst>
              <a:ext uri="{FF2B5EF4-FFF2-40B4-BE49-F238E27FC236}">
                <a16:creationId xmlns:a16="http://schemas.microsoft.com/office/drawing/2014/main" id="{CF4A19FA-A2FA-FEB7-0797-6CEE9EE6B536}"/>
              </a:ext>
            </a:extLst>
          </p:cNvPr>
          <p:cNvSpPr>
            <a:spLocks noGrp="1"/>
          </p:cNvSpPr>
          <p:nvPr>
            <p:ph idx="10"/>
          </p:nvPr>
        </p:nvSpPr>
        <p:spPr>
          <a:xfrm>
            <a:off x="1066800" y="3093395"/>
            <a:ext cx="10058400" cy="2893395"/>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F7B16F04-E16C-0529-6FA6-659D797A310E}"/>
              </a:ext>
            </a:extLst>
          </p:cNvPr>
          <p:cNvGrpSpPr/>
          <p:nvPr userDrawn="1"/>
        </p:nvGrpSpPr>
        <p:grpSpPr>
          <a:xfrm>
            <a:off x="3916354" y="6195421"/>
            <a:ext cx="4359291" cy="420903"/>
            <a:chOff x="5605567" y="6117600"/>
            <a:chExt cx="4359291" cy="420903"/>
          </a:xfrm>
        </p:grpSpPr>
        <p:pic>
          <p:nvPicPr>
            <p:cNvPr id="8" name="Graphic 7" descr="Quill outline">
              <a:extLst>
                <a:ext uri="{FF2B5EF4-FFF2-40B4-BE49-F238E27FC236}">
                  <a16:creationId xmlns:a16="http://schemas.microsoft.com/office/drawing/2014/main" id="{6AC2A8F7-A4B1-9C91-E476-ED5218EE330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968601" y="6117602"/>
              <a:ext cx="420899" cy="420899"/>
            </a:xfrm>
            <a:prstGeom prst="rect">
              <a:avLst/>
            </a:prstGeom>
          </p:spPr>
        </p:pic>
        <p:pic>
          <p:nvPicPr>
            <p:cNvPr id="13" name="Graphic 12" descr="Lightbulb outline">
              <a:extLst>
                <a:ext uri="{FF2B5EF4-FFF2-40B4-BE49-F238E27FC236}">
                  <a16:creationId xmlns:a16="http://schemas.microsoft.com/office/drawing/2014/main" id="{13529D6E-17FB-E713-63D5-CD9F88EC2D1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7180923" y="6117602"/>
              <a:ext cx="420899" cy="420899"/>
            </a:xfrm>
            <a:prstGeom prst="rect">
              <a:avLst/>
            </a:prstGeom>
          </p:spPr>
        </p:pic>
        <p:pic>
          <p:nvPicPr>
            <p:cNvPr id="14" name="Graphic 13" descr="Thought bubble outline">
              <a:extLst>
                <a:ext uri="{FF2B5EF4-FFF2-40B4-BE49-F238E27FC236}">
                  <a16:creationId xmlns:a16="http://schemas.microsoft.com/office/drawing/2014/main" id="{F2242737-BDFB-2B74-3B19-269B8A336733}"/>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6393245" y="6117601"/>
              <a:ext cx="420899" cy="420899"/>
            </a:xfrm>
            <a:prstGeom prst="rect">
              <a:avLst/>
            </a:prstGeom>
          </p:spPr>
        </p:pic>
        <p:pic>
          <p:nvPicPr>
            <p:cNvPr id="15" name="Graphic 14" descr="Blueprint outline">
              <a:extLst>
                <a:ext uri="{FF2B5EF4-FFF2-40B4-BE49-F238E27FC236}">
                  <a16:creationId xmlns:a16="http://schemas.microsoft.com/office/drawing/2014/main" id="{BDF65664-5FB2-EC95-896B-C7A010A7FB3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8756279" y="6117603"/>
              <a:ext cx="420899" cy="420899"/>
            </a:xfrm>
            <a:prstGeom prst="rect">
              <a:avLst/>
            </a:prstGeom>
          </p:spPr>
        </p:pic>
        <p:pic>
          <p:nvPicPr>
            <p:cNvPr id="16" name="Graphic 15" descr="Arrow: Slight curve outline">
              <a:extLst>
                <a:ext uri="{FF2B5EF4-FFF2-40B4-BE49-F238E27FC236}">
                  <a16:creationId xmlns:a16="http://schemas.microsoft.com/office/drawing/2014/main" id="{CF6ABAD6-1376-71CC-DB87-798DB4956BC0}"/>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9543959" y="6117604"/>
              <a:ext cx="420899" cy="420899"/>
            </a:xfrm>
            <a:prstGeom prst="rect">
              <a:avLst/>
            </a:prstGeom>
          </p:spPr>
        </p:pic>
        <p:pic>
          <p:nvPicPr>
            <p:cNvPr id="17" name="Graphic 16" descr="Information outline">
              <a:extLst>
                <a:ext uri="{FF2B5EF4-FFF2-40B4-BE49-F238E27FC236}">
                  <a16:creationId xmlns:a16="http://schemas.microsoft.com/office/drawing/2014/main" id="{107334DD-4364-FE08-742A-3779091803C3}"/>
                </a:ext>
              </a:extLst>
            </p:cNvPr>
            <p:cNvPicPr>
              <a:picLocks noChangeAspect="1"/>
            </p:cNvPicPr>
            <p:nvPr userDrawn="1"/>
          </p:nvPicPr>
          <p:blipFill>
            <a:blip>
              <a:extLst>
                <a:ext uri="{96DAC541-7B7A-43D3-8B79-37D633B846F1}">
                  <asvg:svgBlip xmlns:asvg="http://schemas.microsoft.com/office/drawing/2016/SVG/main" r:embed="rId7"/>
                </a:ext>
              </a:extLst>
            </a:blip>
            <a:srcRect/>
            <a:stretch/>
          </p:blipFill>
          <p:spPr>
            <a:xfrm>
              <a:off x="5605567" y="6117600"/>
              <a:ext cx="420899" cy="420899"/>
            </a:xfrm>
            <a:prstGeom prst="rect">
              <a:avLst/>
            </a:prstGeom>
          </p:spPr>
        </p:pic>
      </p:grpSp>
    </p:spTree>
    <p:extLst>
      <p:ext uri="{BB962C8B-B14F-4D97-AF65-F5344CB8AC3E}">
        <p14:creationId xmlns:p14="http://schemas.microsoft.com/office/powerpoint/2010/main" val="253056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OLOGUE | Body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771733" y="191101"/>
            <a:ext cx="11225722" cy="1371600"/>
          </a:xfrm>
          <a:prstGeom prst="rect">
            <a:avLst/>
          </a:prstGeom>
        </p:spPr>
        <p:txBody>
          <a:bodyPr lIns="0" tIns="0" rIns="0" bIns="0" anchor="t"/>
          <a:lstStyle>
            <a:lvl1pPr algn="ctr">
              <a:defRPr sz="4300"/>
            </a:lvl1pPr>
          </a:lstStyle>
          <a:p>
            <a:r>
              <a:rPr lang="en-US"/>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771733" y="1673412"/>
            <a:ext cx="11225714" cy="45079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5" name="Footer Placeholder 12">
            <a:extLst>
              <a:ext uri="{FF2B5EF4-FFF2-40B4-BE49-F238E27FC236}">
                <a16:creationId xmlns:a16="http://schemas.microsoft.com/office/drawing/2014/main" id="{0B06EC60-AFBA-7B7A-C968-CD79C56A664C}"/>
              </a:ext>
            </a:extLst>
          </p:cNvPr>
          <p:cNvSpPr>
            <a:spLocks noGrp="1"/>
          </p:cNvSpPr>
          <p:nvPr>
            <p:ph type="ftr" sz="quarter" idx="12"/>
          </p:nvPr>
        </p:nvSpPr>
        <p:spPr>
          <a:xfrm rot="16200000">
            <a:off x="-979231" y="1471261"/>
            <a:ext cx="2631698" cy="182880"/>
          </a:xfrm>
        </p:spPr>
        <p:txBody>
          <a:bodyPr/>
          <a:lstStyle>
            <a:lvl1pPr>
              <a:defRPr>
                <a:solidFill>
                  <a:srgbClr val="002060"/>
                </a:solidFill>
              </a:defRPr>
            </a:lvl1pPr>
          </a:lstStyle>
          <a:p>
            <a:r>
              <a:rPr lang="en-US"/>
              <a:t>CREATE YOUR OWN RPG</a:t>
            </a:r>
          </a:p>
        </p:txBody>
      </p:sp>
      <p:sp>
        <p:nvSpPr>
          <p:cNvPr id="56" name="Slide Number Placeholder 4">
            <a:extLst>
              <a:ext uri="{FF2B5EF4-FFF2-40B4-BE49-F238E27FC236}">
                <a16:creationId xmlns:a16="http://schemas.microsoft.com/office/drawing/2014/main" id="{05703EB9-EC27-D043-D822-B735A9F403DD}"/>
              </a:ext>
            </a:extLst>
          </p:cNvPr>
          <p:cNvSpPr>
            <a:spLocks noGrp="1"/>
          </p:cNvSpPr>
          <p:nvPr>
            <p:ph type="sldNum" sz="quarter" idx="11"/>
          </p:nvPr>
        </p:nvSpPr>
        <p:spPr>
          <a:xfrm>
            <a:off x="154943" y="6296643"/>
            <a:ext cx="365760" cy="182880"/>
          </a:xfrm>
          <a:prstGeom prst="rect">
            <a:avLst/>
          </a:prstGeom>
        </p:spPr>
        <p:txBody>
          <a:bodyPr/>
          <a:lstStyle>
            <a:lvl1pPr>
              <a:defRPr>
                <a:solidFill>
                  <a:srgbClr val="002060"/>
                </a:solidFill>
              </a:defRPr>
            </a:lvl1pPr>
          </a:lstStyle>
          <a:p>
            <a:fld id="{294A09A9-5501-47C1-A89A-A340965A2BE2}" type="slidenum">
              <a:rPr lang="en-US" smtClean="0"/>
              <a:pPr/>
              <a:t>‹#›</a:t>
            </a:fld>
            <a:endParaRPr lang="en-US"/>
          </a:p>
        </p:txBody>
      </p:sp>
      <p:cxnSp>
        <p:nvCxnSpPr>
          <p:cNvPr id="57" name="Straight Connector 56">
            <a:extLst>
              <a:ext uri="{FF2B5EF4-FFF2-40B4-BE49-F238E27FC236}">
                <a16:creationId xmlns:a16="http://schemas.microsoft.com/office/drawing/2014/main" id="{A0112F78-3A48-108D-3B66-4C1E1B26C68F}"/>
              </a:ext>
            </a:extLst>
          </p:cNvPr>
          <p:cNvCxnSpPr>
            <a:cxnSpLocks/>
          </p:cNvCxnSpPr>
          <p:nvPr userDrawn="1"/>
        </p:nvCxnSpPr>
        <p:spPr>
          <a:xfrm flipV="1">
            <a:off x="336618" y="6635513"/>
            <a:ext cx="0" cy="222487"/>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37076C0-C0AE-72D6-F773-4FB525DDDB00}"/>
              </a:ext>
            </a:extLst>
          </p:cNvPr>
          <p:cNvCxnSpPr>
            <a:cxnSpLocks/>
          </p:cNvCxnSpPr>
          <p:nvPr userDrawn="1"/>
        </p:nvCxnSpPr>
        <p:spPr>
          <a:xfrm flipH="1" flipV="1">
            <a:off x="338040" y="0"/>
            <a:ext cx="1230" cy="232661"/>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48E6B26-1CF7-6292-A080-D7739C73BDA2}"/>
              </a:ext>
            </a:extLst>
          </p:cNvPr>
          <p:cNvCxnSpPr>
            <a:cxnSpLocks/>
          </p:cNvCxnSpPr>
          <p:nvPr userDrawn="1"/>
        </p:nvCxnSpPr>
        <p:spPr>
          <a:xfrm flipV="1">
            <a:off x="336618" y="2878550"/>
            <a:ext cx="0" cy="147346"/>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850BF29C-0254-93C9-C34E-588355B107A5}"/>
              </a:ext>
            </a:extLst>
          </p:cNvPr>
          <p:cNvCxnSpPr>
            <a:cxnSpLocks/>
          </p:cNvCxnSpPr>
          <p:nvPr userDrawn="1"/>
        </p:nvCxnSpPr>
        <p:spPr>
          <a:xfrm flipV="1">
            <a:off x="336618" y="6084047"/>
            <a:ext cx="0" cy="101600"/>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pic>
        <p:nvPicPr>
          <p:cNvPr id="61" name="Graphic 60" descr="Quill outline">
            <a:extLst>
              <a:ext uri="{FF2B5EF4-FFF2-40B4-BE49-F238E27FC236}">
                <a16:creationId xmlns:a16="http://schemas.microsoft.com/office/drawing/2014/main" id="{8359B105-E0E1-762E-6390-D6686E01FFD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40555" y="4568624"/>
            <a:ext cx="420899" cy="420899"/>
          </a:xfrm>
          <a:prstGeom prst="rect">
            <a:avLst/>
          </a:prstGeom>
        </p:spPr>
      </p:pic>
      <p:pic>
        <p:nvPicPr>
          <p:cNvPr id="62" name="Graphic 61" descr="Lightbulb outline">
            <a:extLst>
              <a:ext uri="{FF2B5EF4-FFF2-40B4-BE49-F238E27FC236}">
                <a16:creationId xmlns:a16="http://schemas.microsoft.com/office/drawing/2014/main" id="{A5DC45EB-F591-E49F-3502-A08572F40B0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40555" y="4076861"/>
            <a:ext cx="420899" cy="420899"/>
          </a:xfrm>
          <a:prstGeom prst="rect">
            <a:avLst/>
          </a:prstGeom>
        </p:spPr>
      </p:pic>
      <p:pic>
        <p:nvPicPr>
          <p:cNvPr id="63" name="Graphic 62" descr="Thought bubble outline">
            <a:extLst>
              <a:ext uri="{FF2B5EF4-FFF2-40B4-BE49-F238E27FC236}">
                <a16:creationId xmlns:a16="http://schemas.microsoft.com/office/drawing/2014/main" id="{E48BA18F-2DB2-539E-F2ED-7E3B8277120C}"/>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40555" y="3585098"/>
            <a:ext cx="420899" cy="420899"/>
          </a:xfrm>
          <a:prstGeom prst="rect">
            <a:avLst/>
          </a:prstGeom>
        </p:spPr>
      </p:pic>
      <p:pic>
        <p:nvPicPr>
          <p:cNvPr id="64" name="Graphic 63" descr="Blueprint outline">
            <a:extLst>
              <a:ext uri="{FF2B5EF4-FFF2-40B4-BE49-F238E27FC236}">
                <a16:creationId xmlns:a16="http://schemas.microsoft.com/office/drawing/2014/main" id="{7DD25325-84C2-16CD-1E71-2A264FF4FDE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40555" y="5060387"/>
            <a:ext cx="420899" cy="420899"/>
          </a:xfrm>
          <a:prstGeom prst="rect">
            <a:avLst/>
          </a:prstGeom>
        </p:spPr>
      </p:pic>
      <p:pic>
        <p:nvPicPr>
          <p:cNvPr id="65" name="Graphic 64" descr="Information with solid fill">
            <a:extLst>
              <a:ext uri="{FF2B5EF4-FFF2-40B4-BE49-F238E27FC236}">
                <a16:creationId xmlns:a16="http://schemas.microsoft.com/office/drawing/2014/main" id="{6D2B9F87-4393-106F-792A-77A050AD021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40555" y="3093335"/>
            <a:ext cx="420899" cy="420899"/>
          </a:xfrm>
          <a:prstGeom prst="rect">
            <a:avLst/>
          </a:prstGeom>
        </p:spPr>
      </p:pic>
      <p:pic>
        <p:nvPicPr>
          <p:cNvPr id="66" name="Graphic 65" descr="Arrow: Slight curve outline">
            <a:extLst>
              <a:ext uri="{FF2B5EF4-FFF2-40B4-BE49-F238E27FC236}">
                <a16:creationId xmlns:a16="http://schemas.microsoft.com/office/drawing/2014/main" id="{1B531FFD-40F2-372A-1FDC-54ADCECFB651}"/>
              </a:ext>
            </a:extLst>
          </p:cNvPr>
          <p:cNvPicPr>
            <a:picLocks noChangeAspect="1"/>
          </p:cNvPicPr>
          <p:nvPr userDrawn="1"/>
        </p:nvPicPr>
        <p:blipFill>
          <a:blip>
            <a:extLst>
              <a:ext uri="{96DAC541-7B7A-43D3-8B79-37D633B846F1}">
                <asvg:svgBlip xmlns:asvg="http://schemas.microsoft.com/office/drawing/2016/SVG/main" r:embed="rId7"/>
              </a:ext>
            </a:extLst>
          </a:blip>
          <a:srcRect/>
          <a:stretch/>
        </p:blipFill>
        <p:spPr>
          <a:xfrm>
            <a:off x="140555" y="5552152"/>
            <a:ext cx="420899" cy="420899"/>
          </a:xfrm>
          <a:prstGeom prst="rect">
            <a:avLst/>
          </a:prstGeom>
        </p:spPr>
      </p:pic>
    </p:spTree>
    <p:extLst>
      <p:ext uri="{BB962C8B-B14F-4D97-AF65-F5344CB8AC3E}">
        <p14:creationId xmlns:p14="http://schemas.microsoft.com/office/powerpoint/2010/main" val="3747451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MPATHIZE / DEFINE | Body slide">
    <p:spTree>
      <p:nvGrpSpPr>
        <p:cNvPr id="1" name=""/>
        <p:cNvGrpSpPr/>
        <p:nvPr/>
      </p:nvGrpSpPr>
      <p:grpSpPr>
        <a:xfrm>
          <a:off x="0" y="0"/>
          <a:ext cx="0" cy="0"/>
          <a:chOff x="0" y="0"/>
          <a:chExt cx="0" cy="0"/>
        </a:xfrm>
      </p:grpSpPr>
      <p:pic>
        <p:nvPicPr>
          <p:cNvPr id="63" name="Graphic 62" descr="Thought bubble with solid fill">
            <a:extLst>
              <a:ext uri="{FF2B5EF4-FFF2-40B4-BE49-F238E27FC236}">
                <a16:creationId xmlns:a16="http://schemas.microsoft.com/office/drawing/2014/main" id="{E48BA18F-2DB2-539E-F2ED-7E3B8277120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0555" y="3585098"/>
            <a:ext cx="420899" cy="420899"/>
          </a:xfrm>
          <a:prstGeom prst="rect">
            <a:avLst/>
          </a:prstGeom>
        </p:spPr>
      </p:pic>
      <p:sp>
        <p:nvSpPr>
          <p:cNvPr id="2" name="Title 1">
            <a:extLst>
              <a:ext uri="{FF2B5EF4-FFF2-40B4-BE49-F238E27FC236}">
                <a16:creationId xmlns:a16="http://schemas.microsoft.com/office/drawing/2014/main" id="{AB9B3F4A-D987-F633-88B1-47843D933D8A}"/>
              </a:ext>
            </a:extLst>
          </p:cNvPr>
          <p:cNvSpPr>
            <a:spLocks noGrp="1"/>
          </p:cNvSpPr>
          <p:nvPr>
            <p:ph type="title"/>
          </p:nvPr>
        </p:nvSpPr>
        <p:spPr>
          <a:xfrm>
            <a:off x="771733" y="191101"/>
            <a:ext cx="11225722" cy="1371600"/>
          </a:xfrm>
          <a:prstGeom prst="rect">
            <a:avLst/>
          </a:prstGeom>
        </p:spPr>
        <p:txBody>
          <a:bodyPr lIns="0" tIns="0" rIns="0" bIns="0" anchor="t"/>
          <a:lstStyle>
            <a:lvl1pPr algn="ctr">
              <a:defRPr sz="4300"/>
            </a:lvl1pPr>
          </a:lstStyle>
          <a:p>
            <a:r>
              <a:rPr lang="en-US"/>
              <a:t>Click to edit Master title style</a:t>
            </a:r>
          </a:p>
        </p:txBody>
      </p:sp>
      <p:sp>
        <p:nvSpPr>
          <p:cNvPr id="3" name="Content Placeholder 2">
            <a:extLst>
              <a:ext uri="{FF2B5EF4-FFF2-40B4-BE49-F238E27FC236}">
                <a16:creationId xmlns:a16="http://schemas.microsoft.com/office/drawing/2014/main" id="{F6679AF8-3699-AB2F-04A9-29AD49E9B5CD}"/>
              </a:ext>
            </a:extLst>
          </p:cNvPr>
          <p:cNvSpPr>
            <a:spLocks noGrp="1"/>
          </p:cNvSpPr>
          <p:nvPr>
            <p:ph idx="1"/>
          </p:nvPr>
        </p:nvSpPr>
        <p:spPr>
          <a:xfrm>
            <a:off x="771733" y="1673412"/>
            <a:ext cx="11225714" cy="45079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Footer Placeholder 12">
            <a:extLst>
              <a:ext uri="{FF2B5EF4-FFF2-40B4-BE49-F238E27FC236}">
                <a16:creationId xmlns:a16="http://schemas.microsoft.com/office/drawing/2014/main" id="{3560F2FD-3FB3-D320-9C66-A2BDFE84BC28}"/>
              </a:ext>
            </a:extLst>
          </p:cNvPr>
          <p:cNvSpPr>
            <a:spLocks noGrp="1"/>
          </p:cNvSpPr>
          <p:nvPr>
            <p:ph type="ftr" sz="quarter" idx="12"/>
          </p:nvPr>
        </p:nvSpPr>
        <p:spPr>
          <a:xfrm rot="16200000">
            <a:off x="-979231" y="1471261"/>
            <a:ext cx="2631698" cy="182880"/>
          </a:xfrm>
        </p:spPr>
        <p:txBody>
          <a:bodyPr/>
          <a:lstStyle>
            <a:lvl1pPr>
              <a:defRPr>
                <a:solidFill>
                  <a:srgbClr val="002060"/>
                </a:solidFill>
              </a:defRPr>
            </a:lvl1pPr>
          </a:lstStyle>
          <a:p>
            <a:r>
              <a:rPr lang="en-US"/>
              <a:t>CREATE YOUR OWN RPG</a:t>
            </a:r>
          </a:p>
        </p:txBody>
      </p:sp>
      <p:sp>
        <p:nvSpPr>
          <p:cNvPr id="27" name="Slide Number Placeholder 4">
            <a:extLst>
              <a:ext uri="{FF2B5EF4-FFF2-40B4-BE49-F238E27FC236}">
                <a16:creationId xmlns:a16="http://schemas.microsoft.com/office/drawing/2014/main" id="{D66B4225-8384-9DC0-EBC8-1DDCC7CC77CC}"/>
              </a:ext>
            </a:extLst>
          </p:cNvPr>
          <p:cNvSpPr>
            <a:spLocks noGrp="1"/>
          </p:cNvSpPr>
          <p:nvPr>
            <p:ph type="sldNum" sz="quarter" idx="11"/>
          </p:nvPr>
        </p:nvSpPr>
        <p:spPr>
          <a:xfrm>
            <a:off x="154943" y="6296643"/>
            <a:ext cx="365760" cy="182880"/>
          </a:xfrm>
          <a:prstGeom prst="rect">
            <a:avLst/>
          </a:prstGeom>
        </p:spPr>
        <p:txBody>
          <a:bodyPr/>
          <a:lstStyle>
            <a:lvl1pPr>
              <a:defRPr>
                <a:solidFill>
                  <a:srgbClr val="002060"/>
                </a:solidFill>
              </a:defRPr>
            </a:lvl1pPr>
          </a:lstStyle>
          <a:p>
            <a:fld id="{294A09A9-5501-47C1-A89A-A340965A2BE2}" type="slidenum">
              <a:rPr lang="en-US" smtClean="0"/>
              <a:pPr/>
              <a:t>‹#›</a:t>
            </a:fld>
            <a:endParaRPr lang="en-US"/>
          </a:p>
        </p:txBody>
      </p:sp>
      <p:cxnSp>
        <p:nvCxnSpPr>
          <p:cNvPr id="28" name="Straight Connector 27">
            <a:extLst>
              <a:ext uri="{FF2B5EF4-FFF2-40B4-BE49-F238E27FC236}">
                <a16:creationId xmlns:a16="http://schemas.microsoft.com/office/drawing/2014/main" id="{668332F4-803A-3929-BBD5-AF452D96C0DF}"/>
              </a:ext>
            </a:extLst>
          </p:cNvPr>
          <p:cNvCxnSpPr>
            <a:cxnSpLocks/>
          </p:cNvCxnSpPr>
          <p:nvPr userDrawn="1"/>
        </p:nvCxnSpPr>
        <p:spPr>
          <a:xfrm flipV="1">
            <a:off x="336618" y="6635513"/>
            <a:ext cx="0" cy="222487"/>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5C55186-29D4-A72C-50CC-1DF53A34F6B2}"/>
              </a:ext>
            </a:extLst>
          </p:cNvPr>
          <p:cNvCxnSpPr>
            <a:cxnSpLocks/>
          </p:cNvCxnSpPr>
          <p:nvPr userDrawn="1"/>
        </p:nvCxnSpPr>
        <p:spPr>
          <a:xfrm flipH="1" flipV="1">
            <a:off x="338040" y="0"/>
            <a:ext cx="1230" cy="232661"/>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A219644-0B7B-8768-FDD7-41EFFB0C6201}"/>
              </a:ext>
            </a:extLst>
          </p:cNvPr>
          <p:cNvCxnSpPr>
            <a:cxnSpLocks/>
          </p:cNvCxnSpPr>
          <p:nvPr userDrawn="1"/>
        </p:nvCxnSpPr>
        <p:spPr>
          <a:xfrm flipV="1">
            <a:off x="336618" y="2878550"/>
            <a:ext cx="0" cy="147346"/>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2F25AF3-9032-82FF-7343-A5A3BF383921}"/>
              </a:ext>
            </a:extLst>
          </p:cNvPr>
          <p:cNvCxnSpPr>
            <a:cxnSpLocks/>
          </p:cNvCxnSpPr>
          <p:nvPr userDrawn="1"/>
        </p:nvCxnSpPr>
        <p:spPr>
          <a:xfrm flipV="1">
            <a:off x="336618" y="6084047"/>
            <a:ext cx="0" cy="101600"/>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pic>
        <p:nvPicPr>
          <p:cNvPr id="32" name="Graphic 31" descr="Quill outline">
            <a:extLst>
              <a:ext uri="{FF2B5EF4-FFF2-40B4-BE49-F238E27FC236}">
                <a16:creationId xmlns:a16="http://schemas.microsoft.com/office/drawing/2014/main" id="{E46A92B5-10CC-4640-7D21-5C243459381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40555" y="4568624"/>
            <a:ext cx="420899" cy="420899"/>
          </a:xfrm>
          <a:prstGeom prst="rect">
            <a:avLst/>
          </a:prstGeom>
        </p:spPr>
      </p:pic>
      <p:pic>
        <p:nvPicPr>
          <p:cNvPr id="33" name="Graphic 32" descr="Lightbulb outline">
            <a:extLst>
              <a:ext uri="{FF2B5EF4-FFF2-40B4-BE49-F238E27FC236}">
                <a16:creationId xmlns:a16="http://schemas.microsoft.com/office/drawing/2014/main" id="{BEEB75D1-4A98-6271-12EF-B3061CBF7576}"/>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40555" y="4076861"/>
            <a:ext cx="420899" cy="420899"/>
          </a:xfrm>
          <a:prstGeom prst="rect">
            <a:avLst/>
          </a:prstGeom>
        </p:spPr>
      </p:pic>
      <p:pic>
        <p:nvPicPr>
          <p:cNvPr id="35" name="Graphic 34" descr="Blueprint outline">
            <a:extLst>
              <a:ext uri="{FF2B5EF4-FFF2-40B4-BE49-F238E27FC236}">
                <a16:creationId xmlns:a16="http://schemas.microsoft.com/office/drawing/2014/main" id="{C297959B-A8AD-BD10-24D9-902B103FBB7A}"/>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40555" y="5060387"/>
            <a:ext cx="420899" cy="420899"/>
          </a:xfrm>
          <a:prstGeom prst="rect">
            <a:avLst/>
          </a:prstGeom>
        </p:spPr>
      </p:pic>
      <p:pic>
        <p:nvPicPr>
          <p:cNvPr id="37" name="Graphic 36" descr="Arrow: Slight curve outline">
            <a:extLst>
              <a:ext uri="{FF2B5EF4-FFF2-40B4-BE49-F238E27FC236}">
                <a16:creationId xmlns:a16="http://schemas.microsoft.com/office/drawing/2014/main" id="{ABAB47B2-CD9F-F747-FF22-2098E505DD91}"/>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40555" y="5552152"/>
            <a:ext cx="420899" cy="420899"/>
          </a:xfrm>
          <a:prstGeom prst="rect">
            <a:avLst/>
          </a:prstGeom>
        </p:spPr>
      </p:pic>
      <p:pic>
        <p:nvPicPr>
          <p:cNvPr id="38" name="Graphic 37" descr="Information outline">
            <a:extLst>
              <a:ext uri="{FF2B5EF4-FFF2-40B4-BE49-F238E27FC236}">
                <a16:creationId xmlns:a16="http://schemas.microsoft.com/office/drawing/2014/main" id="{41C8C804-751D-7B5A-3AEE-917199E90A1D}"/>
              </a:ext>
            </a:extLst>
          </p:cNvPr>
          <p:cNvPicPr>
            <a:picLocks noChangeAspect="1"/>
          </p:cNvPicPr>
          <p:nvPr userDrawn="1"/>
        </p:nvPicPr>
        <p:blipFill>
          <a:blip>
            <a:extLst>
              <a:ext uri="{96DAC541-7B7A-43D3-8B79-37D633B846F1}">
                <asvg:svgBlip xmlns:asvg="http://schemas.microsoft.com/office/drawing/2016/SVG/main" r:embed="rId7"/>
              </a:ext>
            </a:extLst>
          </a:blip>
          <a:srcRect/>
          <a:stretch/>
        </p:blipFill>
        <p:spPr>
          <a:xfrm>
            <a:off x="140555" y="3090905"/>
            <a:ext cx="420899" cy="420899"/>
          </a:xfrm>
          <a:prstGeom prst="rect">
            <a:avLst/>
          </a:prstGeom>
        </p:spPr>
      </p:pic>
    </p:spTree>
    <p:extLst>
      <p:ext uri="{BB962C8B-B14F-4D97-AF65-F5344CB8AC3E}">
        <p14:creationId xmlns:p14="http://schemas.microsoft.com/office/powerpoint/2010/main" val="4242861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DEATE | Body slide">
    <p:spTree>
      <p:nvGrpSpPr>
        <p:cNvPr id="1" name=""/>
        <p:cNvGrpSpPr/>
        <p:nvPr/>
      </p:nvGrpSpPr>
      <p:grpSpPr>
        <a:xfrm>
          <a:off x="0" y="0"/>
          <a:ext cx="0" cy="0"/>
          <a:chOff x="0" y="0"/>
          <a:chExt cx="0" cy="0"/>
        </a:xfrm>
      </p:grpSpPr>
      <p:pic>
        <p:nvPicPr>
          <p:cNvPr id="62" name="Graphic 61" descr="Lightbulb with solid fill">
            <a:extLst>
              <a:ext uri="{FF2B5EF4-FFF2-40B4-BE49-F238E27FC236}">
                <a16:creationId xmlns:a16="http://schemas.microsoft.com/office/drawing/2014/main" id="{A5DC45EB-F591-E49F-3502-A08572F40B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0555" y="4074431"/>
            <a:ext cx="420899" cy="420899"/>
          </a:xfrm>
          <a:prstGeom prst="rect">
            <a:avLst/>
          </a:prstGeom>
        </p:spPr>
      </p:pic>
      <p:sp>
        <p:nvSpPr>
          <p:cNvPr id="2" name="Title 1">
            <a:extLst>
              <a:ext uri="{FF2B5EF4-FFF2-40B4-BE49-F238E27FC236}">
                <a16:creationId xmlns:a16="http://schemas.microsoft.com/office/drawing/2014/main" id="{7CFA925A-11FC-8A38-D9EA-5D0C047BEF5E}"/>
              </a:ext>
            </a:extLst>
          </p:cNvPr>
          <p:cNvSpPr>
            <a:spLocks noGrp="1"/>
          </p:cNvSpPr>
          <p:nvPr>
            <p:ph type="title"/>
          </p:nvPr>
        </p:nvSpPr>
        <p:spPr>
          <a:xfrm>
            <a:off x="771733" y="191101"/>
            <a:ext cx="11225722" cy="1371600"/>
          </a:xfrm>
          <a:prstGeom prst="rect">
            <a:avLst/>
          </a:prstGeom>
        </p:spPr>
        <p:txBody>
          <a:bodyPr lIns="0" tIns="0" rIns="0" bIns="0" anchor="t"/>
          <a:lstStyle>
            <a:lvl1pPr algn="ctr">
              <a:defRPr sz="4300"/>
            </a:lvl1pPr>
          </a:lstStyle>
          <a:p>
            <a:r>
              <a:rPr lang="en-US"/>
              <a:t>Click to edit Master title style</a:t>
            </a:r>
          </a:p>
        </p:txBody>
      </p:sp>
      <p:sp>
        <p:nvSpPr>
          <p:cNvPr id="3" name="Content Placeholder 2">
            <a:extLst>
              <a:ext uri="{FF2B5EF4-FFF2-40B4-BE49-F238E27FC236}">
                <a16:creationId xmlns:a16="http://schemas.microsoft.com/office/drawing/2014/main" id="{02E153B1-D917-AEB1-4536-79058D703035}"/>
              </a:ext>
            </a:extLst>
          </p:cNvPr>
          <p:cNvSpPr>
            <a:spLocks noGrp="1"/>
          </p:cNvSpPr>
          <p:nvPr>
            <p:ph idx="1"/>
          </p:nvPr>
        </p:nvSpPr>
        <p:spPr>
          <a:xfrm>
            <a:off x="771733" y="1673412"/>
            <a:ext cx="11225714" cy="45079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Footer Placeholder 12">
            <a:extLst>
              <a:ext uri="{FF2B5EF4-FFF2-40B4-BE49-F238E27FC236}">
                <a16:creationId xmlns:a16="http://schemas.microsoft.com/office/drawing/2014/main" id="{AADBA38F-44B3-8C75-B115-F3A9DA7B9D95}"/>
              </a:ext>
            </a:extLst>
          </p:cNvPr>
          <p:cNvSpPr>
            <a:spLocks noGrp="1"/>
          </p:cNvSpPr>
          <p:nvPr>
            <p:ph type="ftr" sz="quarter" idx="12"/>
          </p:nvPr>
        </p:nvSpPr>
        <p:spPr>
          <a:xfrm rot="16200000">
            <a:off x="-979231" y="1471261"/>
            <a:ext cx="2631698" cy="182880"/>
          </a:xfrm>
        </p:spPr>
        <p:txBody>
          <a:bodyPr/>
          <a:lstStyle>
            <a:lvl1pPr>
              <a:defRPr>
                <a:solidFill>
                  <a:srgbClr val="002060"/>
                </a:solidFill>
              </a:defRPr>
            </a:lvl1pPr>
          </a:lstStyle>
          <a:p>
            <a:r>
              <a:rPr lang="en-US"/>
              <a:t>CREATE YOUR OWN RPG</a:t>
            </a:r>
          </a:p>
        </p:txBody>
      </p:sp>
      <p:sp>
        <p:nvSpPr>
          <p:cNvPr id="30" name="Slide Number Placeholder 4">
            <a:extLst>
              <a:ext uri="{FF2B5EF4-FFF2-40B4-BE49-F238E27FC236}">
                <a16:creationId xmlns:a16="http://schemas.microsoft.com/office/drawing/2014/main" id="{F4011E1C-3D93-C106-F845-A8A133D7A38D}"/>
              </a:ext>
            </a:extLst>
          </p:cNvPr>
          <p:cNvSpPr>
            <a:spLocks noGrp="1"/>
          </p:cNvSpPr>
          <p:nvPr>
            <p:ph type="sldNum" sz="quarter" idx="11"/>
          </p:nvPr>
        </p:nvSpPr>
        <p:spPr>
          <a:xfrm>
            <a:off x="154943" y="6296643"/>
            <a:ext cx="365760" cy="182880"/>
          </a:xfrm>
          <a:prstGeom prst="rect">
            <a:avLst/>
          </a:prstGeom>
        </p:spPr>
        <p:txBody>
          <a:bodyPr/>
          <a:lstStyle>
            <a:lvl1pPr>
              <a:defRPr>
                <a:solidFill>
                  <a:srgbClr val="002060"/>
                </a:solidFill>
              </a:defRPr>
            </a:lvl1pPr>
          </a:lstStyle>
          <a:p>
            <a:fld id="{294A09A9-5501-47C1-A89A-A340965A2BE2}" type="slidenum">
              <a:rPr lang="en-US" smtClean="0"/>
              <a:pPr/>
              <a:t>‹#›</a:t>
            </a:fld>
            <a:endParaRPr lang="en-US"/>
          </a:p>
        </p:txBody>
      </p:sp>
      <p:cxnSp>
        <p:nvCxnSpPr>
          <p:cNvPr id="31" name="Straight Connector 30">
            <a:extLst>
              <a:ext uri="{FF2B5EF4-FFF2-40B4-BE49-F238E27FC236}">
                <a16:creationId xmlns:a16="http://schemas.microsoft.com/office/drawing/2014/main" id="{04BAD4B2-41CF-3B3D-8ABC-7A0C2DD49277}"/>
              </a:ext>
            </a:extLst>
          </p:cNvPr>
          <p:cNvCxnSpPr>
            <a:cxnSpLocks/>
          </p:cNvCxnSpPr>
          <p:nvPr userDrawn="1"/>
        </p:nvCxnSpPr>
        <p:spPr>
          <a:xfrm flipH="1" flipV="1">
            <a:off x="338040" y="0"/>
            <a:ext cx="1230" cy="232661"/>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D63591D-C56D-0C76-994F-C4EA6A8017A6}"/>
              </a:ext>
            </a:extLst>
          </p:cNvPr>
          <p:cNvCxnSpPr>
            <a:cxnSpLocks/>
          </p:cNvCxnSpPr>
          <p:nvPr userDrawn="1"/>
        </p:nvCxnSpPr>
        <p:spPr>
          <a:xfrm flipV="1">
            <a:off x="336618" y="2878550"/>
            <a:ext cx="0" cy="147346"/>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5BDF9EE-C625-8D2E-BA01-C1D84DBB7B8A}"/>
              </a:ext>
            </a:extLst>
          </p:cNvPr>
          <p:cNvCxnSpPr>
            <a:cxnSpLocks/>
          </p:cNvCxnSpPr>
          <p:nvPr userDrawn="1"/>
        </p:nvCxnSpPr>
        <p:spPr>
          <a:xfrm flipV="1">
            <a:off x="336618" y="6084047"/>
            <a:ext cx="0" cy="101600"/>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pic>
        <p:nvPicPr>
          <p:cNvPr id="34" name="Graphic 33" descr="Quill outline">
            <a:extLst>
              <a:ext uri="{FF2B5EF4-FFF2-40B4-BE49-F238E27FC236}">
                <a16:creationId xmlns:a16="http://schemas.microsoft.com/office/drawing/2014/main" id="{53335690-753A-DBC6-7E4E-F35B595BA1E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40555" y="4568624"/>
            <a:ext cx="420899" cy="420899"/>
          </a:xfrm>
          <a:prstGeom prst="rect">
            <a:avLst/>
          </a:prstGeom>
        </p:spPr>
      </p:pic>
      <p:pic>
        <p:nvPicPr>
          <p:cNvPr id="36" name="Graphic 35" descr="Blueprint outline">
            <a:extLst>
              <a:ext uri="{FF2B5EF4-FFF2-40B4-BE49-F238E27FC236}">
                <a16:creationId xmlns:a16="http://schemas.microsoft.com/office/drawing/2014/main" id="{E0F961C3-A32C-39FA-136E-2B161A191C0F}"/>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40555" y="5060387"/>
            <a:ext cx="420899" cy="420899"/>
          </a:xfrm>
          <a:prstGeom prst="rect">
            <a:avLst/>
          </a:prstGeom>
        </p:spPr>
      </p:pic>
      <p:pic>
        <p:nvPicPr>
          <p:cNvPr id="37" name="Graphic 36" descr="Arrow: Slight curve outline">
            <a:extLst>
              <a:ext uri="{FF2B5EF4-FFF2-40B4-BE49-F238E27FC236}">
                <a16:creationId xmlns:a16="http://schemas.microsoft.com/office/drawing/2014/main" id="{B91AA6D4-4A3D-47AB-05B7-A284FA0554DB}"/>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40555" y="5552152"/>
            <a:ext cx="420899" cy="420899"/>
          </a:xfrm>
          <a:prstGeom prst="rect">
            <a:avLst/>
          </a:prstGeom>
        </p:spPr>
      </p:pic>
      <p:pic>
        <p:nvPicPr>
          <p:cNvPr id="38" name="Graphic 37" descr="Information outline">
            <a:extLst>
              <a:ext uri="{FF2B5EF4-FFF2-40B4-BE49-F238E27FC236}">
                <a16:creationId xmlns:a16="http://schemas.microsoft.com/office/drawing/2014/main" id="{2A1C69EE-46C4-E245-4937-DF64CF0984CC}"/>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40555" y="3090905"/>
            <a:ext cx="420899" cy="420899"/>
          </a:xfrm>
          <a:prstGeom prst="rect">
            <a:avLst/>
          </a:prstGeom>
        </p:spPr>
      </p:pic>
      <p:pic>
        <p:nvPicPr>
          <p:cNvPr id="39" name="Graphic 38" descr="Thought bubble outline">
            <a:extLst>
              <a:ext uri="{FF2B5EF4-FFF2-40B4-BE49-F238E27FC236}">
                <a16:creationId xmlns:a16="http://schemas.microsoft.com/office/drawing/2014/main" id="{EF3EA039-3D3B-2B21-7685-A48D9A5A268E}"/>
              </a:ext>
            </a:extLst>
          </p:cNvPr>
          <p:cNvPicPr>
            <a:picLocks noChangeAspect="1"/>
          </p:cNvPicPr>
          <p:nvPr userDrawn="1"/>
        </p:nvPicPr>
        <p:blipFill>
          <a:blip>
            <a:extLst>
              <a:ext uri="{96DAC541-7B7A-43D3-8B79-37D633B846F1}">
                <asvg:svgBlip xmlns:asvg="http://schemas.microsoft.com/office/drawing/2016/SVG/main" r:embed="rId7"/>
              </a:ext>
            </a:extLst>
          </a:blip>
          <a:srcRect/>
          <a:stretch/>
        </p:blipFill>
        <p:spPr>
          <a:xfrm>
            <a:off x="140555" y="3585098"/>
            <a:ext cx="420899" cy="420899"/>
          </a:xfrm>
          <a:prstGeom prst="rect">
            <a:avLst/>
          </a:prstGeom>
        </p:spPr>
      </p:pic>
      <p:cxnSp>
        <p:nvCxnSpPr>
          <p:cNvPr id="40" name="Straight Connector 39">
            <a:extLst>
              <a:ext uri="{FF2B5EF4-FFF2-40B4-BE49-F238E27FC236}">
                <a16:creationId xmlns:a16="http://schemas.microsoft.com/office/drawing/2014/main" id="{38F80088-AD81-E7D2-9E15-EF7DD499F9AD}"/>
              </a:ext>
            </a:extLst>
          </p:cNvPr>
          <p:cNvCxnSpPr>
            <a:cxnSpLocks/>
          </p:cNvCxnSpPr>
          <p:nvPr userDrawn="1"/>
        </p:nvCxnSpPr>
        <p:spPr>
          <a:xfrm flipV="1">
            <a:off x="336618" y="6635513"/>
            <a:ext cx="0" cy="222487"/>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400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TOTYPE | Body slide">
    <p:spTree>
      <p:nvGrpSpPr>
        <p:cNvPr id="1" name=""/>
        <p:cNvGrpSpPr/>
        <p:nvPr/>
      </p:nvGrpSpPr>
      <p:grpSpPr>
        <a:xfrm>
          <a:off x="0" y="0"/>
          <a:ext cx="0" cy="0"/>
          <a:chOff x="0" y="0"/>
          <a:chExt cx="0" cy="0"/>
        </a:xfrm>
      </p:grpSpPr>
      <p:pic>
        <p:nvPicPr>
          <p:cNvPr id="61" name="Graphic 60" descr="Quill with solid fill">
            <a:extLst>
              <a:ext uri="{FF2B5EF4-FFF2-40B4-BE49-F238E27FC236}">
                <a16:creationId xmlns:a16="http://schemas.microsoft.com/office/drawing/2014/main" id="{8359B105-E0E1-762E-6390-D6686E01FFD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0555" y="4568624"/>
            <a:ext cx="420899" cy="420899"/>
          </a:xfrm>
          <a:prstGeom prst="rect">
            <a:avLst/>
          </a:prstGeom>
        </p:spPr>
      </p:pic>
      <p:sp>
        <p:nvSpPr>
          <p:cNvPr id="2" name="Title 1">
            <a:extLst>
              <a:ext uri="{FF2B5EF4-FFF2-40B4-BE49-F238E27FC236}">
                <a16:creationId xmlns:a16="http://schemas.microsoft.com/office/drawing/2014/main" id="{050FA42A-F79B-B39F-F93C-774D1B694E1A}"/>
              </a:ext>
            </a:extLst>
          </p:cNvPr>
          <p:cNvSpPr>
            <a:spLocks noGrp="1"/>
          </p:cNvSpPr>
          <p:nvPr>
            <p:ph type="title"/>
          </p:nvPr>
        </p:nvSpPr>
        <p:spPr>
          <a:xfrm>
            <a:off x="771733" y="191101"/>
            <a:ext cx="11225722" cy="1371600"/>
          </a:xfrm>
          <a:prstGeom prst="rect">
            <a:avLst/>
          </a:prstGeom>
        </p:spPr>
        <p:txBody>
          <a:bodyPr lIns="0" tIns="0" rIns="0" bIns="0" anchor="t"/>
          <a:lstStyle>
            <a:lvl1pPr algn="ctr">
              <a:defRPr sz="4300"/>
            </a:lvl1pPr>
          </a:lstStyle>
          <a:p>
            <a:r>
              <a:rPr lang="en-US"/>
              <a:t>Click to edit Master title style</a:t>
            </a:r>
          </a:p>
        </p:txBody>
      </p:sp>
      <p:sp>
        <p:nvSpPr>
          <p:cNvPr id="3" name="Content Placeholder 2">
            <a:extLst>
              <a:ext uri="{FF2B5EF4-FFF2-40B4-BE49-F238E27FC236}">
                <a16:creationId xmlns:a16="http://schemas.microsoft.com/office/drawing/2014/main" id="{E43232E7-73F0-093A-9E22-A16FE5C55846}"/>
              </a:ext>
            </a:extLst>
          </p:cNvPr>
          <p:cNvSpPr>
            <a:spLocks noGrp="1"/>
          </p:cNvSpPr>
          <p:nvPr>
            <p:ph idx="1"/>
          </p:nvPr>
        </p:nvSpPr>
        <p:spPr>
          <a:xfrm>
            <a:off x="771733" y="1673412"/>
            <a:ext cx="11225714" cy="45079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Footer Placeholder 12">
            <a:extLst>
              <a:ext uri="{FF2B5EF4-FFF2-40B4-BE49-F238E27FC236}">
                <a16:creationId xmlns:a16="http://schemas.microsoft.com/office/drawing/2014/main" id="{F9B0FD40-03DC-9E33-370D-5AA2A44A9FAF}"/>
              </a:ext>
            </a:extLst>
          </p:cNvPr>
          <p:cNvSpPr>
            <a:spLocks noGrp="1"/>
          </p:cNvSpPr>
          <p:nvPr>
            <p:ph type="ftr" sz="quarter" idx="12"/>
          </p:nvPr>
        </p:nvSpPr>
        <p:spPr>
          <a:xfrm rot="16200000">
            <a:off x="-979231" y="1471261"/>
            <a:ext cx="2631698" cy="182880"/>
          </a:xfrm>
        </p:spPr>
        <p:txBody>
          <a:bodyPr/>
          <a:lstStyle>
            <a:lvl1pPr>
              <a:defRPr>
                <a:solidFill>
                  <a:srgbClr val="002060"/>
                </a:solidFill>
              </a:defRPr>
            </a:lvl1pPr>
          </a:lstStyle>
          <a:p>
            <a:r>
              <a:rPr lang="en-US"/>
              <a:t>CREATE YOUR OWN RPG</a:t>
            </a:r>
          </a:p>
        </p:txBody>
      </p:sp>
      <p:sp>
        <p:nvSpPr>
          <p:cNvPr id="17" name="Slide Number Placeholder 4">
            <a:extLst>
              <a:ext uri="{FF2B5EF4-FFF2-40B4-BE49-F238E27FC236}">
                <a16:creationId xmlns:a16="http://schemas.microsoft.com/office/drawing/2014/main" id="{2D01010E-4F79-9D36-80B9-0B69AD83747B}"/>
              </a:ext>
            </a:extLst>
          </p:cNvPr>
          <p:cNvSpPr>
            <a:spLocks noGrp="1"/>
          </p:cNvSpPr>
          <p:nvPr>
            <p:ph type="sldNum" sz="quarter" idx="11"/>
          </p:nvPr>
        </p:nvSpPr>
        <p:spPr>
          <a:xfrm>
            <a:off x="154943" y="6296643"/>
            <a:ext cx="365760" cy="182880"/>
          </a:xfrm>
          <a:prstGeom prst="rect">
            <a:avLst/>
          </a:prstGeom>
        </p:spPr>
        <p:txBody>
          <a:bodyPr/>
          <a:lstStyle>
            <a:lvl1pPr>
              <a:defRPr>
                <a:solidFill>
                  <a:srgbClr val="002060"/>
                </a:solidFill>
              </a:defRPr>
            </a:lvl1pPr>
          </a:lstStyle>
          <a:p>
            <a:fld id="{294A09A9-5501-47C1-A89A-A340965A2BE2}" type="slidenum">
              <a:rPr lang="en-US" smtClean="0"/>
              <a:pPr/>
              <a:t>‹#›</a:t>
            </a:fld>
            <a:endParaRPr lang="en-US"/>
          </a:p>
        </p:txBody>
      </p:sp>
      <p:cxnSp>
        <p:nvCxnSpPr>
          <p:cNvPr id="18" name="Straight Connector 17">
            <a:extLst>
              <a:ext uri="{FF2B5EF4-FFF2-40B4-BE49-F238E27FC236}">
                <a16:creationId xmlns:a16="http://schemas.microsoft.com/office/drawing/2014/main" id="{6C34A50A-DBFD-36FB-C8D0-97775681B348}"/>
              </a:ext>
            </a:extLst>
          </p:cNvPr>
          <p:cNvCxnSpPr>
            <a:cxnSpLocks/>
          </p:cNvCxnSpPr>
          <p:nvPr userDrawn="1"/>
        </p:nvCxnSpPr>
        <p:spPr>
          <a:xfrm flipH="1" flipV="1">
            <a:off x="338040" y="0"/>
            <a:ext cx="1230" cy="232661"/>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9D5C926-5528-CEAC-5590-A84CC640B8B0}"/>
              </a:ext>
            </a:extLst>
          </p:cNvPr>
          <p:cNvCxnSpPr>
            <a:cxnSpLocks/>
          </p:cNvCxnSpPr>
          <p:nvPr userDrawn="1"/>
        </p:nvCxnSpPr>
        <p:spPr>
          <a:xfrm flipV="1">
            <a:off x="336618" y="2878550"/>
            <a:ext cx="0" cy="147346"/>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008027B-FDB1-2550-9738-10597E94C188}"/>
              </a:ext>
            </a:extLst>
          </p:cNvPr>
          <p:cNvCxnSpPr>
            <a:cxnSpLocks/>
          </p:cNvCxnSpPr>
          <p:nvPr userDrawn="1"/>
        </p:nvCxnSpPr>
        <p:spPr>
          <a:xfrm flipV="1">
            <a:off x="336618" y="6084047"/>
            <a:ext cx="0" cy="101600"/>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pic>
        <p:nvPicPr>
          <p:cNvPr id="23" name="Graphic 22" descr="Blueprint outline">
            <a:extLst>
              <a:ext uri="{FF2B5EF4-FFF2-40B4-BE49-F238E27FC236}">
                <a16:creationId xmlns:a16="http://schemas.microsoft.com/office/drawing/2014/main" id="{A64C23C7-B7E6-B430-187A-D5F8F689DE2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40555" y="5060387"/>
            <a:ext cx="420899" cy="420899"/>
          </a:xfrm>
          <a:prstGeom prst="rect">
            <a:avLst/>
          </a:prstGeom>
        </p:spPr>
      </p:pic>
      <p:pic>
        <p:nvPicPr>
          <p:cNvPr id="24" name="Graphic 23" descr="Arrow: Slight curve outline">
            <a:extLst>
              <a:ext uri="{FF2B5EF4-FFF2-40B4-BE49-F238E27FC236}">
                <a16:creationId xmlns:a16="http://schemas.microsoft.com/office/drawing/2014/main" id="{6AEE2AA5-2BDF-691B-1FC8-503281FAF001}"/>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40555" y="5552152"/>
            <a:ext cx="420899" cy="420899"/>
          </a:xfrm>
          <a:prstGeom prst="rect">
            <a:avLst/>
          </a:prstGeom>
        </p:spPr>
      </p:pic>
      <p:pic>
        <p:nvPicPr>
          <p:cNvPr id="25" name="Graphic 24" descr="Information outline">
            <a:extLst>
              <a:ext uri="{FF2B5EF4-FFF2-40B4-BE49-F238E27FC236}">
                <a16:creationId xmlns:a16="http://schemas.microsoft.com/office/drawing/2014/main" id="{73A3B01D-3B28-5FDC-DD7A-A2E82CD48BC4}"/>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40555" y="3090905"/>
            <a:ext cx="420899" cy="420899"/>
          </a:xfrm>
          <a:prstGeom prst="rect">
            <a:avLst/>
          </a:prstGeom>
        </p:spPr>
      </p:pic>
      <p:pic>
        <p:nvPicPr>
          <p:cNvPr id="26" name="Graphic 25" descr="Thought bubble outline">
            <a:extLst>
              <a:ext uri="{FF2B5EF4-FFF2-40B4-BE49-F238E27FC236}">
                <a16:creationId xmlns:a16="http://schemas.microsoft.com/office/drawing/2014/main" id="{A0978C27-A6D7-F687-842B-10752B62DE4E}"/>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40555" y="3585098"/>
            <a:ext cx="420899" cy="420899"/>
          </a:xfrm>
          <a:prstGeom prst="rect">
            <a:avLst/>
          </a:prstGeom>
        </p:spPr>
      </p:pic>
      <p:cxnSp>
        <p:nvCxnSpPr>
          <p:cNvPr id="28" name="Straight Connector 27">
            <a:extLst>
              <a:ext uri="{FF2B5EF4-FFF2-40B4-BE49-F238E27FC236}">
                <a16:creationId xmlns:a16="http://schemas.microsoft.com/office/drawing/2014/main" id="{88D2E736-3CE4-0136-6C63-3B4AB549FD58}"/>
              </a:ext>
            </a:extLst>
          </p:cNvPr>
          <p:cNvCxnSpPr>
            <a:cxnSpLocks/>
          </p:cNvCxnSpPr>
          <p:nvPr userDrawn="1"/>
        </p:nvCxnSpPr>
        <p:spPr>
          <a:xfrm flipV="1">
            <a:off x="336618" y="6635513"/>
            <a:ext cx="0" cy="222487"/>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pic>
        <p:nvPicPr>
          <p:cNvPr id="29" name="Graphic 28" descr="Lightbulb outline">
            <a:extLst>
              <a:ext uri="{FF2B5EF4-FFF2-40B4-BE49-F238E27FC236}">
                <a16:creationId xmlns:a16="http://schemas.microsoft.com/office/drawing/2014/main" id="{39530E96-51D1-90F2-8CF2-17A02134F378}"/>
              </a:ext>
            </a:extLst>
          </p:cNvPr>
          <p:cNvPicPr>
            <a:picLocks noChangeAspect="1"/>
          </p:cNvPicPr>
          <p:nvPr userDrawn="1"/>
        </p:nvPicPr>
        <p:blipFill>
          <a:blip>
            <a:extLst>
              <a:ext uri="{96DAC541-7B7A-43D3-8B79-37D633B846F1}">
                <asvg:svgBlip xmlns:asvg="http://schemas.microsoft.com/office/drawing/2016/SVG/main" r:embed="rId7"/>
              </a:ext>
            </a:extLst>
          </a:blip>
          <a:srcRect/>
          <a:stretch/>
        </p:blipFill>
        <p:spPr>
          <a:xfrm>
            <a:off x="140555" y="4076861"/>
            <a:ext cx="420899" cy="420899"/>
          </a:xfrm>
          <a:prstGeom prst="rect">
            <a:avLst/>
          </a:prstGeom>
        </p:spPr>
      </p:pic>
    </p:spTree>
    <p:extLst>
      <p:ext uri="{BB962C8B-B14F-4D97-AF65-F5344CB8AC3E}">
        <p14:creationId xmlns:p14="http://schemas.microsoft.com/office/powerpoint/2010/main" val="3412214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IGN THINKING | Body slide">
    <p:spTree>
      <p:nvGrpSpPr>
        <p:cNvPr id="1" name=""/>
        <p:cNvGrpSpPr/>
        <p:nvPr/>
      </p:nvGrpSpPr>
      <p:grpSpPr>
        <a:xfrm>
          <a:off x="0" y="0"/>
          <a:ext cx="0" cy="0"/>
          <a:chOff x="0" y="0"/>
          <a:chExt cx="0" cy="0"/>
        </a:xfrm>
      </p:grpSpPr>
      <p:pic>
        <p:nvPicPr>
          <p:cNvPr id="64" name="Graphic 63" descr="Blueprint with solid fill">
            <a:extLst>
              <a:ext uri="{FF2B5EF4-FFF2-40B4-BE49-F238E27FC236}">
                <a16:creationId xmlns:a16="http://schemas.microsoft.com/office/drawing/2014/main" id="{7DD25325-84C2-16CD-1E71-2A264FF4FDE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0555" y="5060387"/>
            <a:ext cx="420899" cy="420899"/>
          </a:xfrm>
          <a:prstGeom prst="rect">
            <a:avLst/>
          </a:prstGeom>
        </p:spPr>
      </p:pic>
      <p:sp>
        <p:nvSpPr>
          <p:cNvPr id="2" name="Title 1">
            <a:extLst>
              <a:ext uri="{FF2B5EF4-FFF2-40B4-BE49-F238E27FC236}">
                <a16:creationId xmlns:a16="http://schemas.microsoft.com/office/drawing/2014/main" id="{C1B750F6-E0E2-9A96-1E55-D8D87B5D3061}"/>
              </a:ext>
            </a:extLst>
          </p:cNvPr>
          <p:cNvSpPr>
            <a:spLocks noGrp="1"/>
          </p:cNvSpPr>
          <p:nvPr>
            <p:ph type="title"/>
          </p:nvPr>
        </p:nvSpPr>
        <p:spPr>
          <a:xfrm>
            <a:off x="771733" y="191101"/>
            <a:ext cx="11225722" cy="1371600"/>
          </a:xfrm>
          <a:prstGeom prst="rect">
            <a:avLst/>
          </a:prstGeom>
        </p:spPr>
        <p:txBody>
          <a:bodyPr lIns="0" tIns="0" rIns="0" bIns="0" anchor="t"/>
          <a:lstStyle>
            <a:lvl1pPr algn="ctr">
              <a:defRPr sz="4300"/>
            </a:lvl1pPr>
          </a:lstStyle>
          <a:p>
            <a:r>
              <a:rPr lang="en-US"/>
              <a:t>Click to edit Master title style</a:t>
            </a:r>
          </a:p>
        </p:txBody>
      </p:sp>
      <p:sp>
        <p:nvSpPr>
          <p:cNvPr id="3" name="Content Placeholder 2">
            <a:extLst>
              <a:ext uri="{FF2B5EF4-FFF2-40B4-BE49-F238E27FC236}">
                <a16:creationId xmlns:a16="http://schemas.microsoft.com/office/drawing/2014/main" id="{44087883-A193-4E13-7228-C78C1250E34C}"/>
              </a:ext>
            </a:extLst>
          </p:cNvPr>
          <p:cNvSpPr>
            <a:spLocks noGrp="1"/>
          </p:cNvSpPr>
          <p:nvPr>
            <p:ph idx="1"/>
          </p:nvPr>
        </p:nvSpPr>
        <p:spPr>
          <a:xfrm>
            <a:off x="771733" y="1673412"/>
            <a:ext cx="11225714" cy="45079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Footer Placeholder 12">
            <a:extLst>
              <a:ext uri="{FF2B5EF4-FFF2-40B4-BE49-F238E27FC236}">
                <a16:creationId xmlns:a16="http://schemas.microsoft.com/office/drawing/2014/main" id="{B041D23B-09FF-9258-AD79-4A19B3E15AEA}"/>
              </a:ext>
            </a:extLst>
          </p:cNvPr>
          <p:cNvSpPr>
            <a:spLocks noGrp="1"/>
          </p:cNvSpPr>
          <p:nvPr>
            <p:ph type="ftr" sz="quarter" idx="12"/>
          </p:nvPr>
        </p:nvSpPr>
        <p:spPr>
          <a:xfrm rot="16200000">
            <a:off x="-979231" y="1471261"/>
            <a:ext cx="2631698" cy="182880"/>
          </a:xfrm>
        </p:spPr>
        <p:txBody>
          <a:bodyPr/>
          <a:lstStyle>
            <a:lvl1pPr>
              <a:defRPr>
                <a:solidFill>
                  <a:srgbClr val="002060"/>
                </a:solidFill>
              </a:defRPr>
            </a:lvl1pPr>
          </a:lstStyle>
          <a:p>
            <a:r>
              <a:rPr lang="en-US"/>
              <a:t>CREATE YOUR OWN RPG</a:t>
            </a:r>
          </a:p>
        </p:txBody>
      </p:sp>
      <p:sp>
        <p:nvSpPr>
          <p:cNvPr id="17" name="Slide Number Placeholder 4">
            <a:extLst>
              <a:ext uri="{FF2B5EF4-FFF2-40B4-BE49-F238E27FC236}">
                <a16:creationId xmlns:a16="http://schemas.microsoft.com/office/drawing/2014/main" id="{4625A14F-FC5D-0E9F-727C-09ADCDCF96EC}"/>
              </a:ext>
            </a:extLst>
          </p:cNvPr>
          <p:cNvSpPr>
            <a:spLocks noGrp="1"/>
          </p:cNvSpPr>
          <p:nvPr>
            <p:ph type="sldNum" sz="quarter" idx="11"/>
          </p:nvPr>
        </p:nvSpPr>
        <p:spPr>
          <a:xfrm>
            <a:off x="154943" y="6296643"/>
            <a:ext cx="365760" cy="182880"/>
          </a:xfrm>
          <a:prstGeom prst="rect">
            <a:avLst/>
          </a:prstGeom>
        </p:spPr>
        <p:txBody>
          <a:bodyPr/>
          <a:lstStyle>
            <a:lvl1pPr>
              <a:defRPr>
                <a:solidFill>
                  <a:srgbClr val="002060"/>
                </a:solidFill>
              </a:defRPr>
            </a:lvl1pPr>
          </a:lstStyle>
          <a:p>
            <a:fld id="{294A09A9-5501-47C1-A89A-A340965A2BE2}" type="slidenum">
              <a:rPr lang="en-US" smtClean="0"/>
              <a:pPr/>
              <a:t>‹#›</a:t>
            </a:fld>
            <a:endParaRPr lang="en-US"/>
          </a:p>
        </p:txBody>
      </p:sp>
      <p:cxnSp>
        <p:nvCxnSpPr>
          <p:cNvPr id="18" name="Straight Connector 17">
            <a:extLst>
              <a:ext uri="{FF2B5EF4-FFF2-40B4-BE49-F238E27FC236}">
                <a16:creationId xmlns:a16="http://schemas.microsoft.com/office/drawing/2014/main" id="{D10B0E46-8420-3BBD-74EA-93461724C566}"/>
              </a:ext>
            </a:extLst>
          </p:cNvPr>
          <p:cNvCxnSpPr>
            <a:cxnSpLocks/>
          </p:cNvCxnSpPr>
          <p:nvPr userDrawn="1"/>
        </p:nvCxnSpPr>
        <p:spPr>
          <a:xfrm flipH="1" flipV="1">
            <a:off x="338040" y="0"/>
            <a:ext cx="1230" cy="232661"/>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210C59B-E97E-C657-79C9-94D672F00B51}"/>
              </a:ext>
            </a:extLst>
          </p:cNvPr>
          <p:cNvCxnSpPr>
            <a:cxnSpLocks/>
          </p:cNvCxnSpPr>
          <p:nvPr userDrawn="1"/>
        </p:nvCxnSpPr>
        <p:spPr>
          <a:xfrm flipV="1">
            <a:off x="336618" y="2878550"/>
            <a:ext cx="0" cy="147346"/>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E57390C-69BD-F72C-5002-7D44AF9A3311}"/>
              </a:ext>
            </a:extLst>
          </p:cNvPr>
          <p:cNvCxnSpPr>
            <a:cxnSpLocks/>
          </p:cNvCxnSpPr>
          <p:nvPr userDrawn="1"/>
        </p:nvCxnSpPr>
        <p:spPr>
          <a:xfrm flipV="1">
            <a:off x="336618" y="6084047"/>
            <a:ext cx="0" cy="101600"/>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pic>
        <p:nvPicPr>
          <p:cNvPr id="22" name="Graphic 21" descr="Arrow: Slight curve outline">
            <a:extLst>
              <a:ext uri="{FF2B5EF4-FFF2-40B4-BE49-F238E27FC236}">
                <a16:creationId xmlns:a16="http://schemas.microsoft.com/office/drawing/2014/main" id="{64BF9576-2252-B2FD-E8D6-0BBED5FFA6C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40555" y="5552152"/>
            <a:ext cx="420899" cy="420899"/>
          </a:xfrm>
          <a:prstGeom prst="rect">
            <a:avLst/>
          </a:prstGeom>
        </p:spPr>
      </p:pic>
      <p:pic>
        <p:nvPicPr>
          <p:cNvPr id="23" name="Graphic 22" descr="Information outline">
            <a:extLst>
              <a:ext uri="{FF2B5EF4-FFF2-40B4-BE49-F238E27FC236}">
                <a16:creationId xmlns:a16="http://schemas.microsoft.com/office/drawing/2014/main" id="{0AE04B06-87AB-81D8-DE67-07A93B8EFFCB}"/>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40555" y="3090905"/>
            <a:ext cx="420899" cy="420899"/>
          </a:xfrm>
          <a:prstGeom prst="rect">
            <a:avLst/>
          </a:prstGeom>
        </p:spPr>
      </p:pic>
      <p:pic>
        <p:nvPicPr>
          <p:cNvPr id="24" name="Graphic 23" descr="Thought bubble outline">
            <a:extLst>
              <a:ext uri="{FF2B5EF4-FFF2-40B4-BE49-F238E27FC236}">
                <a16:creationId xmlns:a16="http://schemas.microsoft.com/office/drawing/2014/main" id="{94F4DA7A-F599-9E4F-1C29-0C42AF01FDC0}"/>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40555" y="3585098"/>
            <a:ext cx="420899" cy="420899"/>
          </a:xfrm>
          <a:prstGeom prst="rect">
            <a:avLst/>
          </a:prstGeom>
        </p:spPr>
      </p:pic>
      <p:cxnSp>
        <p:nvCxnSpPr>
          <p:cNvPr id="25" name="Straight Connector 24">
            <a:extLst>
              <a:ext uri="{FF2B5EF4-FFF2-40B4-BE49-F238E27FC236}">
                <a16:creationId xmlns:a16="http://schemas.microsoft.com/office/drawing/2014/main" id="{A5BED727-EB1C-C94A-98D7-AFD1A54E29F4}"/>
              </a:ext>
            </a:extLst>
          </p:cNvPr>
          <p:cNvCxnSpPr>
            <a:cxnSpLocks/>
          </p:cNvCxnSpPr>
          <p:nvPr userDrawn="1"/>
        </p:nvCxnSpPr>
        <p:spPr>
          <a:xfrm flipV="1">
            <a:off x="336618" y="6635513"/>
            <a:ext cx="0" cy="222487"/>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pic>
        <p:nvPicPr>
          <p:cNvPr id="26" name="Graphic 25" descr="Lightbulb outline">
            <a:extLst>
              <a:ext uri="{FF2B5EF4-FFF2-40B4-BE49-F238E27FC236}">
                <a16:creationId xmlns:a16="http://schemas.microsoft.com/office/drawing/2014/main" id="{C7AAA46D-EFF7-8B7D-177B-56A42C603FD0}"/>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40555" y="4076861"/>
            <a:ext cx="420899" cy="420899"/>
          </a:xfrm>
          <a:prstGeom prst="rect">
            <a:avLst/>
          </a:prstGeom>
        </p:spPr>
      </p:pic>
      <p:pic>
        <p:nvPicPr>
          <p:cNvPr id="27" name="Graphic 26" descr="Quill outline">
            <a:extLst>
              <a:ext uri="{FF2B5EF4-FFF2-40B4-BE49-F238E27FC236}">
                <a16:creationId xmlns:a16="http://schemas.microsoft.com/office/drawing/2014/main" id="{8E251205-8EF6-6FD7-499B-AE17A9D2639E}"/>
              </a:ext>
            </a:extLst>
          </p:cNvPr>
          <p:cNvPicPr>
            <a:picLocks noChangeAspect="1"/>
          </p:cNvPicPr>
          <p:nvPr userDrawn="1"/>
        </p:nvPicPr>
        <p:blipFill>
          <a:blip>
            <a:extLst>
              <a:ext uri="{96DAC541-7B7A-43D3-8B79-37D633B846F1}">
                <asvg:svgBlip xmlns:asvg="http://schemas.microsoft.com/office/drawing/2016/SVG/main" r:embed="rId7"/>
              </a:ext>
            </a:extLst>
          </a:blip>
          <a:srcRect/>
          <a:stretch/>
        </p:blipFill>
        <p:spPr>
          <a:xfrm>
            <a:off x="140555" y="4568624"/>
            <a:ext cx="420899" cy="420899"/>
          </a:xfrm>
          <a:prstGeom prst="rect">
            <a:avLst/>
          </a:prstGeom>
        </p:spPr>
      </p:pic>
    </p:spTree>
    <p:extLst>
      <p:ext uri="{BB962C8B-B14F-4D97-AF65-F5344CB8AC3E}">
        <p14:creationId xmlns:p14="http://schemas.microsoft.com/office/powerpoint/2010/main" val="2188287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NEXT STEPS | Body slide">
    <p:spTree>
      <p:nvGrpSpPr>
        <p:cNvPr id="1" name=""/>
        <p:cNvGrpSpPr/>
        <p:nvPr/>
      </p:nvGrpSpPr>
      <p:grpSpPr>
        <a:xfrm>
          <a:off x="0" y="0"/>
          <a:ext cx="0" cy="0"/>
          <a:chOff x="0" y="0"/>
          <a:chExt cx="0" cy="0"/>
        </a:xfrm>
      </p:grpSpPr>
      <p:pic>
        <p:nvPicPr>
          <p:cNvPr id="66" name="Graphic 65" descr="Arrow: Slight curve with solid fill">
            <a:extLst>
              <a:ext uri="{FF2B5EF4-FFF2-40B4-BE49-F238E27FC236}">
                <a16:creationId xmlns:a16="http://schemas.microsoft.com/office/drawing/2014/main" id="{1B531FFD-40F2-372A-1FDC-54ADCECFB6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0555" y="5552152"/>
            <a:ext cx="420899" cy="420899"/>
          </a:xfrm>
          <a:prstGeom prst="rect">
            <a:avLst/>
          </a:prstGeom>
        </p:spPr>
      </p:pic>
      <p:sp>
        <p:nvSpPr>
          <p:cNvPr id="2" name="Title 1">
            <a:extLst>
              <a:ext uri="{FF2B5EF4-FFF2-40B4-BE49-F238E27FC236}">
                <a16:creationId xmlns:a16="http://schemas.microsoft.com/office/drawing/2014/main" id="{B0AD8FF7-1A08-EF5B-BFC3-872416D03E2F}"/>
              </a:ext>
            </a:extLst>
          </p:cNvPr>
          <p:cNvSpPr>
            <a:spLocks noGrp="1"/>
          </p:cNvSpPr>
          <p:nvPr>
            <p:ph type="title"/>
          </p:nvPr>
        </p:nvSpPr>
        <p:spPr>
          <a:xfrm>
            <a:off x="771733" y="191101"/>
            <a:ext cx="11225722" cy="1371600"/>
          </a:xfrm>
          <a:prstGeom prst="rect">
            <a:avLst/>
          </a:prstGeom>
        </p:spPr>
        <p:txBody>
          <a:bodyPr lIns="0" tIns="0" rIns="0" bIns="0" anchor="t"/>
          <a:lstStyle>
            <a:lvl1pPr algn="ctr">
              <a:defRPr sz="4300"/>
            </a:lvl1pPr>
          </a:lstStyle>
          <a:p>
            <a:r>
              <a:rPr lang="en-US"/>
              <a:t>Click to edit Master title style</a:t>
            </a:r>
          </a:p>
        </p:txBody>
      </p:sp>
      <p:sp>
        <p:nvSpPr>
          <p:cNvPr id="3" name="Content Placeholder 2">
            <a:extLst>
              <a:ext uri="{FF2B5EF4-FFF2-40B4-BE49-F238E27FC236}">
                <a16:creationId xmlns:a16="http://schemas.microsoft.com/office/drawing/2014/main" id="{3BCA584F-CDAC-31C9-0874-E7ECE246E5F0}"/>
              </a:ext>
            </a:extLst>
          </p:cNvPr>
          <p:cNvSpPr>
            <a:spLocks noGrp="1"/>
          </p:cNvSpPr>
          <p:nvPr>
            <p:ph idx="1"/>
          </p:nvPr>
        </p:nvSpPr>
        <p:spPr>
          <a:xfrm>
            <a:off x="771733" y="1673412"/>
            <a:ext cx="11225714" cy="45079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2">
            <a:extLst>
              <a:ext uri="{FF2B5EF4-FFF2-40B4-BE49-F238E27FC236}">
                <a16:creationId xmlns:a16="http://schemas.microsoft.com/office/drawing/2014/main" id="{082C713C-C46E-9F33-A3F7-7BC27C0A9697}"/>
              </a:ext>
            </a:extLst>
          </p:cNvPr>
          <p:cNvSpPr>
            <a:spLocks noGrp="1"/>
          </p:cNvSpPr>
          <p:nvPr>
            <p:ph type="ftr" sz="quarter" idx="12"/>
          </p:nvPr>
        </p:nvSpPr>
        <p:spPr>
          <a:xfrm rot="16200000">
            <a:off x="-979231" y="1471261"/>
            <a:ext cx="2631698" cy="182880"/>
          </a:xfrm>
        </p:spPr>
        <p:txBody>
          <a:bodyPr/>
          <a:lstStyle>
            <a:lvl1pPr>
              <a:defRPr>
                <a:solidFill>
                  <a:srgbClr val="002060"/>
                </a:solidFill>
              </a:defRPr>
            </a:lvl1pPr>
          </a:lstStyle>
          <a:p>
            <a:r>
              <a:rPr lang="en-US"/>
              <a:t>CREATE YOUR OWN RPG</a:t>
            </a:r>
          </a:p>
        </p:txBody>
      </p:sp>
      <p:sp>
        <p:nvSpPr>
          <p:cNvPr id="15" name="Slide Number Placeholder 4">
            <a:extLst>
              <a:ext uri="{FF2B5EF4-FFF2-40B4-BE49-F238E27FC236}">
                <a16:creationId xmlns:a16="http://schemas.microsoft.com/office/drawing/2014/main" id="{9D855E61-D0FD-353D-F89B-A01F89071B35}"/>
              </a:ext>
            </a:extLst>
          </p:cNvPr>
          <p:cNvSpPr>
            <a:spLocks noGrp="1"/>
          </p:cNvSpPr>
          <p:nvPr>
            <p:ph type="sldNum" sz="quarter" idx="11"/>
          </p:nvPr>
        </p:nvSpPr>
        <p:spPr>
          <a:xfrm>
            <a:off x="154943" y="6296643"/>
            <a:ext cx="365760" cy="182880"/>
          </a:xfrm>
          <a:prstGeom prst="rect">
            <a:avLst/>
          </a:prstGeom>
        </p:spPr>
        <p:txBody>
          <a:bodyPr/>
          <a:lstStyle>
            <a:lvl1pPr>
              <a:defRPr>
                <a:solidFill>
                  <a:srgbClr val="002060"/>
                </a:solidFill>
              </a:defRPr>
            </a:lvl1pPr>
          </a:lstStyle>
          <a:p>
            <a:fld id="{294A09A9-5501-47C1-A89A-A340965A2BE2}" type="slidenum">
              <a:rPr lang="en-US" smtClean="0"/>
              <a:pPr/>
              <a:t>‹#›</a:t>
            </a:fld>
            <a:endParaRPr lang="en-US"/>
          </a:p>
        </p:txBody>
      </p:sp>
      <p:cxnSp>
        <p:nvCxnSpPr>
          <p:cNvPr id="16" name="Straight Connector 15">
            <a:extLst>
              <a:ext uri="{FF2B5EF4-FFF2-40B4-BE49-F238E27FC236}">
                <a16:creationId xmlns:a16="http://schemas.microsoft.com/office/drawing/2014/main" id="{47EA588B-6344-B0A4-6065-4410913F84F6}"/>
              </a:ext>
            </a:extLst>
          </p:cNvPr>
          <p:cNvCxnSpPr>
            <a:cxnSpLocks/>
          </p:cNvCxnSpPr>
          <p:nvPr userDrawn="1"/>
        </p:nvCxnSpPr>
        <p:spPr>
          <a:xfrm flipH="1" flipV="1">
            <a:off x="338040" y="0"/>
            <a:ext cx="1230" cy="232661"/>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B46CFF-0885-02F4-3851-83BFC457271B}"/>
              </a:ext>
            </a:extLst>
          </p:cNvPr>
          <p:cNvCxnSpPr>
            <a:cxnSpLocks/>
          </p:cNvCxnSpPr>
          <p:nvPr userDrawn="1"/>
        </p:nvCxnSpPr>
        <p:spPr>
          <a:xfrm flipV="1">
            <a:off x="336618" y="2878550"/>
            <a:ext cx="0" cy="147346"/>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F129976-B4AA-9C43-C064-56E11C0B3704}"/>
              </a:ext>
            </a:extLst>
          </p:cNvPr>
          <p:cNvCxnSpPr>
            <a:cxnSpLocks/>
          </p:cNvCxnSpPr>
          <p:nvPr userDrawn="1"/>
        </p:nvCxnSpPr>
        <p:spPr>
          <a:xfrm flipV="1">
            <a:off x="336618" y="6084047"/>
            <a:ext cx="0" cy="101600"/>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pic>
        <p:nvPicPr>
          <p:cNvPr id="22" name="Graphic 21" descr="Information outline">
            <a:extLst>
              <a:ext uri="{FF2B5EF4-FFF2-40B4-BE49-F238E27FC236}">
                <a16:creationId xmlns:a16="http://schemas.microsoft.com/office/drawing/2014/main" id="{75417DFD-2CF4-FF9A-E17D-E459F349109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40555" y="3090905"/>
            <a:ext cx="420899" cy="420899"/>
          </a:xfrm>
          <a:prstGeom prst="rect">
            <a:avLst/>
          </a:prstGeom>
        </p:spPr>
      </p:pic>
      <p:pic>
        <p:nvPicPr>
          <p:cNvPr id="23" name="Graphic 22" descr="Thought bubble outline">
            <a:extLst>
              <a:ext uri="{FF2B5EF4-FFF2-40B4-BE49-F238E27FC236}">
                <a16:creationId xmlns:a16="http://schemas.microsoft.com/office/drawing/2014/main" id="{BF62E693-B129-9D46-7DD8-6D96B0D62650}"/>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40555" y="3585098"/>
            <a:ext cx="420899" cy="420899"/>
          </a:xfrm>
          <a:prstGeom prst="rect">
            <a:avLst/>
          </a:prstGeom>
        </p:spPr>
      </p:pic>
      <p:cxnSp>
        <p:nvCxnSpPr>
          <p:cNvPr id="24" name="Straight Connector 23">
            <a:extLst>
              <a:ext uri="{FF2B5EF4-FFF2-40B4-BE49-F238E27FC236}">
                <a16:creationId xmlns:a16="http://schemas.microsoft.com/office/drawing/2014/main" id="{82B9E1B5-E669-14C5-CCCC-BE7BC9A6F661}"/>
              </a:ext>
            </a:extLst>
          </p:cNvPr>
          <p:cNvCxnSpPr>
            <a:cxnSpLocks/>
          </p:cNvCxnSpPr>
          <p:nvPr userDrawn="1"/>
        </p:nvCxnSpPr>
        <p:spPr>
          <a:xfrm flipV="1">
            <a:off x="336618" y="6635513"/>
            <a:ext cx="0" cy="222487"/>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pic>
        <p:nvPicPr>
          <p:cNvPr id="25" name="Graphic 24" descr="Lightbulb outline">
            <a:extLst>
              <a:ext uri="{FF2B5EF4-FFF2-40B4-BE49-F238E27FC236}">
                <a16:creationId xmlns:a16="http://schemas.microsoft.com/office/drawing/2014/main" id="{0604C4A7-FA91-32DC-D165-F99FDD490699}"/>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40555" y="4076861"/>
            <a:ext cx="420899" cy="420899"/>
          </a:xfrm>
          <a:prstGeom prst="rect">
            <a:avLst/>
          </a:prstGeom>
        </p:spPr>
      </p:pic>
      <p:pic>
        <p:nvPicPr>
          <p:cNvPr id="26" name="Graphic 25" descr="Quill outline">
            <a:extLst>
              <a:ext uri="{FF2B5EF4-FFF2-40B4-BE49-F238E27FC236}">
                <a16:creationId xmlns:a16="http://schemas.microsoft.com/office/drawing/2014/main" id="{7F482E9D-0656-449F-EDA0-6A714AC8816F}"/>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40555" y="4568624"/>
            <a:ext cx="420899" cy="420899"/>
          </a:xfrm>
          <a:prstGeom prst="rect">
            <a:avLst/>
          </a:prstGeom>
        </p:spPr>
      </p:pic>
      <p:pic>
        <p:nvPicPr>
          <p:cNvPr id="27" name="Graphic 26" descr="Blueprint outline">
            <a:extLst>
              <a:ext uri="{FF2B5EF4-FFF2-40B4-BE49-F238E27FC236}">
                <a16:creationId xmlns:a16="http://schemas.microsoft.com/office/drawing/2014/main" id="{FD27128A-6701-024F-88D0-96C42A70AA80}"/>
              </a:ext>
            </a:extLst>
          </p:cNvPr>
          <p:cNvPicPr>
            <a:picLocks noChangeAspect="1"/>
          </p:cNvPicPr>
          <p:nvPr userDrawn="1"/>
        </p:nvPicPr>
        <p:blipFill>
          <a:blip>
            <a:extLst>
              <a:ext uri="{96DAC541-7B7A-43D3-8B79-37D633B846F1}">
                <asvg:svgBlip xmlns:asvg="http://schemas.microsoft.com/office/drawing/2016/SVG/main" r:embed="rId7"/>
              </a:ext>
            </a:extLst>
          </a:blip>
          <a:srcRect/>
          <a:stretch/>
        </p:blipFill>
        <p:spPr>
          <a:xfrm>
            <a:off x="140555" y="5060387"/>
            <a:ext cx="420899" cy="420899"/>
          </a:xfrm>
          <a:prstGeom prst="rect">
            <a:avLst/>
          </a:prstGeom>
        </p:spPr>
      </p:pic>
    </p:spTree>
    <p:extLst>
      <p:ext uri="{BB962C8B-B14F-4D97-AF65-F5344CB8AC3E}">
        <p14:creationId xmlns:p14="http://schemas.microsoft.com/office/powerpoint/2010/main" val="2965625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orkshop tim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571108" y="578744"/>
            <a:ext cx="11519272" cy="548640"/>
          </a:xfrm>
          <a:prstGeom prst="rect">
            <a:avLst/>
          </a:prstGeom>
        </p:spPr>
        <p:txBody>
          <a:bodyPr anchor="t" anchorCtr="0"/>
          <a:lstStyle>
            <a:lvl1pPr>
              <a:defRPr sz="4300"/>
            </a:lvl1pPr>
          </a:lstStyle>
          <a:p>
            <a:r>
              <a:rPr lang="en-US"/>
              <a:t>Title / topic</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a:xfrm>
            <a:off x="154943" y="6296643"/>
            <a:ext cx="365760" cy="182880"/>
          </a:xfrm>
          <a:prstGeom prst="rect">
            <a:avLst/>
          </a:prstGeom>
        </p:spPr>
        <p:txBody>
          <a:bodyPr/>
          <a:lstStyle>
            <a:lvl1pPr>
              <a:defRPr>
                <a:solidFill>
                  <a:srgbClr val="002060"/>
                </a:solidFill>
              </a:defRPr>
            </a:lvl1pPr>
          </a:lstStyle>
          <a:p>
            <a:fld id="{294A09A9-5501-47C1-A89A-A340965A2BE2}" type="slidenum">
              <a:rPr lang="en-US" smtClean="0"/>
              <a:pPr/>
              <a:t>‹#›</a:t>
            </a:fld>
            <a:endParaRPr lang="en-US"/>
          </a:p>
        </p:txBody>
      </p:sp>
      <p:sp>
        <p:nvSpPr>
          <p:cNvPr id="3" name="Footer Placeholder 2">
            <a:extLst>
              <a:ext uri="{FF2B5EF4-FFF2-40B4-BE49-F238E27FC236}">
                <a16:creationId xmlns:a16="http://schemas.microsoft.com/office/drawing/2014/main" id="{46A1245C-B893-2506-FA77-66156BF65CFC}"/>
              </a:ext>
            </a:extLst>
          </p:cNvPr>
          <p:cNvSpPr>
            <a:spLocks noGrp="1"/>
          </p:cNvSpPr>
          <p:nvPr>
            <p:ph type="ftr" sz="quarter" idx="13"/>
          </p:nvPr>
        </p:nvSpPr>
        <p:spPr/>
        <p:txBody>
          <a:bodyPr/>
          <a:lstStyle>
            <a:lvl1pPr>
              <a:defRPr>
                <a:solidFill>
                  <a:srgbClr val="002060"/>
                </a:solidFill>
              </a:defRPr>
            </a:lvl1pPr>
          </a:lstStyle>
          <a:p>
            <a:r>
              <a:rPr lang="en-US"/>
              <a:t>CREATE YOUR OWN RPG</a:t>
            </a:r>
          </a:p>
        </p:txBody>
      </p:sp>
      <p:cxnSp>
        <p:nvCxnSpPr>
          <p:cNvPr id="4" name="Straight Connector 3">
            <a:extLst>
              <a:ext uri="{FF2B5EF4-FFF2-40B4-BE49-F238E27FC236}">
                <a16:creationId xmlns:a16="http://schemas.microsoft.com/office/drawing/2014/main" id="{E19DF69A-87D6-B14E-BA95-3BB324C9D352}"/>
              </a:ext>
            </a:extLst>
          </p:cNvPr>
          <p:cNvCxnSpPr>
            <a:cxnSpLocks/>
            <a:stCxn id="3" idx="3"/>
          </p:cNvCxnSpPr>
          <p:nvPr userDrawn="1"/>
        </p:nvCxnSpPr>
        <p:spPr>
          <a:xfrm flipV="1">
            <a:off x="333458" y="1666882"/>
            <a:ext cx="4889" cy="290313"/>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AA216D4-1B64-8692-E499-A4B660EE22D4}"/>
              </a:ext>
            </a:extLst>
          </p:cNvPr>
          <p:cNvCxnSpPr>
            <a:cxnSpLocks/>
            <a:endCxn id="3" idx="1"/>
          </p:cNvCxnSpPr>
          <p:nvPr userDrawn="1"/>
        </p:nvCxnSpPr>
        <p:spPr>
          <a:xfrm flipV="1">
            <a:off x="331748" y="4869888"/>
            <a:ext cx="1711" cy="1278696"/>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BCA3438-542D-6157-6220-147B3BE13661}"/>
              </a:ext>
            </a:extLst>
          </p:cNvPr>
          <p:cNvCxnSpPr>
            <a:cxnSpLocks/>
          </p:cNvCxnSpPr>
          <p:nvPr userDrawn="1"/>
        </p:nvCxnSpPr>
        <p:spPr>
          <a:xfrm flipV="1">
            <a:off x="336618" y="6635513"/>
            <a:ext cx="0" cy="222487"/>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BEE817E-3020-2A62-DF93-30CD0DC3C575}"/>
              </a:ext>
            </a:extLst>
          </p:cNvPr>
          <p:cNvCxnSpPr>
            <a:cxnSpLocks/>
          </p:cNvCxnSpPr>
          <p:nvPr userDrawn="1"/>
        </p:nvCxnSpPr>
        <p:spPr>
          <a:xfrm flipV="1">
            <a:off x="338347" y="1113583"/>
            <a:ext cx="0" cy="29793"/>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pic>
        <p:nvPicPr>
          <p:cNvPr id="10" name="Graphic 9" descr="Stopwatch with solid fill">
            <a:extLst>
              <a:ext uri="{FF2B5EF4-FFF2-40B4-BE49-F238E27FC236}">
                <a16:creationId xmlns:a16="http://schemas.microsoft.com/office/drawing/2014/main" id="{6C740701-9BBD-AAFB-5DC3-C2663EAA012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620" y="1168094"/>
            <a:ext cx="474070" cy="474070"/>
          </a:xfrm>
          <a:prstGeom prst="rect">
            <a:avLst/>
          </a:prstGeom>
        </p:spPr>
      </p:pic>
      <p:sp>
        <p:nvSpPr>
          <p:cNvPr id="13" name="Text Placeholder 12">
            <a:extLst>
              <a:ext uri="{FF2B5EF4-FFF2-40B4-BE49-F238E27FC236}">
                <a16:creationId xmlns:a16="http://schemas.microsoft.com/office/drawing/2014/main" id="{EFB9C9BB-F218-1BEA-AEC6-6BB1D91F8E07}"/>
              </a:ext>
            </a:extLst>
          </p:cNvPr>
          <p:cNvSpPr>
            <a:spLocks noGrp="1"/>
          </p:cNvSpPr>
          <p:nvPr>
            <p:ph type="body" sz="quarter" idx="14" hasCustomPrompt="1"/>
          </p:nvPr>
        </p:nvSpPr>
        <p:spPr>
          <a:xfrm>
            <a:off x="571108" y="1271950"/>
            <a:ext cx="11519272" cy="266358"/>
          </a:xfrm>
        </p:spPr>
        <p:txBody>
          <a:bodyPr/>
          <a:lstStyle>
            <a:lvl1pPr marL="0" indent="0">
              <a:buNone/>
              <a:defRPr sz="2000" b="1">
                <a:latin typeface="Aptos" panose="020B0004020202020204" pitchFamily="34" charset="0"/>
              </a:defRPr>
            </a:lvl1pPr>
            <a:lvl2pPr>
              <a:defRPr sz="2000">
                <a:latin typeface="+mn-lt"/>
              </a:defRPr>
            </a:lvl2pPr>
            <a:lvl3pPr>
              <a:defRPr sz="2000">
                <a:latin typeface="+mn-lt"/>
              </a:defRPr>
            </a:lvl3pPr>
            <a:lvl4pPr>
              <a:defRPr sz="2000">
                <a:latin typeface="+mn-lt"/>
              </a:defRPr>
            </a:lvl4pPr>
            <a:lvl5pPr>
              <a:defRPr sz="2000">
                <a:latin typeface="+mn-lt"/>
              </a:defRPr>
            </a:lvl5pPr>
          </a:lstStyle>
          <a:p>
            <a:pPr lvl="0"/>
            <a:r>
              <a:rPr lang="en-US"/>
              <a:t>Amount of time</a:t>
            </a:r>
          </a:p>
        </p:txBody>
      </p:sp>
      <p:sp>
        <p:nvSpPr>
          <p:cNvPr id="21" name="Text Placeholder 12">
            <a:extLst>
              <a:ext uri="{FF2B5EF4-FFF2-40B4-BE49-F238E27FC236}">
                <a16:creationId xmlns:a16="http://schemas.microsoft.com/office/drawing/2014/main" id="{65F4B2CC-C7E3-0467-8386-82C67985FBF0}"/>
              </a:ext>
            </a:extLst>
          </p:cNvPr>
          <p:cNvSpPr>
            <a:spLocks noGrp="1"/>
          </p:cNvSpPr>
          <p:nvPr>
            <p:ph type="body" sz="quarter" idx="15" hasCustomPrompt="1"/>
          </p:nvPr>
        </p:nvSpPr>
        <p:spPr>
          <a:xfrm>
            <a:off x="571108" y="144007"/>
            <a:ext cx="11519272" cy="266358"/>
          </a:xfrm>
        </p:spPr>
        <p:txBody>
          <a:bodyPr/>
          <a:lstStyle>
            <a:lvl1pPr marL="0" indent="0">
              <a:buNone/>
              <a:defRPr sz="2000" b="1">
                <a:latin typeface="Aptos" panose="020B0004020202020204" pitchFamily="34" charset="0"/>
              </a:defRPr>
            </a:lvl1pPr>
            <a:lvl2pPr>
              <a:defRPr sz="2000">
                <a:latin typeface="+mn-lt"/>
              </a:defRPr>
            </a:lvl2pPr>
            <a:lvl3pPr>
              <a:defRPr sz="2000">
                <a:latin typeface="+mn-lt"/>
              </a:defRPr>
            </a:lvl3pPr>
            <a:lvl4pPr>
              <a:defRPr sz="2000">
                <a:latin typeface="+mn-lt"/>
              </a:defRPr>
            </a:lvl4pPr>
            <a:lvl5pPr>
              <a:defRPr sz="2000">
                <a:latin typeface="+mn-lt"/>
              </a:defRPr>
            </a:lvl5pPr>
          </a:lstStyle>
          <a:p>
            <a:pPr lvl="0"/>
            <a:r>
              <a:rPr lang="en-US"/>
              <a:t>PART #</a:t>
            </a:r>
          </a:p>
        </p:txBody>
      </p:sp>
      <p:cxnSp>
        <p:nvCxnSpPr>
          <p:cNvPr id="11" name="Straight Connector 10">
            <a:extLst>
              <a:ext uri="{FF2B5EF4-FFF2-40B4-BE49-F238E27FC236}">
                <a16:creationId xmlns:a16="http://schemas.microsoft.com/office/drawing/2014/main" id="{2C041F2B-B592-F964-2091-289E5360B7A7}"/>
              </a:ext>
            </a:extLst>
          </p:cNvPr>
          <p:cNvCxnSpPr>
            <a:cxnSpLocks/>
          </p:cNvCxnSpPr>
          <p:nvPr userDrawn="1"/>
        </p:nvCxnSpPr>
        <p:spPr>
          <a:xfrm flipV="1">
            <a:off x="344946" y="-110602"/>
            <a:ext cx="0" cy="778568"/>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3625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1069848" y="4517136"/>
            <a:ext cx="10058400" cy="1371600"/>
          </a:xfrm>
          <a:prstGeom prst="rect">
            <a:avLst/>
          </a:prstGeom>
        </p:spPr>
        <p:txBody>
          <a:bodyPr lIns="0" tIns="0" rIns="0" bIns="0" anchor="b"/>
          <a:lstStyle>
            <a:lvl1pPr algn="ctr">
              <a:lnSpc>
                <a:spcPts val="5800"/>
              </a:lnSpc>
              <a:defRPr sz="4800" baseline="0"/>
            </a:lvl1pPr>
          </a:lstStyle>
          <a:p>
            <a:r>
              <a:rPr lang="en-US"/>
              <a:t>Click to edit Master title style</a:t>
            </a:r>
          </a:p>
        </p:txBody>
      </p:sp>
      <p:sp>
        <p:nvSpPr>
          <p:cNvPr id="12" name="Picture Placeholder 7">
            <a:extLst>
              <a:ext uri="{FF2B5EF4-FFF2-40B4-BE49-F238E27FC236}">
                <a16:creationId xmlns:a16="http://schemas.microsoft.com/office/drawing/2014/main" id="{1B16F6AA-935F-5323-434B-E4E99948A36D}"/>
              </a:ext>
            </a:extLst>
          </p:cNvPr>
          <p:cNvSpPr>
            <a:spLocks noGrp="1"/>
          </p:cNvSpPr>
          <p:nvPr>
            <p:ph type="pic" sz="quarter" idx="10"/>
          </p:nvPr>
        </p:nvSpPr>
        <p:spPr>
          <a:xfrm>
            <a:off x="4581144" y="850392"/>
            <a:ext cx="3026664" cy="3026664"/>
          </a:xfrm>
          <a:prstGeom prst="ellipse">
            <a:avLst/>
          </a:prstGeom>
        </p:spPr>
        <p:txBody>
          <a:bodyPr anchor="ctr"/>
          <a:lstStyle>
            <a:lvl1pPr marL="0" indent="0" algn="ctr">
              <a:buNone/>
              <a:defRPr/>
            </a:lvl1pPr>
          </a:lstStyle>
          <a:p>
            <a:r>
              <a:rPr lang="en-US"/>
              <a:t>Click icon to add picture</a:t>
            </a:r>
          </a:p>
        </p:txBody>
      </p:sp>
      <p:sp>
        <p:nvSpPr>
          <p:cNvPr id="13" name="Subtitle 2">
            <a:extLst>
              <a:ext uri="{FF2B5EF4-FFF2-40B4-BE49-F238E27FC236}">
                <a16:creationId xmlns:a16="http://schemas.microsoft.com/office/drawing/2014/main" id="{AB6213F4-C0BB-1106-4CB8-22B91964832D}"/>
              </a:ext>
            </a:extLst>
          </p:cNvPr>
          <p:cNvSpPr>
            <a:spLocks noGrp="1"/>
          </p:cNvSpPr>
          <p:nvPr>
            <p:ph type="subTitle" idx="1"/>
          </p:nvPr>
        </p:nvSpPr>
        <p:spPr>
          <a:xfrm>
            <a:off x="1066800" y="5989320"/>
            <a:ext cx="10058400" cy="228600"/>
          </a:xfrm>
        </p:spPr>
        <p:txBody>
          <a:bodyPr lIns="91440" tIns="45720" rIns="91440" bIns="45720">
            <a:noAutofit/>
          </a:bodyPr>
          <a:lstStyle>
            <a:lvl1pPr marL="0" indent="0" algn="ctr">
              <a:lnSpc>
                <a:spcPct val="100000"/>
              </a:lnSpc>
              <a:spcBef>
                <a:spcPts val="0"/>
              </a:spcBef>
              <a:buNone/>
              <a:defRPr sz="1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Freeform 14">
            <a:extLst>
              <a:ext uri="{FF2B5EF4-FFF2-40B4-BE49-F238E27FC236}">
                <a16:creationId xmlns:a16="http://schemas.microsoft.com/office/drawing/2014/main" id="{0362CD22-E2FC-53A3-52BD-BDB46C1A930A}"/>
              </a:ext>
            </a:extLst>
          </p:cNvPr>
          <p:cNvSpPr/>
          <p:nvPr userDrawn="1"/>
        </p:nvSpPr>
        <p:spPr>
          <a:xfrm>
            <a:off x="11200249" y="94916"/>
            <a:ext cx="912393" cy="898852"/>
          </a:xfrm>
          <a:custGeom>
            <a:avLst/>
            <a:gdLst>
              <a:gd name="connsiteX0" fmla="*/ 912393 w 912393"/>
              <a:gd name="connsiteY0" fmla="*/ 550288 h 898852"/>
              <a:gd name="connsiteX1" fmla="*/ 582601 w 912393"/>
              <a:gd name="connsiteY1" fmla="*/ 408712 h 898852"/>
              <a:gd name="connsiteX2" fmla="*/ 770719 w 912393"/>
              <a:gd name="connsiteY2" fmla="*/ 100760 h 898852"/>
              <a:gd name="connsiteX3" fmla="*/ 484582 w 912393"/>
              <a:gd name="connsiteY3" fmla="*/ 318491 h 898852"/>
              <a:gd name="connsiteX4" fmla="*/ 314522 w 912393"/>
              <a:gd name="connsiteY4" fmla="*/ 0 h 898852"/>
              <a:gd name="connsiteX5" fmla="*/ 358178 w 912393"/>
              <a:gd name="connsiteY5" fmla="*/ 359111 h 898852"/>
              <a:gd name="connsiteX6" fmla="*/ 0 w 912393"/>
              <a:gd name="connsiteY6" fmla="*/ 348761 h 898852"/>
              <a:gd name="connsiteX7" fmla="*/ 329792 w 912393"/>
              <a:gd name="connsiteY7" fmla="*/ 490141 h 898852"/>
              <a:gd name="connsiteX8" fmla="*/ 141674 w 912393"/>
              <a:gd name="connsiteY8" fmla="*/ 798289 h 898852"/>
              <a:gd name="connsiteX9" fmla="*/ 427811 w 912393"/>
              <a:gd name="connsiteY9" fmla="*/ 580361 h 898852"/>
              <a:gd name="connsiteX10" fmla="*/ 597871 w 912393"/>
              <a:gd name="connsiteY10" fmla="*/ 898852 h 898852"/>
              <a:gd name="connsiteX11" fmla="*/ 554406 w 912393"/>
              <a:gd name="connsiteY11" fmla="*/ 539742 h 898852"/>
              <a:gd name="connsiteX12" fmla="*/ 912393 w 912393"/>
              <a:gd name="connsiteY12" fmla="*/ 550288 h 898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2393" h="898852">
                <a:moveTo>
                  <a:pt x="912393" y="550288"/>
                </a:moveTo>
                <a:lnTo>
                  <a:pt x="582601" y="408712"/>
                </a:lnTo>
                <a:lnTo>
                  <a:pt x="770719" y="100760"/>
                </a:lnTo>
                <a:lnTo>
                  <a:pt x="484582" y="318491"/>
                </a:lnTo>
                <a:lnTo>
                  <a:pt x="314522" y="0"/>
                </a:lnTo>
                <a:lnTo>
                  <a:pt x="358178" y="359111"/>
                </a:lnTo>
                <a:lnTo>
                  <a:pt x="0" y="348761"/>
                </a:lnTo>
                <a:lnTo>
                  <a:pt x="329792" y="490141"/>
                </a:lnTo>
                <a:lnTo>
                  <a:pt x="141674" y="798289"/>
                </a:lnTo>
                <a:lnTo>
                  <a:pt x="427811" y="580361"/>
                </a:lnTo>
                <a:lnTo>
                  <a:pt x="597871" y="898852"/>
                </a:lnTo>
                <a:lnTo>
                  <a:pt x="554406" y="539742"/>
                </a:lnTo>
                <a:lnTo>
                  <a:pt x="912393" y="550288"/>
                </a:lnTo>
                <a:close/>
              </a:path>
            </a:pathLst>
          </a:custGeom>
          <a:solidFill>
            <a:schemeClr val="accent1">
              <a:alpha val="75000"/>
            </a:schemeClr>
          </a:solidFill>
          <a:ln w="6334" cap="flat">
            <a:noFill/>
            <a:prstDash val="solid"/>
            <a:miter/>
          </a:ln>
        </p:spPr>
        <p:txBody>
          <a:bodyPr rtlCol="0" anchor="ctr"/>
          <a:lstStyle/>
          <a:p>
            <a:endParaRPr lang="en-US"/>
          </a:p>
        </p:txBody>
      </p:sp>
      <p:sp>
        <p:nvSpPr>
          <p:cNvPr id="20" name="Freeform 18">
            <a:extLst>
              <a:ext uri="{FF2B5EF4-FFF2-40B4-BE49-F238E27FC236}">
                <a16:creationId xmlns:a16="http://schemas.microsoft.com/office/drawing/2014/main" id="{8E16870B-03F1-A530-65FC-443A2FE978EF}"/>
              </a:ext>
            </a:extLst>
          </p:cNvPr>
          <p:cNvSpPr/>
          <p:nvPr userDrawn="1"/>
        </p:nvSpPr>
        <p:spPr>
          <a:xfrm>
            <a:off x="11098720" y="94916"/>
            <a:ext cx="278786" cy="259527"/>
          </a:xfrm>
          <a:custGeom>
            <a:avLst/>
            <a:gdLst>
              <a:gd name="connsiteX0" fmla="*/ 171359 w 278786"/>
              <a:gd name="connsiteY0" fmla="*/ 105801 h 259527"/>
              <a:gd name="connsiteX1" fmla="*/ 194980 w 278786"/>
              <a:gd name="connsiteY1" fmla="*/ 0 h 259527"/>
              <a:gd name="connsiteX2" fmla="*/ 134787 w 278786"/>
              <a:gd name="connsiteY2" fmla="*/ 89859 h 259527"/>
              <a:gd name="connsiteX3" fmla="*/ 55491 w 278786"/>
              <a:gd name="connsiteY3" fmla="*/ 16522 h 259527"/>
              <a:gd name="connsiteX4" fmla="*/ 102815 w 278786"/>
              <a:gd name="connsiteY4" fmla="*/ 113918 h 259527"/>
              <a:gd name="connsiteX5" fmla="*/ 0 w 278786"/>
              <a:gd name="connsiteY5" fmla="*/ 146286 h 259527"/>
              <a:gd name="connsiteX6" fmla="*/ 107428 w 278786"/>
              <a:gd name="connsiteY6" fmla="*/ 153727 h 259527"/>
              <a:gd name="connsiteX7" fmla="*/ 83902 w 278786"/>
              <a:gd name="connsiteY7" fmla="*/ 259528 h 259527"/>
              <a:gd name="connsiteX8" fmla="*/ 144095 w 278786"/>
              <a:gd name="connsiteY8" fmla="*/ 169669 h 259527"/>
              <a:gd name="connsiteX9" fmla="*/ 223296 w 278786"/>
              <a:gd name="connsiteY9" fmla="*/ 243007 h 259527"/>
              <a:gd name="connsiteX10" fmla="*/ 176067 w 278786"/>
              <a:gd name="connsiteY10" fmla="*/ 145610 h 259527"/>
              <a:gd name="connsiteX11" fmla="*/ 278787 w 278786"/>
              <a:gd name="connsiteY11" fmla="*/ 113241 h 259527"/>
              <a:gd name="connsiteX12" fmla="*/ 171359 w 278786"/>
              <a:gd name="connsiteY12" fmla="*/ 105801 h 25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786" h="259527">
                <a:moveTo>
                  <a:pt x="171359" y="105801"/>
                </a:moveTo>
                <a:lnTo>
                  <a:pt x="194980" y="0"/>
                </a:lnTo>
                <a:lnTo>
                  <a:pt x="134787" y="89859"/>
                </a:lnTo>
                <a:lnTo>
                  <a:pt x="55491" y="16522"/>
                </a:lnTo>
                <a:lnTo>
                  <a:pt x="102815" y="113918"/>
                </a:lnTo>
                <a:lnTo>
                  <a:pt x="0" y="146286"/>
                </a:lnTo>
                <a:lnTo>
                  <a:pt x="107428" y="153727"/>
                </a:lnTo>
                <a:lnTo>
                  <a:pt x="83902" y="259528"/>
                </a:lnTo>
                <a:lnTo>
                  <a:pt x="144095" y="169669"/>
                </a:lnTo>
                <a:lnTo>
                  <a:pt x="223296" y="243007"/>
                </a:lnTo>
                <a:lnTo>
                  <a:pt x="176067" y="145610"/>
                </a:lnTo>
                <a:lnTo>
                  <a:pt x="278787" y="113241"/>
                </a:lnTo>
                <a:lnTo>
                  <a:pt x="171359" y="105801"/>
                </a:lnTo>
                <a:close/>
              </a:path>
            </a:pathLst>
          </a:custGeom>
          <a:solidFill>
            <a:schemeClr val="accent1">
              <a:alpha val="85000"/>
            </a:schemeClr>
          </a:solidFill>
          <a:ln w="6334" cap="flat">
            <a:noFill/>
            <a:prstDash val="solid"/>
            <a:miter/>
          </a:ln>
        </p:spPr>
        <p:txBody>
          <a:bodyPr rtlCol="0" anchor="ctr"/>
          <a:lstStyle/>
          <a:p>
            <a:endParaRPr lang="en-US"/>
          </a:p>
        </p:txBody>
      </p:sp>
      <p:sp>
        <p:nvSpPr>
          <p:cNvPr id="21" name="Freeform 19">
            <a:extLst>
              <a:ext uri="{FF2B5EF4-FFF2-40B4-BE49-F238E27FC236}">
                <a16:creationId xmlns:a16="http://schemas.microsoft.com/office/drawing/2014/main" id="{679E00C2-01F4-D45D-977A-FBD12D585895}"/>
              </a:ext>
            </a:extLst>
          </p:cNvPr>
          <p:cNvSpPr/>
          <p:nvPr userDrawn="1"/>
        </p:nvSpPr>
        <p:spPr>
          <a:xfrm>
            <a:off x="310564" y="1750773"/>
            <a:ext cx="261477" cy="241385"/>
          </a:xfrm>
          <a:custGeom>
            <a:avLst/>
            <a:gdLst>
              <a:gd name="connsiteX0" fmla="*/ 307673 w 500548"/>
              <a:gd name="connsiteY0" fmla="*/ 188379 h 462086"/>
              <a:gd name="connsiteX1" fmla="*/ 350074 w 500548"/>
              <a:gd name="connsiteY1" fmla="*/ 0 h 462086"/>
              <a:gd name="connsiteX2" fmla="*/ 242000 w 500548"/>
              <a:gd name="connsiteY2" fmla="*/ 159989 h 462086"/>
              <a:gd name="connsiteX3" fmla="*/ 99628 w 500548"/>
              <a:gd name="connsiteY3" fmla="*/ 29415 h 462086"/>
              <a:gd name="connsiteX4" fmla="*/ 184601 w 500548"/>
              <a:gd name="connsiteY4" fmla="*/ 202830 h 462086"/>
              <a:gd name="connsiteX5" fmla="*/ 0 w 500548"/>
              <a:gd name="connsiteY5" fmla="*/ 260458 h 462086"/>
              <a:gd name="connsiteX6" fmla="*/ 192876 w 500548"/>
              <a:gd name="connsiteY6" fmla="*/ 273707 h 462086"/>
              <a:gd name="connsiteX7" fmla="*/ 150646 w 500548"/>
              <a:gd name="connsiteY7" fmla="*/ 462086 h 462086"/>
              <a:gd name="connsiteX8" fmla="*/ 258720 w 500548"/>
              <a:gd name="connsiteY8" fmla="*/ 302090 h 462086"/>
              <a:gd name="connsiteX9" fmla="*/ 400921 w 500548"/>
              <a:gd name="connsiteY9" fmla="*/ 432671 h 462086"/>
              <a:gd name="connsiteX10" fmla="*/ 316119 w 500548"/>
              <a:gd name="connsiteY10" fmla="*/ 259256 h 462086"/>
              <a:gd name="connsiteX11" fmla="*/ 500549 w 500548"/>
              <a:gd name="connsiteY11" fmla="*/ 201628 h 462086"/>
              <a:gd name="connsiteX12" fmla="*/ 307673 w 500548"/>
              <a:gd name="connsiteY12" fmla="*/ 188379 h 46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0548" h="462086">
                <a:moveTo>
                  <a:pt x="307673" y="188379"/>
                </a:moveTo>
                <a:lnTo>
                  <a:pt x="350074" y="0"/>
                </a:lnTo>
                <a:lnTo>
                  <a:pt x="242000" y="159989"/>
                </a:lnTo>
                <a:lnTo>
                  <a:pt x="99628" y="29415"/>
                </a:lnTo>
                <a:lnTo>
                  <a:pt x="184601" y="202830"/>
                </a:lnTo>
                <a:lnTo>
                  <a:pt x="0" y="260458"/>
                </a:lnTo>
                <a:lnTo>
                  <a:pt x="192876" y="273707"/>
                </a:lnTo>
                <a:lnTo>
                  <a:pt x="150646" y="462086"/>
                </a:lnTo>
                <a:lnTo>
                  <a:pt x="258720" y="302090"/>
                </a:lnTo>
                <a:lnTo>
                  <a:pt x="400921" y="432671"/>
                </a:lnTo>
                <a:lnTo>
                  <a:pt x="316119" y="259256"/>
                </a:lnTo>
                <a:lnTo>
                  <a:pt x="500549" y="201628"/>
                </a:lnTo>
                <a:lnTo>
                  <a:pt x="307673" y="188379"/>
                </a:lnTo>
                <a:close/>
              </a:path>
            </a:pathLst>
          </a:custGeom>
          <a:solidFill>
            <a:schemeClr val="accent1">
              <a:alpha val="85000"/>
            </a:schemeClr>
          </a:solidFill>
          <a:ln w="6334" cap="flat">
            <a:noFill/>
            <a:prstDash val="solid"/>
            <a:miter/>
          </a:ln>
        </p:spPr>
        <p:txBody>
          <a:bodyPr rtlCol="0" anchor="ctr"/>
          <a:lstStyle/>
          <a:p>
            <a:endParaRPr lang="en-US"/>
          </a:p>
        </p:txBody>
      </p:sp>
      <p:sp>
        <p:nvSpPr>
          <p:cNvPr id="23" name="Freeform 27">
            <a:extLst>
              <a:ext uri="{FF2B5EF4-FFF2-40B4-BE49-F238E27FC236}">
                <a16:creationId xmlns:a16="http://schemas.microsoft.com/office/drawing/2014/main" id="{9583E0D1-023B-39F3-B124-287969DDC550}"/>
              </a:ext>
            </a:extLst>
          </p:cNvPr>
          <p:cNvSpPr/>
          <p:nvPr userDrawn="1"/>
        </p:nvSpPr>
        <p:spPr>
          <a:xfrm>
            <a:off x="11816509" y="6358965"/>
            <a:ext cx="179007" cy="349050"/>
          </a:xfrm>
          <a:custGeom>
            <a:avLst/>
            <a:gdLst>
              <a:gd name="connsiteX0" fmla="*/ 452458 w 730205"/>
              <a:gd name="connsiteY0" fmla="*/ 727841 h 1423844"/>
              <a:gd name="connsiteX1" fmla="*/ 730206 w 730205"/>
              <a:gd name="connsiteY1" fmla="*/ 479923 h 1423844"/>
              <a:gd name="connsiteX2" fmla="*/ 410494 w 730205"/>
              <a:gd name="connsiteY2" fmla="*/ 627303 h 1423844"/>
              <a:gd name="connsiteX3" fmla="*/ 365103 w 730205"/>
              <a:gd name="connsiteY3" fmla="*/ 0 h 1423844"/>
              <a:gd name="connsiteX4" fmla="*/ 319711 w 730205"/>
              <a:gd name="connsiteY4" fmla="*/ 627303 h 1423844"/>
              <a:gd name="connsiteX5" fmla="*/ 0 w 730205"/>
              <a:gd name="connsiteY5" fmla="*/ 479923 h 1423844"/>
              <a:gd name="connsiteX6" fmla="*/ 277741 w 730205"/>
              <a:gd name="connsiteY6" fmla="*/ 727841 h 1423844"/>
              <a:gd name="connsiteX7" fmla="*/ 0 w 730205"/>
              <a:gd name="connsiteY7" fmla="*/ 975766 h 1423844"/>
              <a:gd name="connsiteX8" fmla="*/ 321935 w 730205"/>
              <a:gd name="connsiteY8" fmla="*/ 827348 h 1423844"/>
              <a:gd name="connsiteX9" fmla="*/ 365103 w 730205"/>
              <a:gd name="connsiteY9" fmla="*/ 1423844 h 1423844"/>
              <a:gd name="connsiteX10" fmla="*/ 408264 w 730205"/>
              <a:gd name="connsiteY10" fmla="*/ 827348 h 1423844"/>
              <a:gd name="connsiteX11" fmla="*/ 730206 w 730205"/>
              <a:gd name="connsiteY11" fmla="*/ 975766 h 1423844"/>
              <a:gd name="connsiteX12" fmla="*/ 452458 w 730205"/>
              <a:gd name="connsiteY12" fmla="*/ 727841 h 142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0205" h="1423844">
                <a:moveTo>
                  <a:pt x="452458" y="727841"/>
                </a:moveTo>
                <a:lnTo>
                  <a:pt x="730206" y="479923"/>
                </a:lnTo>
                <a:lnTo>
                  <a:pt x="410494" y="627303"/>
                </a:lnTo>
                <a:lnTo>
                  <a:pt x="365103" y="0"/>
                </a:lnTo>
                <a:lnTo>
                  <a:pt x="319711" y="627303"/>
                </a:lnTo>
                <a:lnTo>
                  <a:pt x="0" y="479923"/>
                </a:lnTo>
                <a:lnTo>
                  <a:pt x="277741" y="727841"/>
                </a:lnTo>
                <a:lnTo>
                  <a:pt x="0" y="975766"/>
                </a:lnTo>
                <a:lnTo>
                  <a:pt x="321935" y="827348"/>
                </a:lnTo>
                <a:lnTo>
                  <a:pt x="365103" y="1423844"/>
                </a:lnTo>
                <a:lnTo>
                  <a:pt x="408264" y="827348"/>
                </a:lnTo>
                <a:lnTo>
                  <a:pt x="730206" y="975766"/>
                </a:lnTo>
                <a:lnTo>
                  <a:pt x="452458" y="727841"/>
                </a:lnTo>
                <a:close/>
              </a:path>
            </a:pathLst>
          </a:custGeom>
          <a:solidFill>
            <a:schemeClr val="accent1">
              <a:alpha val="60000"/>
            </a:schemeClr>
          </a:solidFill>
          <a:ln w="6334" cap="flat">
            <a:noFill/>
            <a:prstDash val="solid"/>
            <a:miter/>
          </a:ln>
        </p:spPr>
        <p:txBody>
          <a:bodyPr rtlCol="0" anchor="ctr"/>
          <a:lstStyle/>
          <a:p>
            <a:endParaRPr lang="en-US"/>
          </a:p>
        </p:txBody>
      </p:sp>
      <p:sp>
        <p:nvSpPr>
          <p:cNvPr id="24" name="Freeform 6">
            <a:extLst>
              <a:ext uri="{FF2B5EF4-FFF2-40B4-BE49-F238E27FC236}">
                <a16:creationId xmlns:a16="http://schemas.microsoft.com/office/drawing/2014/main" id="{90EA8969-DFE1-D18C-5372-653405CDCEE7}"/>
              </a:ext>
            </a:extLst>
          </p:cNvPr>
          <p:cNvSpPr/>
          <p:nvPr userDrawn="1"/>
        </p:nvSpPr>
        <p:spPr>
          <a:xfrm>
            <a:off x="237880" y="995307"/>
            <a:ext cx="258167" cy="257918"/>
          </a:xfrm>
          <a:custGeom>
            <a:avLst/>
            <a:gdLst>
              <a:gd name="connsiteX0" fmla="*/ 287848 w 494212"/>
              <a:gd name="connsiteY0" fmla="*/ 159205 h 493735"/>
              <a:gd name="connsiteX1" fmla="*/ 249134 w 494212"/>
              <a:gd name="connsiteY1" fmla="*/ 0 h 493735"/>
              <a:gd name="connsiteX2" fmla="*/ 207823 w 494212"/>
              <a:gd name="connsiteY2" fmla="*/ 158527 h 493735"/>
              <a:gd name="connsiteX3" fmla="*/ 159352 w 494212"/>
              <a:gd name="connsiteY3" fmla="*/ 206192 h 493735"/>
              <a:gd name="connsiteX4" fmla="*/ 0 w 494212"/>
              <a:gd name="connsiteY4" fmla="*/ 244830 h 493735"/>
              <a:gd name="connsiteX5" fmla="*/ 158655 w 494212"/>
              <a:gd name="connsiteY5" fmla="*/ 286088 h 493735"/>
              <a:gd name="connsiteX6" fmla="*/ 206365 w 494212"/>
              <a:gd name="connsiteY6" fmla="*/ 334531 h 493735"/>
              <a:gd name="connsiteX7" fmla="*/ 245079 w 494212"/>
              <a:gd name="connsiteY7" fmla="*/ 493736 h 493735"/>
              <a:gd name="connsiteX8" fmla="*/ 286390 w 494212"/>
              <a:gd name="connsiteY8" fmla="*/ 335209 h 493735"/>
              <a:gd name="connsiteX9" fmla="*/ 334861 w 494212"/>
              <a:gd name="connsiteY9" fmla="*/ 287544 h 493735"/>
              <a:gd name="connsiteX10" fmla="*/ 494213 w 494212"/>
              <a:gd name="connsiteY10" fmla="*/ 248906 h 493735"/>
              <a:gd name="connsiteX11" fmla="*/ 335558 w 494212"/>
              <a:gd name="connsiteY11" fmla="*/ 207648 h 493735"/>
              <a:gd name="connsiteX12" fmla="*/ 287848 w 494212"/>
              <a:gd name="connsiteY12" fmla="*/ 159205 h 493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4212" h="493735">
                <a:moveTo>
                  <a:pt x="287848" y="159205"/>
                </a:moveTo>
                <a:lnTo>
                  <a:pt x="249134" y="0"/>
                </a:lnTo>
                <a:lnTo>
                  <a:pt x="207823" y="158527"/>
                </a:lnTo>
                <a:cubicBezTo>
                  <a:pt x="201740" y="182119"/>
                  <a:pt x="183049" y="200368"/>
                  <a:pt x="159352" y="206192"/>
                </a:cubicBezTo>
                <a:lnTo>
                  <a:pt x="0" y="244830"/>
                </a:lnTo>
                <a:lnTo>
                  <a:pt x="158655" y="286088"/>
                </a:lnTo>
                <a:cubicBezTo>
                  <a:pt x="182289" y="292203"/>
                  <a:pt x="200537" y="310845"/>
                  <a:pt x="206365" y="334531"/>
                </a:cubicBezTo>
                <a:lnTo>
                  <a:pt x="245079" y="493736"/>
                </a:lnTo>
                <a:lnTo>
                  <a:pt x="286390" y="335209"/>
                </a:lnTo>
                <a:cubicBezTo>
                  <a:pt x="292473" y="311617"/>
                  <a:pt x="311164" y="293368"/>
                  <a:pt x="334861" y="287544"/>
                </a:cubicBezTo>
                <a:lnTo>
                  <a:pt x="494213" y="248906"/>
                </a:lnTo>
                <a:lnTo>
                  <a:pt x="335558" y="207648"/>
                </a:lnTo>
                <a:cubicBezTo>
                  <a:pt x="311797" y="201533"/>
                  <a:pt x="293550" y="182891"/>
                  <a:pt x="287848" y="159205"/>
                </a:cubicBezTo>
                <a:close/>
              </a:path>
            </a:pathLst>
          </a:custGeom>
          <a:solidFill>
            <a:schemeClr val="accent1">
              <a:alpha val="60000"/>
            </a:schemeClr>
          </a:solidFill>
          <a:ln w="6334" cap="flat">
            <a:noFill/>
            <a:prstDash val="solid"/>
            <a:miter/>
          </a:ln>
        </p:spPr>
        <p:txBody>
          <a:bodyPr rtlCol="0" anchor="ctr"/>
          <a:lstStyle/>
          <a:p>
            <a:endParaRPr lang="en-US"/>
          </a:p>
        </p:txBody>
      </p:sp>
      <p:sp>
        <p:nvSpPr>
          <p:cNvPr id="25" name="Freeform 4">
            <a:extLst>
              <a:ext uri="{FF2B5EF4-FFF2-40B4-BE49-F238E27FC236}">
                <a16:creationId xmlns:a16="http://schemas.microsoft.com/office/drawing/2014/main" id="{0A5CB5E5-615C-34C8-3C87-778BAB0AD0EA}"/>
              </a:ext>
            </a:extLst>
          </p:cNvPr>
          <p:cNvSpPr>
            <a:spLocks noChangeAspect="1"/>
          </p:cNvSpPr>
          <p:nvPr userDrawn="1"/>
        </p:nvSpPr>
        <p:spPr>
          <a:xfrm>
            <a:off x="115221" y="2363724"/>
            <a:ext cx="389201" cy="752230"/>
          </a:xfrm>
          <a:custGeom>
            <a:avLst/>
            <a:gdLst>
              <a:gd name="connsiteX0" fmla="*/ 514654 w 830579"/>
              <a:gd name="connsiteY0" fmla="*/ 820603 h 1605305"/>
              <a:gd name="connsiteX1" fmla="*/ 830579 w 830579"/>
              <a:gd name="connsiteY1" fmla="*/ 541091 h 1605305"/>
              <a:gd name="connsiteX2" fmla="*/ 466922 w 830579"/>
              <a:gd name="connsiteY2" fmla="*/ 707251 h 1605305"/>
              <a:gd name="connsiteX3" fmla="*/ 415290 w 830579"/>
              <a:gd name="connsiteY3" fmla="*/ 0 h 1605305"/>
              <a:gd name="connsiteX4" fmla="*/ 363657 w 830579"/>
              <a:gd name="connsiteY4" fmla="*/ 707251 h 1605305"/>
              <a:gd name="connsiteX5" fmla="*/ 0 w 830579"/>
              <a:gd name="connsiteY5" fmla="*/ 541091 h 1605305"/>
              <a:gd name="connsiteX6" fmla="*/ 315925 w 830579"/>
              <a:gd name="connsiteY6" fmla="*/ 820603 h 1605305"/>
              <a:gd name="connsiteX7" fmla="*/ 0 w 830579"/>
              <a:gd name="connsiteY7" fmla="*/ 1100126 h 1605305"/>
              <a:gd name="connsiteX8" fmla="*/ 366194 w 830579"/>
              <a:gd name="connsiteY8" fmla="*/ 932793 h 1605305"/>
              <a:gd name="connsiteX9" fmla="*/ 415290 w 830579"/>
              <a:gd name="connsiteY9" fmla="*/ 1605306 h 1605305"/>
              <a:gd name="connsiteX10" fmla="*/ 464391 w 830579"/>
              <a:gd name="connsiteY10" fmla="*/ 932793 h 1605305"/>
              <a:gd name="connsiteX11" fmla="*/ 830579 w 830579"/>
              <a:gd name="connsiteY11" fmla="*/ 1100126 h 1605305"/>
              <a:gd name="connsiteX12" fmla="*/ 514654 w 830579"/>
              <a:gd name="connsiteY12" fmla="*/ 820603 h 1605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0579" h="1605305">
                <a:moveTo>
                  <a:pt x="514654" y="820603"/>
                </a:moveTo>
                <a:lnTo>
                  <a:pt x="830579" y="541091"/>
                </a:lnTo>
                <a:lnTo>
                  <a:pt x="466922" y="707251"/>
                </a:lnTo>
                <a:lnTo>
                  <a:pt x="415290" y="0"/>
                </a:lnTo>
                <a:lnTo>
                  <a:pt x="363657" y="707251"/>
                </a:lnTo>
                <a:lnTo>
                  <a:pt x="0" y="541091"/>
                </a:lnTo>
                <a:lnTo>
                  <a:pt x="315925" y="820603"/>
                </a:lnTo>
                <a:lnTo>
                  <a:pt x="0" y="1100126"/>
                </a:lnTo>
                <a:lnTo>
                  <a:pt x="366194" y="932793"/>
                </a:lnTo>
                <a:lnTo>
                  <a:pt x="415290" y="1605306"/>
                </a:lnTo>
                <a:lnTo>
                  <a:pt x="464391" y="932793"/>
                </a:lnTo>
                <a:lnTo>
                  <a:pt x="830579" y="1100126"/>
                </a:lnTo>
                <a:lnTo>
                  <a:pt x="514654" y="820603"/>
                </a:lnTo>
                <a:close/>
              </a:path>
            </a:pathLst>
          </a:custGeom>
          <a:solidFill>
            <a:schemeClr val="accent1">
              <a:alpha val="85000"/>
            </a:schemeClr>
          </a:solidFill>
          <a:ln w="6310" cap="flat">
            <a:noFill/>
            <a:prstDash val="solid"/>
            <a:miter/>
          </a:ln>
        </p:spPr>
        <p:txBody>
          <a:bodyPr rtlCol="0" anchor="ctr"/>
          <a:lstStyle/>
          <a:p>
            <a:endParaRPr lang="en-US"/>
          </a:p>
        </p:txBody>
      </p:sp>
    </p:spTree>
    <p:extLst>
      <p:ext uri="{BB962C8B-B14F-4D97-AF65-F5344CB8AC3E}">
        <p14:creationId xmlns:p14="http://schemas.microsoft.com/office/powerpoint/2010/main" val="3494881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163782" y="1825625"/>
            <a:ext cx="10647218"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154943" y="6296643"/>
            <a:ext cx="365760" cy="182880"/>
          </a:xfrm>
          <a:prstGeom prst="rect">
            <a:avLst/>
          </a:prstGeom>
        </p:spPr>
        <p:txBody>
          <a:bodyPr vert="horz" lIns="91440" tIns="45720" rIns="91440" bIns="45720" rtlCol="0" anchor="ctr">
            <a:noAutofit/>
          </a:bodyPr>
          <a:lstStyle>
            <a:lvl1pPr algn="ctr">
              <a:defRPr sz="1200">
                <a:solidFill>
                  <a:schemeClr val="accent1">
                    <a:lumMod val="60000"/>
                    <a:lumOff val="40000"/>
                  </a:schemeClr>
                </a:solidFill>
                <a:latin typeface="+mn-lt"/>
                <a:cs typeface="Gill Sans Nova Light" panose="020F0302020204030204" pitchFamily="34" charset="0"/>
              </a:defRPr>
            </a:lvl1pPr>
          </a:lstStyle>
          <a:p>
            <a:fld id="{294A09A9-5501-47C1-A89A-A340965A2BE2}" type="slidenum">
              <a:rPr lang="en-US" smtClean="0"/>
              <a:pPr/>
              <a:t>‹#›</a:t>
            </a:fld>
            <a:endParaRPr lang="en-US"/>
          </a:p>
        </p:txBody>
      </p:sp>
      <p:sp>
        <p:nvSpPr>
          <p:cNvPr id="4" name="Title Placeholder 3">
            <a:extLst>
              <a:ext uri="{FF2B5EF4-FFF2-40B4-BE49-F238E27FC236}">
                <a16:creationId xmlns:a16="http://schemas.microsoft.com/office/drawing/2014/main" id="{E8937C63-F38E-27BD-9286-26AFB29AE5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p>
        </p:txBody>
      </p:sp>
      <p:sp>
        <p:nvSpPr>
          <p:cNvPr id="19" name="Footer Placeholder 18">
            <a:extLst>
              <a:ext uri="{FF2B5EF4-FFF2-40B4-BE49-F238E27FC236}">
                <a16:creationId xmlns:a16="http://schemas.microsoft.com/office/drawing/2014/main" id="{B394E6A8-AE9D-E16B-06DD-39CD026F2929}"/>
              </a:ext>
            </a:extLst>
          </p:cNvPr>
          <p:cNvSpPr>
            <a:spLocks noGrp="1"/>
          </p:cNvSpPr>
          <p:nvPr>
            <p:ph type="ftr" sz="quarter" idx="3"/>
          </p:nvPr>
        </p:nvSpPr>
        <p:spPr>
          <a:xfrm rot="16200000">
            <a:off x="-1122888" y="3322101"/>
            <a:ext cx="2912693" cy="182880"/>
          </a:xfrm>
          <a:prstGeom prst="rect">
            <a:avLst/>
          </a:prstGeom>
        </p:spPr>
        <p:txBody>
          <a:bodyPr vert="horz" lIns="91440" tIns="45720" rIns="91440" bIns="45720" rtlCol="0" anchor="ctr">
            <a:noAutofit/>
          </a:bodyPr>
          <a:lstStyle>
            <a:lvl1pPr algn="ctr">
              <a:defRPr sz="1200" b="0" i="0" cap="all" spc="300" baseline="0">
                <a:solidFill>
                  <a:schemeClr val="accent1">
                    <a:lumMod val="60000"/>
                    <a:lumOff val="40000"/>
                  </a:schemeClr>
                </a:solidFill>
                <a:latin typeface="+mn-lt"/>
              </a:defRPr>
            </a:lvl1pPr>
          </a:lstStyle>
          <a:p>
            <a:r>
              <a:rPr lang="en-US"/>
              <a:t>CREATE YOUR OWN RPG</a:t>
            </a: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60" r:id="rId1"/>
    <p:sldLayoutId id="2147483665" r:id="rId2"/>
    <p:sldLayoutId id="2147483788" r:id="rId3"/>
    <p:sldLayoutId id="2147483789" r:id="rId4"/>
    <p:sldLayoutId id="2147483790" r:id="rId5"/>
    <p:sldLayoutId id="2147483791" r:id="rId6"/>
    <p:sldLayoutId id="2147483792" r:id="rId7"/>
    <p:sldLayoutId id="2147483786" r:id="rId8"/>
    <p:sldLayoutId id="2147483661" r:id="rId9"/>
  </p:sldLayoutIdLst>
  <p:hf hdr="0" dt="0"/>
  <p:txStyles>
    <p:titleStyle>
      <a:lvl1pPr algn="l" defTabSz="914400" rtl="0" eaLnBrk="1" latinLnBrk="0" hangingPunct="1">
        <a:lnSpc>
          <a:spcPct val="90000"/>
        </a:lnSpc>
        <a:spcBef>
          <a:spcPct val="0"/>
        </a:spcBef>
        <a:buNone/>
        <a:defRPr sz="4800" kern="1200" cap="none" spc="300" baseline="0">
          <a:solidFill>
            <a:srgbClr val="002060"/>
          </a:solidFill>
          <a:latin typeface="Book Antiqua" panose="02040602050305030304" pitchFamily="18" charset="0"/>
          <a:ea typeface="+mj-ea"/>
          <a:cs typeface="Angsana New" panose="020B0502040204020203" pitchFamily="18" charset="-34"/>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Gill Sans Nova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Gill Sans Nova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Gill Sans Nova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Gill Sans Nova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Gill Sans Nova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7BBF5C00_D8ED8DC6.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microsoft.com/office/2018/10/relationships/comments" Target="../comments/modernComment_15F_FDAFA97D.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61_A2F2EA35.xm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6.jpeg"/></Relationships>
</file>

<file path=ppt/slides/_rels/slide6.xml.rels><?xml version="1.0" encoding="UTF-8" standalone="yes"?>
<Relationships xmlns="http://schemas.openxmlformats.org/package/2006/relationships"><Relationship Id="rId3" Type="http://schemas.microsoft.com/office/2018/10/relationships/comments" Target="../comments/modernComment_7BBF5BFB_6215B2C6.xml"/><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8.jpeg"/><Relationship Id="rId7" Type="http://schemas.openxmlformats.org/officeDocument/2006/relationships/customXml" Target="../ink/ink2.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customXml" Target="../ink/ink1.xml"/><Relationship Id="rId4" Type="http://schemas.openxmlformats.org/officeDocument/2006/relationships/hyperlink" Target="https://en.wikipedia.org/wiki/Snakes_and_ladders" TargetMode="External"/></Relationships>
</file>

<file path=ppt/slides/_rels/slide8.xml.rels><?xml version="1.0" encoding="UTF-8" standalone="yes"?>
<Relationships xmlns="http://schemas.openxmlformats.org/package/2006/relationships"><Relationship Id="rId3" Type="http://schemas.microsoft.com/office/2018/10/relationships/comments" Target="../comments/modernComment_170_84B7D4E0.xml"/><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26.svg"/><Relationship Id="rId3" Type="http://schemas.microsoft.com/office/2018/10/relationships/comments" Target="../comments/modernComment_7BBF5C02_E7E293AE.xml"/><Relationship Id="rId7" Type="http://schemas.openxmlformats.org/officeDocument/2006/relationships/image" Target="../media/image25.sv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4.svg"/><Relationship Id="rId11" Type="http://schemas.openxmlformats.org/officeDocument/2006/relationships/hyperlink" Target="https://cavalrygames.com/ten-candles-info" TargetMode="External"/><Relationship Id="rId5" Type="http://schemas.openxmlformats.org/officeDocument/2006/relationships/image" Target="../media/image23.svg"/><Relationship Id="rId10" Type="http://schemas.microsoft.com/office/2007/relationships/hdphoto" Target="../media/hdphoto2.wdp"/><Relationship Id="rId4" Type="http://schemas.openxmlformats.org/officeDocument/2006/relationships/image" Target="../media/image22.png"/><Relationship Id="rId9"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165_1562894F.xml"/><Relationship Id="rId7" Type="http://schemas.openxmlformats.org/officeDocument/2006/relationships/image" Target="../media/image32.sv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svg"/></Relationships>
</file>

<file path=ppt/slides/_rels/slide1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3" Type="http://schemas.microsoft.com/office/2018/10/relationships/comments" Target="../comments/modernComment_7BBF5BFA_95E23982.xml"/><Relationship Id="rId7"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16B_5B2997F1.xm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41.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8" Type="http://schemas.openxmlformats.org/officeDocument/2006/relationships/hyperlink" Target="https://rtwolf.github.io/Everyone-is-John/" TargetMode="External"/><Relationship Id="rId13" Type="http://schemas.openxmlformats.org/officeDocument/2006/relationships/hyperlink" Target="https://fallout.fandom.com/wiki/Caravan_(game)" TargetMode="External"/><Relationship Id="rId3" Type="http://schemas.openxmlformats.org/officeDocument/2006/relationships/hyperlink" Target="https://www.dndbeyond.com/sources/dnd/basic-rules-2014" TargetMode="External"/><Relationship Id="rId7" Type="http://schemas.openxmlformats.org/officeDocument/2006/relationships/hyperlink" Target="https://buriedwithoutceremony.com/the-quiet-year" TargetMode="External"/><Relationship Id="rId12" Type="http://schemas.openxmlformats.org/officeDocument/2006/relationships/hyperlink" Target="https://www.tiltingatwindmills.net/games/dread/" TargetMode="External"/><Relationship Id="rId2" Type="http://schemas.openxmlformats.org/officeDocument/2006/relationships/notesSlide" Target="../notesSlides/notesSlide15.xml"/><Relationship Id="rId1" Type="http://schemas.openxmlformats.org/officeDocument/2006/relationships/slideLayout" Target="../slideLayouts/slideLayout9.xml"/><Relationship Id="rId6" Type="http://schemas.openxmlformats.org/officeDocument/2006/relationships/hyperlink" Target="https://cavalrygames.com/ten-candles-info" TargetMode="External"/><Relationship Id="rId11" Type="http://schemas.openxmlformats.org/officeDocument/2006/relationships/hyperlink" Target="https://www.huntersentertainment.com/alice-is-missing" TargetMode="External"/><Relationship Id="rId5" Type="http://schemas.openxmlformats.org/officeDocument/2006/relationships/hyperlink" Target="https://aka.ms/OnePageWorksheet/GarageExample" TargetMode="External"/><Relationship Id="rId10" Type="http://schemas.openxmlformats.org/officeDocument/2006/relationships/hyperlink" Target="https://dumbluckinteractive.itch.io/astronomers" TargetMode="External"/><Relationship Id="rId4" Type="http://schemas.openxmlformats.org/officeDocument/2006/relationships/hyperlink" Target="https://johnharper.itch.io/lasers-feelings" TargetMode="External"/><Relationship Id="rId9" Type="http://schemas.openxmlformats.org/officeDocument/2006/relationships/hyperlink" Target="https://dumbluckinteractive.itch.io/road-trippin"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21.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02116-4A71-EB63-288F-5071BFB22713}"/>
              </a:ext>
            </a:extLst>
          </p:cNvPr>
          <p:cNvSpPr>
            <a:spLocks noGrp="1"/>
          </p:cNvSpPr>
          <p:nvPr>
            <p:ph type="ctrTitle"/>
          </p:nvPr>
        </p:nvSpPr>
        <p:spPr/>
        <p:txBody>
          <a:bodyPr/>
          <a:lstStyle/>
          <a:p>
            <a:r>
              <a:rPr lang="en-US"/>
              <a:t>Create your own one-page RPG</a:t>
            </a:r>
          </a:p>
        </p:txBody>
      </p:sp>
      <p:sp>
        <p:nvSpPr>
          <p:cNvPr id="3" name="Subtitle 2">
            <a:extLst>
              <a:ext uri="{FF2B5EF4-FFF2-40B4-BE49-F238E27FC236}">
                <a16:creationId xmlns:a16="http://schemas.microsoft.com/office/drawing/2014/main" id="{DD9336AD-91F1-2AEE-2B48-E4E5229BE805}"/>
              </a:ext>
            </a:extLst>
          </p:cNvPr>
          <p:cNvSpPr>
            <a:spLocks noGrp="1"/>
          </p:cNvSpPr>
          <p:nvPr>
            <p:ph type="subTitle" idx="1"/>
          </p:nvPr>
        </p:nvSpPr>
        <p:spPr>
          <a:xfrm>
            <a:off x="1066800" y="2074156"/>
            <a:ext cx="10058400" cy="685799"/>
          </a:xfrm>
        </p:spPr>
        <p:txBody>
          <a:bodyPr/>
          <a:lstStyle/>
          <a:p>
            <a:r>
              <a:rPr lang="en-US" b="1">
                <a:latin typeface="Aptos" panose="020B0004020202020204" pitchFamily="34" charset="0"/>
              </a:rPr>
              <a:t>Nina NAVAZIO | Deepti</a:t>
            </a:r>
            <a:r>
              <a:rPr lang="en-US" b="1">
                <a:latin typeface="Aptos" panose="020B0004020202020204" pitchFamily="34" charset="0"/>
                <a:ea typeface="+mn-lt"/>
                <a:cs typeface="+mn-lt"/>
              </a:rPr>
              <a:t> Vaidyanathan</a:t>
            </a:r>
          </a:p>
          <a:p>
            <a:r>
              <a:rPr lang="en-US" b="1">
                <a:latin typeface="Aptos" panose="020B0004020202020204" pitchFamily="34" charset="0"/>
                <a:ea typeface="+mn-lt"/>
                <a:cs typeface="+mn-lt"/>
              </a:rPr>
              <a:t>Thanks to: </a:t>
            </a:r>
            <a:r>
              <a:rPr lang="en-US" b="1">
                <a:latin typeface="Aptos" panose="020B0004020202020204" pitchFamily="34" charset="0"/>
              </a:rPr>
              <a:t>William ASSAF</a:t>
            </a:r>
          </a:p>
        </p:txBody>
      </p:sp>
      <p:sp>
        <p:nvSpPr>
          <p:cNvPr id="4" name="Content Placeholder 3">
            <a:extLst>
              <a:ext uri="{FF2B5EF4-FFF2-40B4-BE49-F238E27FC236}">
                <a16:creationId xmlns:a16="http://schemas.microsoft.com/office/drawing/2014/main" id="{EC19ED83-A9C6-168E-67F7-AD37213D7A85}"/>
              </a:ext>
            </a:extLst>
          </p:cNvPr>
          <p:cNvSpPr>
            <a:spLocks noGrp="1"/>
          </p:cNvSpPr>
          <p:nvPr>
            <p:ph idx="10"/>
          </p:nvPr>
        </p:nvSpPr>
        <p:spPr>
          <a:xfrm>
            <a:off x="715618" y="3428811"/>
            <a:ext cx="10760765" cy="2359196"/>
          </a:xfrm>
        </p:spPr>
        <p:txBody>
          <a:bodyPr vert="horz" lIns="0" tIns="0" rIns="0" bIns="0" rtlCol="0" anchor="t">
            <a:noAutofit/>
          </a:bodyPr>
          <a:lstStyle/>
          <a:p>
            <a:pPr marL="0" indent="0">
              <a:buNone/>
            </a:pPr>
            <a:r>
              <a:rPr lang="en-US" sz="3200" i="1">
                <a:latin typeface="Aptos"/>
              </a:rPr>
              <a:t>Checklist</a:t>
            </a:r>
          </a:p>
          <a:p>
            <a:pPr>
              <a:buFont typeface="Wingdings" panose="05000000000000000000" pitchFamily="2" charset="2"/>
              <a:buChar char="q"/>
            </a:pPr>
            <a:r>
              <a:rPr lang="en-US" sz="3200" i="1">
                <a:latin typeface="Aptos"/>
              </a:rPr>
              <a:t>Grab worksheets (should be 2 pages)</a:t>
            </a:r>
          </a:p>
          <a:p>
            <a:pPr marL="457200" lvl="1" indent="0">
              <a:buNone/>
            </a:pPr>
            <a:r>
              <a:rPr lang="en-US" sz="2800" i="1">
                <a:latin typeface="Aptos"/>
              </a:rPr>
              <a:t>Or go to: tinyurl.com/</a:t>
            </a:r>
            <a:r>
              <a:rPr lang="en-US" sz="2800" i="1" err="1">
                <a:latin typeface="Aptos"/>
              </a:rPr>
              <a:t>CreateYourOwnOnePageRPG</a:t>
            </a:r>
            <a:r>
              <a:rPr lang="en-US" sz="2800" i="1">
                <a:latin typeface="Aptos"/>
              </a:rPr>
              <a:t> &gt; Worksheets</a:t>
            </a:r>
            <a:br>
              <a:rPr lang="en-US" sz="2800" i="1">
                <a:latin typeface="Aptos"/>
              </a:rPr>
            </a:br>
            <a:endParaRPr lang="en-US" sz="2800" i="1">
              <a:latin typeface="Aptos"/>
            </a:endParaRPr>
          </a:p>
          <a:p>
            <a:pPr>
              <a:buFont typeface="Wingdings" panose="05000000000000000000" pitchFamily="2" charset="2"/>
              <a:buChar char="q"/>
            </a:pPr>
            <a:r>
              <a:rPr lang="en-US" sz="3200" i="1">
                <a:latin typeface="Aptos"/>
              </a:rPr>
              <a:t>Answer at your table: If your favorite game existed, what would it be like?</a:t>
            </a:r>
          </a:p>
          <a:p>
            <a:pPr>
              <a:buFont typeface="Wingdings" panose="05000000000000000000" pitchFamily="2" charset="2"/>
              <a:buChar char="q"/>
            </a:pPr>
            <a:endParaRPr lang="en-US" sz="3200" i="1"/>
          </a:p>
        </p:txBody>
      </p:sp>
    </p:spTree>
    <p:extLst>
      <p:ext uri="{BB962C8B-B14F-4D97-AF65-F5344CB8AC3E}">
        <p14:creationId xmlns:p14="http://schemas.microsoft.com/office/powerpoint/2010/main" val="1818667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3E76A-59A8-9867-7766-6B760A35A8D5}"/>
              </a:ext>
            </a:extLst>
          </p:cNvPr>
          <p:cNvSpPr>
            <a:spLocks noGrp="1"/>
          </p:cNvSpPr>
          <p:nvPr>
            <p:ph type="title"/>
          </p:nvPr>
        </p:nvSpPr>
        <p:spPr/>
        <p:txBody>
          <a:bodyPr/>
          <a:lstStyle/>
          <a:p>
            <a:r>
              <a:rPr lang="en-US"/>
              <a:t>Overview</a:t>
            </a:r>
          </a:p>
        </p:txBody>
      </p:sp>
      <p:sp>
        <p:nvSpPr>
          <p:cNvPr id="3" name="Content Placeholder 2">
            <a:extLst>
              <a:ext uri="{FF2B5EF4-FFF2-40B4-BE49-F238E27FC236}">
                <a16:creationId xmlns:a16="http://schemas.microsoft.com/office/drawing/2014/main" id="{1EA1CDDE-5DFF-3847-6A65-F813D08B20D0}"/>
              </a:ext>
            </a:extLst>
          </p:cNvPr>
          <p:cNvSpPr>
            <a:spLocks noGrp="1"/>
          </p:cNvSpPr>
          <p:nvPr>
            <p:ph idx="1"/>
          </p:nvPr>
        </p:nvSpPr>
        <p:spPr>
          <a:xfrm>
            <a:off x="771741" y="1352844"/>
            <a:ext cx="11225714" cy="801894"/>
          </a:xfrm>
        </p:spPr>
        <p:txBody>
          <a:bodyPr/>
          <a:lstStyle/>
          <a:p>
            <a:pPr marL="0" indent="0">
              <a:buNone/>
            </a:pPr>
            <a:r>
              <a:rPr lang="en-US">
                <a:latin typeface="Aptos" panose="020B0004020202020204" pitchFamily="34" charset="0"/>
              </a:rPr>
              <a:t>By the end of this workshop, you will have filled out both worksheets, or have plans to fill it all out and be inspired to continue creating and playing RPGs.</a:t>
            </a:r>
          </a:p>
        </p:txBody>
      </p:sp>
      <p:sp>
        <p:nvSpPr>
          <p:cNvPr id="4" name="Footer Placeholder 3">
            <a:extLst>
              <a:ext uri="{FF2B5EF4-FFF2-40B4-BE49-F238E27FC236}">
                <a16:creationId xmlns:a16="http://schemas.microsoft.com/office/drawing/2014/main" id="{AC65D524-AF5D-9A0B-AB1F-9E59CB9B1347}"/>
              </a:ext>
            </a:extLst>
          </p:cNvPr>
          <p:cNvSpPr>
            <a:spLocks noGrp="1"/>
          </p:cNvSpPr>
          <p:nvPr>
            <p:ph type="ftr" sz="quarter" idx="12"/>
          </p:nvPr>
        </p:nvSpPr>
        <p:spPr/>
        <p:txBody>
          <a:bodyPr/>
          <a:lstStyle/>
          <a:p>
            <a:r>
              <a:rPr lang="en-US"/>
              <a:t>CREATE YOUR OWN RPG</a:t>
            </a:r>
          </a:p>
        </p:txBody>
      </p:sp>
      <p:sp>
        <p:nvSpPr>
          <p:cNvPr id="5" name="Slide Number Placeholder 4">
            <a:extLst>
              <a:ext uri="{FF2B5EF4-FFF2-40B4-BE49-F238E27FC236}">
                <a16:creationId xmlns:a16="http://schemas.microsoft.com/office/drawing/2014/main" id="{322A143E-16BE-00A4-CB99-E7D3BCEA78BB}"/>
              </a:ext>
            </a:extLst>
          </p:cNvPr>
          <p:cNvSpPr>
            <a:spLocks noGrp="1"/>
          </p:cNvSpPr>
          <p:nvPr>
            <p:ph type="sldNum" sz="quarter" idx="11"/>
          </p:nvPr>
        </p:nvSpPr>
        <p:spPr/>
        <p:txBody>
          <a:bodyPr/>
          <a:lstStyle/>
          <a:p>
            <a:fld id="{294A09A9-5501-47C1-A89A-A340965A2BE2}" type="slidenum">
              <a:rPr lang="en-US" smtClean="0"/>
              <a:pPr/>
              <a:t>2</a:t>
            </a:fld>
            <a:endParaRPr lang="en-US"/>
          </a:p>
        </p:txBody>
      </p:sp>
      <p:sp>
        <p:nvSpPr>
          <p:cNvPr id="6" name="TextBox 5">
            <a:extLst>
              <a:ext uri="{FF2B5EF4-FFF2-40B4-BE49-F238E27FC236}">
                <a16:creationId xmlns:a16="http://schemas.microsoft.com/office/drawing/2014/main" id="{523384B9-D0D3-F643-9DCB-F005A8F2AC7B}"/>
              </a:ext>
            </a:extLst>
          </p:cNvPr>
          <p:cNvSpPr txBox="1"/>
          <p:nvPr/>
        </p:nvSpPr>
        <p:spPr>
          <a:xfrm>
            <a:off x="663375" y="2790974"/>
            <a:ext cx="10544743" cy="757708"/>
          </a:xfrm>
          <a:prstGeom prst="rect">
            <a:avLst/>
          </a:prstGeom>
          <a:noFill/>
        </p:spPr>
        <p:txBody>
          <a:bodyPr wrap="square">
            <a:spAutoFit/>
          </a:bodyPr>
          <a:lstStyle/>
          <a:p>
            <a:pPr marL="0" marR="0" lvl="0" indent="0" algn="l" defTabSz="914400" rtl="0" eaLnBrk="1" fontAlgn="auto" latinLnBrk="0" hangingPunct="1">
              <a:lnSpc>
                <a:spcPct val="200000"/>
              </a:lnSpc>
              <a:spcBef>
                <a:spcPts val="1000"/>
              </a:spcBef>
              <a:spcAft>
                <a:spcPts val="0"/>
              </a:spcAft>
              <a:buClrTx/>
              <a:buSzTx/>
              <a:buNone/>
              <a:tabLst/>
              <a:defRPr/>
            </a:pPr>
            <a:r>
              <a:rPr kumimoji="0" lang="en-US" sz="2500" b="0" i="0" u="none" strike="noStrike" kern="1200" cap="all" spc="300" normalizeH="0" baseline="0" noProof="0">
                <a:ln>
                  <a:noFill/>
                </a:ln>
                <a:solidFill>
                  <a:srgbClr val="002060"/>
                </a:solidFill>
                <a:effectLst/>
                <a:uLnTx/>
                <a:uFillTx/>
                <a:latin typeface="Aptos" panose="020B0004020202020204" pitchFamily="34" charset="0"/>
              </a:rPr>
              <a:t>PROLOGUE  </a:t>
            </a:r>
            <a:r>
              <a:rPr kumimoji="0" lang="en-US" sz="2500" b="1" i="0" u="none" strike="noStrike" kern="1200" spc="300" normalizeH="0" baseline="0" noProof="0">
                <a:ln>
                  <a:noFill/>
                </a:ln>
                <a:solidFill>
                  <a:srgbClr val="002060"/>
                </a:solidFill>
                <a:effectLst/>
                <a:uLnTx/>
                <a:uFillTx/>
                <a:latin typeface="Aptos" panose="020B0004020202020204" pitchFamily="34" charset="0"/>
              </a:rPr>
              <a:t>Why</a:t>
            </a:r>
            <a:r>
              <a:rPr kumimoji="0" lang="en-US" sz="2500" b="0" i="0" u="none" strike="noStrike" kern="1200" spc="300" normalizeH="0" baseline="0" noProof="0">
                <a:ln>
                  <a:noFill/>
                </a:ln>
                <a:solidFill>
                  <a:srgbClr val="002060"/>
                </a:solidFill>
                <a:effectLst/>
                <a:uLnTx/>
                <a:uFillTx/>
                <a:latin typeface="Aptos" panose="020B0004020202020204" pitchFamily="34" charset="0"/>
              </a:rPr>
              <a:t> make a tabletop role-playing game?</a:t>
            </a:r>
          </a:p>
        </p:txBody>
      </p:sp>
      <p:sp>
        <p:nvSpPr>
          <p:cNvPr id="7" name="TextBox 6">
            <a:extLst>
              <a:ext uri="{FF2B5EF4-FFF2-40B4-BE49-F238E27FC236}">
                <a16:creationId xmlns:a16="http://schemas.microsoft.com/office/drawing/2014/main" id="{41FA9F86-EBBF-EE4E-68AE-A58CD784CA96}"/>
              </a:ext>
            </a:extLst>
          </p:cNvPr>
          <p:cNvSpPr txBox="1"/>
          <p:nvPr/>
        </p:nvSpPr>
        <p:spPr>
          <a:xfrm>
            <a:off x="663375" y="3275253"/>
            <a:ext cx="11528625" cy="758221"/>
          </a:xfrm>
          <a:prstGeom prst="rect">
            <a:avLst/>
          </a:prstGeom>
          <a:noFill/>
        </p:spPr>
        <p:txBody>
          <a:bodyPr wrap="square">
            <a:spAutoFit/>
          </a:bodyPr>
          <a:lstStyle/>
          <a:p>
            <a:pPr marL="0" marR="0" lvl="0" indent="0" algn="l" defTabSz="914400" rtl="0" eaLnBrk="1" fontAlgn="auto" latinLnBrk="0" hangingPunct="1">
              <a:lnSpc>
                <a:spcPct val="200000"/>
              </a:lnSpc>
              <a:spcBef>
                <a:spcPts val="1000"/>
              </a:spcBef>
              <a:spcAft>
                <a:spcPts val="0"/>
              </a:spcAft>
              <a:buClrTx/>
              <a:buSzTx/>
              <a:buNone/>
              <a:tabLst/>
              <a:defRPr/>
            </a:pPr>
            <a:r>
              <a:rPr kumimoji="0" lang="en-US" sz="2500" b="1" i="0" u="none" strike="noStrike" kern="1200" cap="all" spc="300" normalizeH="0" baseline="0" noProof="0">
                <a:ln>
                  <a:noFill/>
                </a:ln>
                <a:solidFill>
                  <a:srgbClr val="002060"/>
                </a:solidFill>
                <a:effectLst/>
                <a:uLnTx/>
                <a:uFillTx/>
                <a:latin typeface="Aptos" panose="020B0004020202020204" pitchFamily="34" charset="0"/>
              </a:rPr>
              <a:t>Part 1        </a:t>
            </a:r>
            <a:r>
              <a:rPr kumimoji="0" lang="en-US" sz="2500" b="1" i="0" u="none" strike="noStrike" kern="1200" spc="300" normalizeH="0" baseline="0" noProof="0">
                <a:ln>
                  <a:noFill/>
                </a:ln>
                <a:solidFill>
                  <a:srgbClr val="002060"/>
                </a:solidFill>
                <a:effectLst/>
                <a:uLnTx/>
                <a:uFillTx/>
                <a:latin typeface="Aptos" panose="020B0004020202020204" pitchFamily="34" charset="0"/>
              </a:rPr>
              <a:t>Empathize + define</a:t>
            </a:r>
            <a:r>
              <a:rPr kumimoji="0" lang="en-US" sz="2500" b="0" i="0" u="none" strike="noStrike" kern="1200" spc="300" normalizeH="0" baseline="0" noProof="0">
                <a:ln>
                  <a:noFill/>
                </a:ln>
                <a:solidFill>
                  <a:srgbClr val="002060"/>
                </a:solidFill>
                <a:effectLst/>
                <a:uLnTx/>
                <a:uFillTx/>
                <a:latin typeface="Aptos" panose="020B0004020202020204" pitchFamily="34" charset="0"/>
              </a:rPr>
              <a:t>: foundation</a:t>
            </a:r>
            <a:r>
              <a:rPr lang="en-US" sz="2500" spc="300">
                <a:solidFill>
                  <a:srgbClr val="002060"/>
                </a:solidFill>
                <a:latin typeface="Aptos" panose="020B0004020202020204" pitchFamily="34" charset="0"/>
              </a:rPr>
              <a:t>s</a:t>
            </a:r>
            <a:r>
              <a:rPr kumimoji="0" lang="en-US" sz="2500" b="0" i="0" u="none" strike="noStrike" kern="1200" spc="300" normalizeH="0" baseline="0" noProof="0">
                <a:ln>
                  <a:noFill/>
                </a:ln>
                <a:solidFill>
                  <a:srgbClr val="002060"/>
                </a:solidFill>
                <a:effectLst/>
                <a:uLnTx/>
                <a:uFillTx/>
                <a:latin typeface="Aptos" panose="020B0004020202020204" pitchFamily="34" charset="0"/>
              </a:rPr>
              <a:t> (+ workshop time)</a:t>
            </a:r>
          </a:p>
        </p:txBody>
      </p:sp>
      <p:sp>
        <p:nvSpPr>
          <p:cNvPr id="8" name="TextBox 7">
            <a:extLst>
              <a:ext uri="{FF2B5EF4-FFF2-40B4-BE49-F238E27FC236}">
                <a16:creationId xmlns:a16="http://schemas.microsoft.com/office/drawing/2014/main" id="{93B535D5-F57B-A536-338F-63B830E39BD0}"/>
              </a:ext>
            </a:extLst>
          </p:cNvPr>
          <p:cNvSpPr txBox="1"/>
          <p:nvPr/>
        </p:nvSpPr>
        <p:spPr>
          <a:xfrm>
            <a:off x="663375" y="3795641"/>
            <a:ext cx="11528625" cy="757708"/>
          </a:xfrm>
          <a:prstGeom prst="rect">
            <a:avLst/>
          </a:prstGeom>
          <a:noFill/>
        </p:spPr>
        <p:txBody>
          <a:bodyPr wrap="square">
            <a:spAutoFit/>
          </a:bodyPr>
          <a:lstStyle/>
          <a:p>
            <a:pPr marL="0" marR="0" lvl="0" indent="0" algn="l" defTabSz="914400" rtl="0" eaLnBrk="1" fontAlgn="auto" latinLnBrk="0" hangingPunct="1">
              <a:lnSpc>
                <a:spcPct val="200000"/>
              </a:lnSpc>
              <a:spcBef>
                <a:spcPts val="1000"/>
              </a:spcBef>
              <a:spcAft>
                <a:spcPts val="0"/>
              </a:spcAft>
              <a:buClrTx/>
              <a:buSzTx/>
              <a:buNone/>
              <a:tabLst/>
              <a:defRPr/>
            </a:pPr>
            <a:r>
              <a:rPr kumimoji="0" lang="en-US" sz="2500" b="1" i="0" u="none" strike="noStrike" kern="1200" cap="all" spc="300" normalizeH="0" baseline="0" noProof="0">
                <a:ln>
                  <a:noFill/>
                </a:ln>
                <a:solidFill>
                  <a:srgbClr val="002060"/>
                </a:solidFill>
                <a:effectLst/>
                <a:uLnTx/>
                <a:uFillTx/>
                <a:latin typeface="Aptos" panose="020B0004020202020204" pitchFamily="34" charset="0"/>
              </a:rPr>
              <a:t>Part 2        </a:t>
            </a:r>
            <a:r>
              <a:rPr kumimoji="0" lang="en-US" sz="2500" b="1" i="0" u="none" strike="noStrike" kern="1200" spc="300" normalizeH="0" baseline="0" noProof="0">
                <a:ln>
                  <a:noFill/>
                </a:ln>
                <a:solidFill>
                  <a:srgbClr val="002060"/>
                </a:solidFill>
                <a:effectLst/>
                <a:uLnTx/>
                <a:uFillTx/>
                <a:latin typeface="Aptos" panose="020B0004020202020204" pitchFamily="34" charset="0"/>
              </a:rPr>
              <a:t>Ideate</a:t>
            </a:r>
            <a:r>
              <a:rPr kumimoji="0" lang="en-US" sz="2500" b="0" i="0" u="none" strike="noStrike" kern="1200" spc="300" normalizeH="0" baseline="0" noProof="0">
                <a:ln>
                  <a:noFill/>
                </a:ln>
                <a:solidFill>
                  <a:srgbClr val="002060"/>
                </a:solidFill>
                <a:effectLst/>
                <a:uLnTx/>
                <a:uFillTx/>
                <a:latin typeface="Aptos" panose="020B0004020202020204" pitchFamily="34" charset="0"/>
              </a:rPr>
              <a:t>: turn actions into gameplay (+ workshop time)</a:t>
            </a:r>
          </a:p>
        </p:txBody>
      </p:sp>
      <p:sp>
        <p:nvSpPr>
          <p:cNvPr id="9" name="TextBox 8">
            <a:extLst>
              <a:ext uri="{FF2B5EF4-FFF2-40B4-BE49-F238E27FC236}">
                <a16:creationId xmlns:a16="http://schemas.microsoft.com/office/drawing/2014/main" id="{87DD0274-6F99-53FB-7917-7A155C1234B2}"/>
              </a:ext>
            </a:extLst>
          </p:cNvPr>
          <p:cNvSpPr txBox="1"/>
          <p:nvPr/>
        </p:nvSpPr>
        <p:spPr>
          <a:xfrm>
            <a:off x="663375" y="4314731"/>
            <a:ext cx="11528625" cy="757708"/>
          </a:xfrm>
          <a:prstGeom prst="rect">
            <a:avLst/>
          </a:prstGeom>
          <a:noFill/>
        </p:spPr>
        <p:txBody>
          <a:bodyPr wrap="square">
            <a:spAutoFit/>
          </a:bodyPr>
          <a:lstStyle/>
          <a:p>
            <a:pPr marL="0" marR="0" lvl="0" indent="0" algn="l" defTabSz="914400" rtl="0" eaLnBrk="1" fontAlgn="auto" latinLnBrk="0" hangingPunct="1">
              <a:lnSpc>
                <a:spcPct val="200000"/>
              </a:lnSpc>
              <a:spcBef>
                <a:spcPts val="1000"/>
              </a:spcBef>
              <a:spcAft>
                <a:spcPts val="0"/>
              </a:spcAft>
              <a:buClrTx/>
              <a:buSzTx/>
              <a:buNone/>
              <a:tabLst/>
              <a:defRPr/>
            </a:pPr>
            <a:r>
              <a:rPr lang="en-US" sz="2500" b="1" cap="all" spc="300">
                <a:solidFill>
                  <a:srgbClr val="002060"/>
                </a:solidFill>
                <a:latin typeface="Aptos" panose="020B0004020202020204" pitchFamily="34" charset="0"/>
              </a:rPr>
              <a:t>Part 3        </a:t>
            </a:r>
            <a:r>
              <a:rPr kumimoji="0" lang="en-US" sz="2500" b="1" i="0" u="none" strike="noStrike" kern="1200" spc="300" normalizeH="0" baseline="0" noProof="0">
                <a:ln>
                  <a:noFill/>
                </a:ln>
                <a:solidFill>
                  <a:srgbClr val="002060"/>
                </a:solidFill>
                <a:effectLst/>
                <a:uLnTx/>
                <a:uFillTx/>
                <a:latin typeface="Aptos" panose="020B0004020202020204" pitchFamily="34" charset="0"/>
              </a:rPr>
              <a:t>Prototype</a:t>
            </a:r>
            <a:r>
              <a:rPr kumimoji="0" lang="en-US" sz="2500" b="0" i="0" u="none" strike="noStrike" kern="1200" spc="300" normalizeH="0" baseline="0" noProof="0">
                <a:ln>
                  <a:noFill/>
                </a:ln>
                <a:solidFill>
                  <a:srgbClr val="002060"/>
                </a:solidFill>
                <a:effectLst/>
                <a:uLnTx/>
                <a:uFillTx/>
                <a:latin typeface="Aptos" panose="020B0004020202020204" pitchFamily="34" charset="0"/>
              </a:rPr>
              <a:t>: writing THE rules (+ workshop time)</a:t>
            </a:r>
          </a:p>
        </p:txBody>
      </p:sp>
      <p:sp>
        <p:nvSpPr>
          <p:cNvPr id="10" name="TextBox 9">
            <a:extLst>
              <a:ext uri="{FF2B5EF4-FFF2-40B4-BE49-F238E27FC236}">
                <a16:creationId xmlns:a16="http://schemas.microsoft.com/office/drawing/2014/main" id="{EBB060F0-3BF1-8E8F-6637-AF07C78C57C1}"/>
              </a:ext>
            </a:extLst>
          </p:cNvPr>
          <p:cNvSpPr txBox="1"/>
          <p:nvPr/>
        </p:nvSpPr>
        <p:spPr>
          <a:xfrm>
            <a:off x="663375" y="4800308"/>
            <a:ext cx="10544743" cy="757708"/>
          </a:xfrm>
          <a:prstGeom prst="rect">
            <a:avLst/>
          </a:prstGeom>
          <a:noFill/>
        </p:spPr>
        <p:txBody>
          <a:bodyPr wrap="square">
            <a:spAutoFit/>
          </a:bodyPr>
          <a:lstStyle/>
          <a:p>
            <a:pPr marL="0" marR="0" lvl="0" indent="0" algn="l" defTabSz="914400" rtl="0" eaLnBrk="1" fontAlgn="auto" latinLnBrk="0" hangingPunct="1">
              <a:lnSpc>
                <a:spcPct val="200000"/>
              </a:lnSpc>
              <a:spcBef>
                <a:spcPts val="1000"/>
              </a:spcBef>
              <a:spcAft>
                <a:spcPts val="0"/>
              </a:spcAft>
              <a:buClrTx/>
              <a:buSzTx/>
              <a:buNone/>
              <a:tabLst/>
              <a:defRPr/>
            </a:pPr>
            <a:r>
              <a:rPr kumimoji="0" lang="en-US" sz="2500" b="0" i="0" u="none" strike="noStrike" kern="1200" cap="all" spc="300" normalizeH="0" baseline="0" noProof="0">
                <a:ln>
                  <a:noFill/>
                </a:ln>
                <a:solidFill>
                  <a:srgbClr val="002060"/>
                </a:solidFill>
                <a:effectLst/>
                <a:uLnTx/>
                <a:uFillTx/>
                <a:latin typeface="Aptos" panose="020B0004020202020204" pitchFamily="34" charset="0"/>
              </a:rPr>
              <a:t>Finale        </a:t>
            </a:r>
            <a:r>
              <a:rPr kumimoji="0" lang="en-US" sz="2500" b="0" i="0" u="none" strike="noStrike" kern="1200" spc="300" normalizeH="0" baseline="0" noProof="0">
                <a:ln>
                  <a:noFill/>
                </a:ln>
                <a:solidFill>
                  <a:srgbClr val="002060"/>
                </a:solidFill>
                <a:effectLst/>
                <a:uLnTx/>
                <a:uFillTx/>
                <a:latin typeface="Aptos" panose="020B0004020202020204" pitchFamily="34" charset="0"/>
              </a:rPr>
              <a:t>This is all </a:t>
            </a:r>
            <a:r>
              <a:rPr kumimoji="0" lang="en-US" sz="2500" b="1" i="0" u="none" strike="noStrike" kern="1200" spc="300" normalizeH="0" baseline="0" noProof="0">
                <a:ln>
                  <a:noFill/>
                </a:ln>
                <a:solidFill>
                  <a:srgbClr val="002060"/>
                </a:solidFill>
                <a:effectLst/>
                <a:uLnTx/>
                <a:uFillTx/>
                <a:latin typeface="Aptos" panose="020B0004020202020204" pitchFamily="34" charset="0"/>
              </a:rPr>
              <a:t>design thinking! </a:t>
            </a:r>
          </a:p>
        </p:txBody>
      </p:sp>
      <p:sp>
        <p:nvSpPr>
          <p:cNvPr id="11" name="TextBox 10">
            <a:extLst>
              <a:ext uri="{FF2B5EF4-FFF2-40B4-BE49-F238E27FC236}">
                <a16:creationId xmlns:a16="http://schemas.microsoft.com/office/drawing/2014/main" id="{68893CA0-28D4-D0EB-2F36-15E4BBDEA5EE}"/>
              </a:ext>
            </a:extLst>
          </p:cNvPr>
          <p:cNvSpPr txBox="1"/>
          <p:nvPr/>
        </p:nvSpPr>
        <p:spPr>
          <a:xfrm>
            <a:off x="663375" y="5319398"/>
            <a:ext cx="10544743" cy="757708"/>
          </a:xfrm>
          <a:prstGeom prst="rect">
            <a:avLst/>
          </a:prstGeom>
          <a:noFill/>
        </p:spPr>
        <p:txBody>
          <a:bodyPr wrap="square">
            <a:spAutoFit/>
          </a:bodyPr>
          <a:lstStyle/>
          <a:p>
            <a:pPr marL="0" marR="0" lvl="0" indent="0" algn="l" defTabSz="914400" rtl="0" eaLnBrk="1" fontAlgn="auto" latinLnBrk="0" hangingPunct="1">
              <a:lnSpc>
                <a:spcPct val="200000"/>
              </a:lnSpc>
              <a:spcBef>
                <a:spcPts val="1000"/>
              </a:spcBef>
              <a:spcAft>
                <a:spcPts val="0"/>
              </a:spcAft>
              <a:buClrTx/>
              <a:buSzTx/>
              <a:buNone/>
              <a:tabLst/>
              <a:defRPr/>
            </a:pPr>
            <a:r>
              <a:rPr lang="en-US" sz="2500" cap="all" spc="300">
                <a:solidFill>
                  <a:srgbClr val="002060"/>
                </a:solidFill>
                <a:latin typeface="Aptos" panose="020B0004020202020204" pitchFamily="34" charset="0"/>
              </a:rPr>
              <a:t>Epilogue    </a:t>
            </a:r>
            <a:r>
              <a:rPr kumimoji="0" lang="en-US" sz="2500" b="1" i="0" u="none" strike="noStrike" kern="1200" spc="300" normalizeH="0" baseline="0" noProof="0">
                <a:ln>
                  <a:noFill/>
                </a:ln>
                <a:solidFill>
                  <a:srgbClr val="002060"/>
                </a:solidFill>
                <a:effectLst/>
                <a:uLnTx/>
                <a:uFillTx/>
                <a:latin typeface="Aptos" panose="020B0004020202020204" pitchFamily="34" charset="0"/>
              </a:rPr>
              <a:t>Next steps </a:t>
            </a:r>
            <a:r>
              <a:rPr kumimoji="0" lang="en-US" sz="2500" b="0" i="0" u="none" strike="noStrike" kern="1200" spc="300" normalizeH="0" baseline="0" noProof="0">
                <a:ln>
                  <a:noFill/>
                </a:ln>
                <a:solidFill>
                  <a:srgbClr val="002060"/>
                </a:solidFill>
                <a:effectLst/>
                <a:uLnTx/>
                <a:uFillTx/>
                <a:latin typeface="Aptos" panose="020B0004020202020204" pitchFamily="34" charset="0"/>
              </a:rPr>
              <a:t>for your RPG &amp; </a:t>
            </a:r>
            <a:r>
              <a:rPr kumimoji="0" lang="en-US" sz="2500" b="1" i="0" u="none" strike="noStrike" kern="1200" spc="300" normalizeH="0" baseline="0" noProof="0">
                <a:ln>
                  <a:noFill/>
                </a:ln>
                <a:solidFill>
                  <a:srgbClr val="002060"/>
                </a:solidFill>
                <a:effectLst/>
                <a:uLnTx/>
                <a:uFillTx/>
                <a:latin typeface="Aptos" panose="020B0004020202020204" pitchFamily="34" charset="0"/>
              </a:rPr>
              <a:t>Q&amp;A</a:t>
            </a:r>
          </a:p>
        </p:txBody>
      </p:sp>
    </p:spTree>
    <p:extLst>
      <p:ext uri="{BB962C8B-B14F-4D97-AF65-F5344CB8AC3E}">
        <p14:creationId xmlns:p14="http://schemas.microsoft.com/office/powerpoint/2010/main" val="3639446982"/>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still from the Netflix series Stranger Things, showing the four young protagonists playing a tabletop role-playing game in their 1980s basement.&#10;">
            <a:extLst>
              <a:ext uri="{FF2B5EF4-FFF2-40B4-BE49-F238E27FC236}">
                <a16:creationId xmlns:a16="http://schemas.microsoft.com/office/drawing/2014/main" id="{D77DB610-0F59-4124-8D13-6CD112667476}"/>
              </a:ext>
              <a:ext uri="{C183D7F6-B498-43B3-948B-1728B52AA6E4}">
                <adec:decorative xmlns:adec="http://schemas.microsoft.com/office/drawing/2017/decorative" val="0"/>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2585884" y="1576115"/>
            <a:ext cx="7020231" cy="3978651"/>
          </a:xfrm>
          <a:prstGeom prst="rect">
            <a:avLst/>
          </a:prstGeom>
        </p:spPr>
      </p:pic>
      <p:grpSp>
        <p:nvGrpSpPr>
          <p:cNvPr id="8" name="Group 7">
            <a:extLst>
              <a:ext uri="{FF2B5EF4-FFF2-40B4-BE49-F238E27FC236}">
                <a16:creationId xmlns:a16="http://schemas.microsoft.com/office/drawing/2014/main" id="{052977F8-1042-483C-80D5-4B4E8DD60028}"/>
              </a:ext>
              <a:ext uri="{C183D7F6-B498-43B3-948B-1728B52AA6E4}">
                <adec:decorative xmlns:adec="http://schemas.microsoft.com/office/drawing/2017/decorative" val="1"/>
              </a:ext>
            </a:extLst>
          </p:cNvPr>
          <p:cNvGrpSpPr/>
          <p:nvPr/>
        </p:nvGrpSpPr>
        <p:grpSpPr>
          <a:xfrm>
            <a:off x="7194065" y="2118451"/>
            <a:ext cx="1393116" cy="1567730"/>
            <a:chOff x="7165200" y="2293800"/>
            <a:chExt cx="1809600" cy="2048400"/>
          </a:xfrm>
        </p:grpSpPr>
        <p:cxnSp>
          <p:nvCxnSpPr>
            <p:cNvPr id="5" name="Straight Arrow Connector 4">
              <a:extLst>
                <a:ext uri="{FF2B5EF4-FFF2-40B4-BE49-F238E27FC236}">
                  <a16:creationId xmlns:a16="http://schemas.microsoft.com/office/drawing/2014/main" id="{16269CBC-3AFC-4A33-8E6A-0E1A6DB2F70B}"/>
                </a:ext>
              </a:extLst>
            </p:cNvPr>
            <p:cNvCxnSpPr/>
            <p:nvPr/>
          </p:nvCxnSpPr>
          <p:spPr>
            <a:xfrm flipH="1">
              <a:off x="7165200" y="2299800"/>
              <a:ext cx="1809600" cy="1424400"/>
            </a:xfrm>
            <a:prstGeom prst="straightConnector1">
              <a:avLst/>
            </a:prstGeom>
            <a:ln w="76200">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6B70A7DB-FD57-478D-A357-119D40752A3D}"/>
                </a:ext>
              </a:extLst>
            </p:cNvPr>
            <p:cNvCxnSpPr>
              <a:cxnSpLocks/>
            </p:cNvCxnSpPr>
            <p:nvPr/>
          </p:nvCxnSpPr>
          <p:spPr>
            <a:xfrm flipH="1">
              <a:off x="8185199" y="2341800"/>
              <a:ext cx="777600" cy="1520400"/>
            </a:xfrm>
            <a:prstGeom prst="straightConnector1">
              <a:avLst/>
            </a:prstGeom>
            <a:ln w="76200">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AAAB3A0-85CD-4F20-90F6-9C0724F5E8EF}"/>
                </a:ext>
              </a:extLst>
            </p:cNvPr>
            <p:cNvCxnSpPr>
              <a:cxnSpLocks/>
            </p:cNvCxnSpPr>
            <p:nvPr/>
          </p:nvCxnSpPr>
          <p:spPr>
            <a:xfrm flipH="1">
              <a:off x="7351198" y="2293800"/>
              <a:ext cx="1611600" cy="2048400"/>
            </a:xfrm>
            <a:prstGeom prst="straightConnector1">
              <a:avLst/>
            </a:prstGeom>
            <a:ln w="76200">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cxnSp>
        <p:nvCxnSpPr>
          <p:cNvPr id="9" name="Straight Arrow Connector 8">
            <a:extLst>
              <a:ext uri="{FF2B5EF4-FFF2-40B4-BE49-F238E27FC236}">
                <a16:creationId xmlns:a16="http://schemas.microsoft.com/office/drawing/2014/main" id="{D56706C6-3B2F-4D85-A5FC-C09DFCFF877E}"/>
              </a:ext>
              <a:ext uri="{C183D7F6-B498-43B3-948B-1728B52AA6E4}">
                <adec:decorative xmlns:adec="http://schemas.microsoft.com/office/drawing/2017/decorative" val="1"/>
              </a:ext>
            </a:extLst>
          </p:cNvPr>
          <p:cNvCxnSpPr>
            <a:cxnSpLocks/>
          </p:cNvCxnSpPr>
          <p:nvPr/>
        </p:nvCxnSpPr>
        <p:spPr>
          <a:xfrm flipH="1" flipV="1">
            <a:off x="5486400" y="3686181"/>
            <a:ext cx="460917" cy="1485208"/>
          </a:xfrm>
          <a:prstGeom prst="straightConnector1">
            <a:avLst/>
          </a:prstGeom>
          <a:ln w="76200">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962005C-925B-4FAC-AAE1-0DE9248D47C7}"/>
              </a:ext>
            </a:extLst>
          </p:cNvPr>
          <p:cNvSpPr>
            <a:spLocks noGrp="1"/>
          </p:cNvSpPr>
          <p:nvPr>
            <p:ph type="title"/>
          </p:nvPr>
        </p:nvSpPr>
        <p:spPr>
          <a:xfrm>
            <a:off x="1069848" y="167033"/>
            <a:ext cx="10058400" cy="1371600"/>
          </a:xfrm>
        </p:spPr>
        <p:txBody>
          <a:bodyPr/>
          <a:lstStyle/>
          <a:p>
            <a:r>
              <a:rPr lang="en-US"/>
              <a:t>What is a tabletop </a:t>
            </a:r>
            <a:br>
              <a:rPr lang="en-US"/>
            </a:br>
            <a:r>
              <a:rPr lang="en-US"/>
              <a:t>role-playing game (TTRPG)?</a:t>
            </a:r>
          </a:p>
        </p:txBody>
      </p:sp>
      <p:sp>
        <p:nvSpPr>
          <p:cNvPr id="12" name="Slide Number Placeholder 3">
            <a:extLst>
              <a:ext uri="{FF2B5EF4-FFF2-40B4-BE49-F238E27FC236}">
                <a16:creationId xmlns:a16="http://schemas.microsoft.com/office/drawing/2014/main" id="{77F900E8-CB0E-E213-2631-1AC183F1290C}"/>
              </a:ext>
            </a:extLst>
          </p:cNvPr>
          <p:cNvSpPr>
            <a:spLocks noGrp="1"/>
          </p:cNvSpPr>
          <p:nvPr>
            <p:ph type="sldNum" sz="quarter" idx="11"/>
          </p:nvPr>
        </p:nvSpPr>
        <p:spPr>
          <a:xfrm>
            <a:off x="154943" y="6296643"/>
            <a:ext cx="365760" cy="182880"/>
          </a:xfrm>
        </p:spPr>
        <p:txBody>
          <a:bodyPr/>
          <a:lstStyle/>
          <a:p>
            <a:r>
              <a:rPr lang="en-US"/>
              <a:t>3</a:t>
            </a:r>
          </a:p>
        </p:txBody>
      </p:sp>
      <p:sp>
        <p:nvSpPr>
          <p:cNvPr id="3" name="TextBox 2">
            <a:extLst>
              <a:ext uri="{FF2B5EF4-FFF2-40B4-BE49-F238E27FC236}">
                <a16:creationId xmlns:a16="http://schemas.microsoft.com/office/drawing/2014/main" id="{45AF06E4-4CC5-ACD2-E726-C0EF4C19A884}"/>
              </a:ext>
            </a:extLst>
          </p:cNvPr>
          <p:cNvSpPr txBox="1"/>
          <p:nvPr/>
        </p:nvSpPr>
        <p:spPr>
          <a:xfrm>
            <a:off x="586333" y="5796247"/>
            <a:ext cx="11007139" cy="461665"/>
          </a:xfrm>
          <a:prstGeom prst="rect">
            <a:avLst/>
          </a:prstGeom>
          <a:noFill/>
        </p:spPr>
        <p:txBody>
          <a:bodyPr wrap="square" lIns="91440" tIns="45720" rIns="91440" bIns="4572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srgbClr val="002060"/>
                </a:solidFill>
                <a:effectLst/>
                <a:uLnTx/>
                <a:uFillTx/>
                <a:latin typeface="Aptos" panose="020B0004020202020204" pitchFamily="34" charset="0"/>
                <a:ea typeface="Open Sans"/>
                <a:cs typeface="Open Sans"/>
              </a:rPr>
              <a:t>Stranger Things </a:t>
            </a:r>
            <a:r>
              <a:rPr kumimoji="0" lang="en-US" sz="2400" b="0" i="0" u="none" strike="noStrike" kern="1200" cap="none" spc="0" normalizeH="0" baseline="0" noProof="0">
                <a:ln>
                  <a:noFill/>
                </a:ln>
                <a:solidFill>
                  <a:srgbClr val="002060"/>
                </a:solidFill>
                <a:effectLst/>
                <a:uLnTx/>
                <a:uFillTx/>
                <a:latin typeface="Aptos" panose="020B0004020202020204" pitchFamily="34" charset="0"/>
                <a:ea typeface="Open Sans"/>
                <a:cs typeface="Open Sans"/>
              </a:rPr>
              <a:t>(season 1, episode 1, Netflix)</a:t>
            </a:r>
            <a:endParaRPr kumimoji="0" lang="en-US" sz="2800" b="0" i="0" u="none" strike="noStrike" kern="1200" cap="none" spc="0" normalizeH="0" baseline="0" noProof="0">
              <a:ln>
                <a:noFill/>
              </a:ln>
              <a:solidFill>
                <a:srgbClr val="002060"/>
              </a:solidFill>
              <a:effectLst/>
              <a:uLnTx/>
              <a:uFillTx/>
              <a:latin typeface="Aptos" panose="020B0004020202020204" pitchFamily="34" charset="0"/>
            </a:endParaRPr>
          </a:p>
        </p:txBody>
      </p:sp>
      <p:sp>
        <p:nvSpPr>
          <p:cNvPr id="14" name="Footer Placeholder 4">
            <a:extLst>
              <a:ext uri="{FF2B5EF4-FFF2-40B4-BE49-F238E27FC236}">
                <a16:creationId xmlns:a16="http://schemas.microsoft.com/office/drawing/2014/main" id="{1F0AED1C-AB40-F048-18C8-D73D85630301}"/>
              </a:ext>
            </a:extLst>
          </p:cNvPr>
          <p:cNvSpPr txBox="1">
            <a:spLocks/>
          </p:cNvSpPr>
          <p:nvPr/>
        </p:nvSpPr>
        <p:spPr>
          <a:xfrm rot="16200000">
            <a:off x="-978026" y="1495027"/>
            <a:ext cx="2631698" cy="182880"/>
          </a:xfrm>
          <a:prstGeom prst="rect">
            <a:avLst/>
          </a:prstGeom>
        </p:spPr>
        <p:txBody>
          <a:bodyPr vert="horz" lIns="91440" tIns="45720" rIns="91440" bIns="45720" rtlCol="0" anchor="ctr">
            <a:noAutofit/>
          </a:bodyPr>
          <a:lstStyle>
            <a:defPPr>
              <a:defRPr lang="en-US"/>
            </a:defPPr>
            <a:lvl1pPr marL="0" algn="ctr" defTabSz="914400" rtl="0" eaLnBrk="1" latinLnBrk="0" hangingPunct="1">
              <a:defRPr sz="1200" b="0" i="0" kern="1200" cap="all" spc="300" baseline="0">
                <a:solidFill>
                  <a:schemeClr val="accent1">
                    <a:lumMod val="60000"/>
                    <a:lumOff val="4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02060"/>
                </a:solidFill>
              </a:rPr>
              <a:t>CREATE YOUR OWN RPG</a:t>
            </a:r>
          </a:p>
        </p:txBody>
      </p:sp>
    </p:spTree>
    <p:extLst>
      <p:ext uri="{BB962C8B-B14F-4D97-AF65-F5344CB8AC3E}">
        <p14:creationId xmlns:p14="http://schemas.microsoft.com/office/powerpoint/2010/main" val="3280322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0B2E752-9331-F56F-1F28-A2EF1979DC83}"/>
              </a:ext>
            </a:extLst>
          </p:cNvPr>
          <p:cNvGrpSpPr/>
          <p:nvPr/>
        </p:nvGrpSpPr>
        <p:grpSpPr>
          <a:xfrm>
            <a:off x="846784" y="974875"/>
            <a:ext cx="10751658" cy="5692024"/>
            <a:chOff x="-1749681" y="1735721"/>
            <a:chExt cx="10751658" cy="5692024"/>
          </a:xfrm>
        </p:grpSpPr>
        <p:pic>
          <p:nvPicPr>
            <p:cNvPr id="7" name="Picture 6">
              <a:extLst>
                <a:ext uri="{FF2B5EF4-FFF2-40B4-BE49-F238E27FC236}">
                  <a16:creationId xmlns:a16="http://schemas.microsoft.com/office/drawing/2014/main" id="{52980E35-A9BD-F64C-E498-F25C528DD2ED}"/>
                </a:ext>
              </a:extLst>
            </p:cNvPr>
            <p:cNvPicPr>
              <a:picLocks noChangeAspect="1"/>
            </p:cNvPicPr>
            <p:nvPr/>
          </p:nvPicPr>
          <p:blipFill>
            <a:blip r:embed="rId4"/>
            <a:stretch>
              <a:fillRect/>
            </a:stretch>
          </p:blipFill>
          <p:spPr>
            <a:xfrm>
              <a:off x="-1749681" y="1735721"/>
              <a:ext cx="7548119" cy="5692024"/>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D1951F15-3CC7-7664-B5C8-B45427500734}"/>
                </a:ext>
              </a:extLst>
            </p:cNvPr>
            <p:cNvSpPr txBox="1"/>
            <p:nvPr/>
          </p:nvSpPr>
          <p:spPr>
            <a:xfrm>
              <a:off x="5896709" y="2192409"/>
              <a:ext cx="3105268" cy="1200329"/>
            </a:xfrm>
            <a:prstGeom prst="rect">
              <a:avLst/>
            </a:prstGeom>
            <a:noFill/>
          </p:spPr>
          <p:txBody>
            <a:bodyPr wrap="square">
              <a:spAutoFit/>
            </a:bodyPr>
            <a:lstStyle/>
            <a:p>
              <a:r>
                <a:rPr lang="en-US" sz="2400" b="1">
                  <a:solidFill>
                    <a:srgbClr val="002060"/>
                  </a:solidFill>
                  <a:latin typeface="Aptos" panose="020B0004020202020204" pitchFamily="34" charset="0"/>
                </a:rPr>
                <a:t>Lasers and Feelings</a:t>
              </a:r>
            </a:p>
            <a:p>
              <a:r>
                <a:rPr lang="en-US" sz="2400">
                  <a:solidFill>
                    <a:srgbClr val="002060"/>
                  </a:solidFill>
                  <a:latin typeface="Aptos" panose="020B0004020202020204" pitchFamily="34" charset="0"/>
                </a:rPr>
                <a:t>onesevendesign.com/laserfeelings</a:t>
              </a:r>
            </a:p>
          </p:txBody>
        </p:sp>
      </p:grpSp>
      <p:sp>
        <p:nvSpPr>
          <p:cNvPr id="2" name="Title 1">
            <a:extLst>
              <a:ext uri="{FF2B5EF4-FFF2-40B4-BE49-F238E27FC236}">
                <a16:creationId xmlns:a16="http://schemas.microsoft.com/office/drawing/2014/main" id="{933948E3-FF42-E9A2-E986-8BDE86BC804D}"/>
              </a:ext>
            </a:extLst>
          </p:cNvPr>
          <p:cNvSpPr>
            <a:spLocks noGrp="1"/>
          </p:cNvSpPr>
          <p:nvPr>
            <p:ph type="title"/>
          </p:nvPr>
        </p:nvSpPr>
        <p:spPr>
          <a:xfrm>
            <a:off x="1527047" y="191101"/>
            <a:ext cx="9660497" cy="1371600"/>
          </a:xfrm>
        </p:spPr>
        <p:txBody>
          <a:bodyPr/>
          <a:lstStyle/>
          <a:p>
            <a:r>
              <a:rPr lang="en-US" sz="4800"/>
              <a:t>What is a one-page TTRPG?</a:t>
            </a:r>
          </a:p>
        </p:txBody>
      </p:sp>
      <p:sp>
        <p:nvSpPr>
          <p:cNvPr id="5" name="Footer Placeholder 4">
            <a:extLst>
              <a:ext uri="{FF2B5EF4-FFF2-40B4-BE49-F238E27FC236}">
                <a16:creationId xmlns:a16="http://schemas.microsoft.com/office/drawing/2014/main" id="{1319B893-39E9-098A-0CD9-664922FC39AF}"/>
              </a:ext>
            </a:extLst>
          </p:cNvPr>
          <p:cNvSpPr>
            <a:spLocks noGrp="1"/>
          </p:cNvSpPr>
          <p:nvPr>
            <p:ph type="ftr" sz="quarter" idx="12"/>
          </p:nvPr>
        </p:nvSpPr>
        <p:spPr>
          <a:xfrm rot="16200000">
            <a:off x="-978026" y="1495027"/>
            <a:ext cx="2631698" cy="182880"/>
          </a:xfrm>
        </p:spPr>
        <p:txBody>
          <a:bodyPr/>
          <a:lstStyle/>
          <a:p>
            <a:r>
              <a:rPr lang="en-US"/>
              <a:t>CREATE YOUR OWN RPG</a:t>
            </a:r>
          </a:p>
        </p:txBody>
      </p:sp>
      <p:sp>
        <p:nvSpPr>
          <p:cNvPr id="4" name="Slide Number Placeholder 3">
            <a:extLst>
              <a:ext uri="{FF2B5EF4-FFF2-40B4-BE49-F238E27FC236}">
                <a16:creationId xmlns:a16="http://schemas.microsoft.com/office/drawing/2014/main" id="{04F77CB2-6C78-2B17-D92D-7BCAFD49BA45}"/>
              </a:ext>
            </a:extLst>
          </p:cNvPr>
          <p:cNvSpPr>
            <a:spLocks noGrp="1"/>
          </p:cNvSpPr>
          <p:nvPr>
            <p:ph type="sldNum" sz="quarter" idx="11"/>
          </p:nvPr>
        </p:nvSpPr>
        <p:spPr>
          <a:xfrm>
            <a:off x="154943" y="6296643"/>
            <a:ext cx="365760" cy="182880"/>
          </a:xfrm>
        </p:spPr>
        <p:txBody>
          <a:bodyPr/>
          <a:lstStyle/>
          <a:p>
            <a:r>
              <a:rPr lang="en-US"/>
              <a:t>4</a:t>
            </a:r>
          </a:p>
        </p:txBody>
      </p:sp>
      <p:sp>
        <p:nvSpPr>
          <p:cNvPr id="14" name="Rectangle 13">
            <a:extLst>
              <a:ext uri="{FF2B5EF4-FFF2-40B4-BE49-F238E27FC236}">
                <a16:creationId xmlns:a16="http://schemas.microsoft.com/office/drawing/2014/main" id="{7ADD797C-280F-6175-4ED8-D20B0A3415B1}"/>
              </a:ext>
            </a:extLst>
          </p:cNvPr>
          <p:cNvSpPr/>
          <p:nvPr/>
        </p:nvSpPr>
        <p:spPr>
          <a:xfrm>
            <a:off x="846782" y="5619495"/>
            <a:ext cx="2197205" cy="104740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09558F1-E799-421C-704A-FAD102FA0C68}"/>
              </a:ext>
            </a:extLst>
          </p:cNvPr>
          <p:cNvSpPr/>
          <p:nvPr/>
        </p:nvSpPr>
        <p:spPr>
          <a:xfrm>
            <a:off x="846783" y="2964906"/>
            <a:ext cx="2197205" cy="265458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650EE50-B925-EA80-AECA-EA804FDEAD10}"/>
              </a:ext>
            </a:extLst>
          </p:cNvPr>
          <p:cNvSpPr/>
          <p:nvPr/>
        </p:nvSpPr>
        <p:spPr>
          <a:xfrm>
            <a:off x="3041796" y="2964907"/>
            <a:ext cx="2069798" cy="370199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515741B-BCA9-7DE7-4CEF-68326C2D7B26}"/>
              </a:ext>
            </a:extLst>
          </p:cNvPr>
          <p:cNvSpPr/>
          <p:nvPr/>
        </p:nvSpPr>
        <p:spPr>
          <a:xfrm>
            <a:off x="5111594" y="1062681"/>
            <a:ext cx="3178163" cy="394245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0A19ACD-9357-34CF-EA7B-78CAD0C8A781}"/>
              </a:ext>
            </a:extLst>
          </p:cNvPr>
          <p:cNvSpPr/>
          <p:nvPr/>
        </p:nvSpPr>
        <p:spPr>
          <a:xfrm>
            <a:off x="5111594" y="4998946"/>
            <a:ext cx="3178163" cy="166795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6147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heel(1)">
                                      <p:cBhvr>
                                        <p:cTn id="13" dur="20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heel(1)">
                                      <p:cBhvr>
                                        <p:cTn id="18" dur="20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heel(1)">
                                      <p:cBhvr>
                                        <p:cTn id="23" dur="20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20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heel(1)">
                                      <p:cBhvr>
                                        <p:cTn id="33"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Lst>
  </p:timing>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9D70E73-28BB-B474-400B-61FE03B8217B}"/>
              </a:ext>
            </a:extLst>
          </p:cNvPr>
          <p:cNvSpPr>
            <a:spLocks noGrp="1"/>
          </p:cNvSpPr>
          <p:nvPr>
            <p:ph type="sldNum" sz="quarter" idx="11"/>
          </p:nvPr>
        </p:nvSpPr>
        <p:spPr>
          <a:xfrm>
            <a:off x="154943" y="6296643"/>
            <a:ext cx="365760" cy="182880"/>
          </a:xfrm>
        </p:spPr>
        <p:txBody>
          <a:bodyPr/>
          <a:lstStyle/>
          <a:p>
            <a:r>
              <a:rPr lang="en-US"/>
              <a:t>6</a:t>
            </a:r>
          </a:p>
        </p:txBody>
      </p:sp>
      <p:sp>
        <p:nvSpPr>
          <p:cNvPr id="2" name="Footer Placeholder 4">
            <a:extLst>
              <a:ext uri="{FF2B5EF4-FFF2-40B4-BE49-F238E27FC236}">
                <a16:creationId xmlns:a16="http://schemas.microsoft.com/office/drawing/2014/main" id="{A53D3B37-B2FD-E346-A580-41448127DAAD}"/>
              </a:ext>
            </a:extLst>
          </p:cNvPr>
          <p:cNvSpPr>
            <a:spLocks noGrp="1"/>
          </p:cNvSpPr>
          <p:nvPr>
            <p:ph type="ftr" sz="quarter" idx="12"/>
          </p:nvPr>
        </p:nvSpPr>
        <p:spPr>
          <a:xfrm rot="16200000">
            <a:off x="-979231" y="1471261"/>
            <a:ext cx="2631698" cy="182880"/>
          </a:xfrm>
        </p:spPr>
        <p:txBody>
          <a:bodyPr/>
          <a:lstStyle/>
          <a:p>
            <a:r>
              <a:rPr lang="en-US"/>
              <a:t>CREATE YOUR OWN RPG</a:t>
            </a:r>
          </a:p>
        </p:txBody>
      </p:sp>
      <p:sp>
        <p:nvSpPr>
          <p:cNvPr id="13" name="Title 12">
            <a:extLst>
              <a:ext uri="{FF2B5EF4-FFF2-40B4-BE49-F238E27FC236}">
                <a16:creationId xmlns:a16="http://schemas.microsoft.com/office/drawing/2014/main" id="{38361326-6D99-9D40-013F-3B85C21AB76C}"/>
              </a:ext>
            </a:extLst>
          </p:cNvPr>
          <p:cNvSpPr>
            <a:spLocks noGrp="1"/>
          </p:cNvSpPr>
          <p:nvPr>
            <p:ph type="title"/>
          </p:nvPr>
        </p:nvSpPr>
        <p:spPr>
          <a:xfrm>
            <a:off x="2654300" y="165701"/>
            <a:ext cx="6883400" cy="1041400"/>
          </a:xfrm>
        </p:spPr>
        <p:txBody>
          <a:bodyPr/>
          <a:lstStyle/>
          <a:p>
            <a:r>
              <a:rPr lang="en-US">
                <a:latin typeface="Book Antiqua"/>
                <a:cs typeface="Angsana New"/>
              </a:rPr>
              <a:t>Empathize + Define: Game Foundations</a:t>
            </a:r>
            <a:endParaRPr lang="en-US"/>
          </a:p>
        </p:txBody>
      </p:sp>
      <p:sp>
        <p:nvSpPr>
          <p:cNvPr id="15" name="Content Placeholder 14">
            <a:extLst>
              <a:ext uri="{FF2B5EF4-FFF2-40B4-BE49-F238E27FC236}">
                <a16:creationId xmlns:a16="http://schemas.microsoft.com/office/drawing/2014/main" id="{10DDF6E0-BE85-CF07-6219-6B3403B36CDA}"/>
              </a:ext>
            </a:extLst>
          </p:cNvPr>
          <p:cNvSpPr>
            <a:spLocks noGrp="1"/>
          </p:cNvSpPr>
          <p:nvPr>
            <p:ph idx="4294967295"/>
          </p:nvPr>
        </p:nvSpPr>
        <p:spPr>
          <a:xfrm>
            <a:off x="888999" y="1711512"/>
            <a:ext cx="7613651" cy="4939732"/>
          </a:xfrm>
        </p:spPr>
        <p:txBody>
          <a:bodyPr vert="horz" lIns="0" tIns="0" rIns="0" bIns="0" rtlCol="0" anchor="t">
            <a:noAutofit/>
          </a:bodyPr>
          <a:lstStyle/>
          <a:p>
            <a:r>
              <a:rPr lang="en-US" sz="2400" b="1" u="sng">
                <a:latin typeface="Aptos"/>
              </a:rPr>
              <a:t>Topic</a:t>
            </a:r>
            <a:r>
              <a:rPr lang="en-US" sz="2400">
                <a:latin typeface="Aptos"/>
              </a:rPr>
              <a:t>: Brainstorm and select one topic for your RPG</a:t>
            </a:r>
          </a:p>
          <a:p>
            <a:pPr lvl="1"/>
            <a:r>
              <a:rPr lang="en-US" sz="2000">
                <a:latin typeface="Aptos" panose="020B0004020202020204" pitchFamily="34" charset="0"/>
              </a:rPr>
              <a:t>What do you want the game to look like to the player(s)?</a:t>
            </a:r>
          </a:p>
          <a:p>
            <a:pPr marL="457200" lvl="1" indent="0">
              <a:buNone/>
            </a:pPr>
            <a:endParaRPr lang="en-US" sz="800">
              <a:latin typeface="Aptos" panose="020B0004020202020204" pitchFamily="34" charset="0"/>
            </a:endParaRPr>
          </a:p>
          <a:p>
            <a:r>
              <a:rPr lang="en-US" sz="2400" b="1" u="sng">
                <a:latin typeface="Aptos"/>
              </a:rPr>
              <a:t>Inspirations</a:t>
            </a:r>
            <a:r>
              <a:rPr lang="en-US" sz="2400" b="1">
                <a:latin typeface="Aptos"/>
              </a:rPr>
              <a:t>:</a:t>
            </a:r>
            <a:r>
              <a:rPr lang="en-US" sz="2400">
                <a:latin typeface="Aptos"/>
              </a:rPr>
              <a:t> What can you borrow from media/games related to this topic?</a:t>
            </a:r>
          </a:p>
          <a:p>
            <a:pPr lvl="1"/>
            <a:r>
              <a:rPr lang="en-US" sz="2000">
                <a:latin typeface="Aptos" panose="020B0004020202020204" pitchFamily="34" charset="0"/>
              </a:rPr>
              <a:t>What other games have you played and what were their rules?</a:t>
            </a:r>
          </a:p>
          <a:p>
            <a:pPr marL="457200" lvl="1" indent="0">
              <a:buNone/>
            </a:pPr>
            <a:endParaRPr lang="en-US" sz="800">
              <a:latin typeface="Aptos" panose="020B0004020202020204" pitchFamily="34" charset="0"/>
            </a:endParaRPr>
          </a:p>
          <a:p>
            <a:r>
              <a:rPr lang="en-US" sz="2400" b="1" u="sng">
                <a:latin typeface="Aptos"/>
              </a:rPr>
              <a:t>Theme</a:t>
            </a:r>
            <a:r>
              <a:rPr lang="en-US" sz="2400" b="1">
                <a:latin typeface="Aptos"/>
              </a:rPr>
              <a:t>:</a:t>
            </a:r>
            <a:r>
              <a:rPr lang="en-US" sz="2400">
                <a:latin typeface="Aptos"/>
              </a:rPr>
              <a:t> How can you build "game feel" / vibes?</a:t>
            </a:r>
          </a:p>
          <a:p>
            <a:pPr marL="0" indent="0">
              <a:buNone/>
            </a:pPr>
            <a:endParaRPr lang="en-US" sz="800">
              <a:latin typeface="Aptos" panose="020B0004020202020204" pitchFamily="34" charset="0"/>
            </a:endParaRPr>
          </a:p>
          <a:p>
            <a:r>
              <a:rPr lang="en-US" sz="2400">
                <a:latin typeface="Aptos"/>
              </a:rPr>
              <a:t>What are some </a:t>
            </a:r>
            <a:r>
              <a:rPr lang="en-US" sz="2400" b="1" u="sng">
                <a:latin typeface="Aptos"/>
              </a:rPr>
              <a:t>actions</a:t>
            </a:r>
            <a:r>
              <a:rPr lang="en-US" sz="2400">
                <a:latin typeface="Aptos"/>
              </a:rPr>
              <a:t> that people do that're related to your topic?</a:t>
            </a:r>
          </a:p>
          <a:p>
            <a:pPr lvl="1"/>
            <a:r>
              <a:rPr lang="en-US" sz="2000">
                <a:latin typeface="Aptos" panose="020B0004020202020204" pitchFamily="34" charset="0"/>
              </a:rPr>
              <a:t>What do players do a lot? How does the world change the player?</a:t>
            </a:r>
          </a:p>
          <a:p>
            <a:pPr lvl="1"/>
            <a:r>
              <a:rPr lang="en-US" sz="2000">
                <a:latin typeface="Aptos" panose="020B0004020202020204" pitchFamily="34" charset="0"/>
              </a:rPr>
              <a:t>Game mechanics/rules will determine the outcome of actions</a:t>
            </a:r>
          </a:p>
        </p:txBody>
      </p:sp>
      <p:pic>
        <p:nvPicPr>
          <p:cNvPr id="3" name="Picture 2" descr="A person holding a cat&#10;&#10;AI-generated content may be incorrect.">
            <a:extLst>
              <a:ext uri="{FF2B5EF4-FFF2-40B4-BE49-F238E27FC236}">
                <a16:creationId xmlns:a16="http://schemas.microsoft.com/office/drawing/2014/main" id="{672DDE02-BB89-1A40-C1A0-C74CDD0EFC13}"/>
              </a:ext>
            </a:extLst>
          </p:cNvPr>
          <p:cNvPicPr>
            <a:picLocks noChangeAspect="1"/>
          </p:cNvPicPr>
          <p:nvPr/>
        </p:nvPicPr>
        <p:blipFill>
          <a:blip r:embed="rId4"/>
          <a:srcRect r="14691" b="27222"/>
          <a:stretch>
            <a:fillRect/>
          </a:stretch>
        </p:blipFill>
        <p:spPr>
          <a:xfrm>
            <a:off x="8502650" y="2082800"/>
            <a:ext cx="3689353" cy="4197352"/>
          </a:xfrm>
          <a:prstGeom prst="rect">
            <a:avLst/>
          </a:prstGeom>
        </p:spPr>
      </p:pic>
      <p:sp>
        <p:nvSpPr>
          <p:cNvPr id="4" name="TextBox 3">
            <a:extLst>
              <a:ext uri="{FF2B5EF4-FFF2-40B4-BE49-F238E27FC236}">
                <a16:creationId xmlns:a16="http://schemas.microsoft.com/office/drawing/2014/main" id="{2BE5B449-D3C3-3748-66BD-58478DFF8A35}"/>
              </a:ext>
            </a:extLst>
          </p:cNvPr>
          <p:cNvSpPr txBox="1"/>
          <p:nvPr/>
        </p:nvSpPr>
        <p:spPr>
          <a:xfrm>
            <a:off x="8827040" y="6293660"/>
            <a:ext cx="304043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t>My cat &amp; inspiration for my game, Figueroth</a:t>
            </a:r>
            <a:endParaRPr lang="en-US" sz="1400" i="1" err="1"/>
          </a:p>
        </p:txBody>
      </p:sp>
    </p:spTree>
    <p:extLst>
      <p:ext uri="{BB962C8B-B14F-4D97-AF65-F5344CB8AC3E}">
        <p14:creationId xmlns:p14="http://schemas.microsoft.com/office/powerpoint/2010/main" val="2733828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xEl>
                                              <p:pRg st="1" end="1"/>
                                            </p:txEl>
                                          </p:spTgt>
                                        </p:tgtEl>
                                        <p:attrNameLst>
                                          <p:attrName>style.visibility</p:attrName>
                                        </p:attrNameLst>
                                      </p:cBhvr>
                                      <p:to>
                                        <p:strVal val="visible"/>
                                      </p:to>
                                    </p:set>
                                    <p:animEffect transition="in" filter="fade">
                                      <p:cBhvr>
                                        <p:cTn id="10" dur="500"/>
                                        <p:tgtEl>
                                          <p:spTgt spid="1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
                                            <p:txEl>
                                              <p:pRg st="3" end="3"/>
                                            </p:txEl>
                                          </p:spTgt>
                                        </p:tgtEl>
                                        <p:attrNameLst>
                                          <p:attrName>style.visibility</p:attrName>
                                        </p:attrNameLst>
                                      </p:cBhvr>
                                      <p:to>
                                        <p:strVal val="visible"/>
                                      </p:to>
                                    </p:set>
                                    <p:animEffect transition="in" filter="fade">
                                      <p:cBhvr>
                                        <p:cTn id="25" dur="500"/>
                                        <p:tgtEl>
                                          <p:spTgt spid="15">
                                            <p:txEl>
                                              <p:pRg st="3" end="3"/>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xEl>
                                              <p:pRg st="4" end="4"/>
                                            </p:txEl>
                                          </p:spTgt>
                                        </p:tgtEl>
                                        <p:attrNameLst>
                                          <p:attrName>style.visibility</p:attrName>
                                        </p:attrNameLst>
                                      </p:cBhvr>
                                      <p:to>
                                        <p:strVal val="visible"/>
                                      </p:to>
                                    </p:set>
                                    <p:animEffect transition="in" filter="fade">
                                      <p:cBhvr>
                                        <p:cTn id="28" dur="500"/>
                                        <p:tgtEl>
                                          <p:spTgt spid="15">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5">
                                            <p:txEl>
                                              <p:pRg st="6" end="6"/>
                                            </p:txEl>
                                          </p:spTgt>
                                        </p:tgtEl>
                                        <p:attrNameLst>
                                          <p:attrName>style.visibility</p:attrName>
                                        </p:attrNameLst>
                                      </p:cBhvr>
                                      <p:to>
                                        <p:strVal val="visible"/>
                                      </p:to>
                                    </p:set>
                                    <p:animEffect transition="in" filter="fade">
                                      <p:cBhvr>
                                        <p:cTn id="33" dur="500"/>
                                        <p:tgtEl>
                                          <p:spTgt spid="15">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5">
                                            <p:txEl>
                                              <p:pRg st="8" end="8"/>
                                            </p:txEl>
                                          </p:spTgt>
                                        </p:tgtEl>
                                        <p:attrNameLst>
                                          <p:attrName>style.visibility</p:attrName>
                                        </p:attrNameLst>
                                      </p:cBhvr>
                                      <p:to>
                                        <p:strVal val="visible"/>
                                      </p:to>
                                    </p:set>
                                    <p:animEffect transition="in" filter="fade">
                                      <p:cBhvr>
                                        <p:cTn id="38" dur="500"/>
                                        <p:tgtEl>
                                          <p:spTgt spid="15">
                                            <p:txEl>
                                              <p:pRg st="8" end="8"/>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xEl>
                                              <p:pRg st="9" end="9"/>
                                            </p:txEl>
                                          </p:spTgt>
                                        </p:tgtEl>
                                        <p:attrNameLst>
                                          <p:attrName>style.visibility</p:attrName>
                                        </p:attrNameLst>
                                      </p:cBhvr>
                                      <p:to>
                                        <p:strVal val="visible"/>
                                      </p:to>
                                    </p:set>
                                    <p:animEffect transition="in" filter="fade">
                                      <p:cBhvr>
                                        <p:cTn id="41" dur="500"/>
                                        <p:tgtEl>
                                          <p:spTgt spid="15">
                                            <p:txEl>
                                              <p:pRg st="9" end="9"/>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xEl>
                                              <p:pRg st="10" end="10"/>
                                            </p:txEl>
                                          </p:spTgt>
                                        </p:tgtEl>
                                        <p:attrNameLst>
                                          <p:attrName>style.visibility</p:attrName>
                                        </p:attrNameLst>
                                      </p:cBhvr>
                                      <p:to>
                                        <p:strVal val="visible"/>
                                      </p:to>
                                    </p:set>
                                    <p:animEffect transition="in" filter="fade">
                                      <p:cBhvr>
                                        <p:cTn id="44" dur="500"/>
                                        <p:tgtEl>
                                          <p:spTgt spid="1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p:bldP spid="4" grpId="0"/>
    </p:bldLst>
  </p:timing>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C9B15-84C6-06EC-4A41-C27B858B3B91}"/>
              </a:ext>
            </a:extLst>
          </p:cNvPr>
          <p:cNvSpPr>
            <a:spLocks noGrp="1"/>
          </p:cNvSpPr>
          <p:nvPr>
            <p:ph type="title"/>
          </p:nvPr>
        </p:nvSpPr>
        <p:spPr/>
        <p:txBody>
          <a:bodyPr/>
          <a:lstStyle/>
          <a:p>
            <a:r>
              <a:rPr lang="en-US"/>
              <a:t>Workshop: empathize &amp; define</a:t>
            </a:r>
          </a:p>
        </p:txBody>
      </p:sp>
      <p:sp>
        <p:nvSpPr>
          <p:cNvPr id="3" name="Slide Number Placeholder 2">
            <a:extLst>
              <a:ext uri="{FF2B5EF4-FFF2-40B4-BE49-F238E27FC236}">
                <a16:creationId xmlns:a16="http://schemas.microsoft.com/office/drawing/2014/main" id="{95BDD98A-FF12-0B0A-7F4A-2D2D50DF5E7F}"/>
              </a:ext>
            </a:extLst>
          </p:cNvPr>
          <p:cNvSpPr>
            <a:spLocks noGrp="1"/>
          </p:cNvSpPr>
          <p:nvPr>
            <p:ph type="sldNum" sz="quarter" idx="12"/>
          </p:nvPr>
        </p:nvSpPr>
        <p:spPr/>
        <p:txBody>
          <a:bodyPr/>
          <a:lstStyle/>
          <a:p>
            <a:fld id="{294A09A9-5501-47C1-A89A-A340965A2BE2}" type="slidenum">
              <a:rPr lang="en-US" smtClean="0"/>
              <a:t>6</a:t>
            </a:fld>
            <a:endParaRPr lang="en-US"/>
          </a:p>
        </p:txBody>
      </p:sp>
      <p:sp>
        <p:nvSpPr>
          <p:cNvPr id="4" name="Footer Placeholder 3">
            <a:extLst>
              <a:ext uri="{FF2B5EF4-FFF2-40B4-BE49-F238E27FC236}">
                <a16:creationId xmlns:a16="http://schemas.microsoft.com/office/drawing/2014/main" id="{CFD04412-7B05-03E3-38D5-F9CE9CE723A0}"/>
              </a:ext>
            </a:extLst>
          </p:cNvPr>
          <p:cNvSpPr>
            <a:spLocks noGrp="1"/>
          </p:cNvSpPr>
          <p:nvPr>
            <p:ph type="ftr" sz="quarter" idx="13"/>
          </p:nvPr>
        </p:nvSpPr>
        <p:spPr/>
        <p:txBody>
          <a:bodyPr/>
          <a:lstStyle/>
          <a:p>
            <a:r>
              <a:rPr lang="en-US"/>
              <a:t>CREATE YOUR OWN RPG</a:t>
            </a:r>
          </a:p>
        </p:txBody>
      </p:sp>
      <p:sp>
        <p:nvSpPr>
          <p:cNvPr id="5" name="Text Placeholder 4">
            <a:extLst>
              <a:ext uri="{FF2B5EF4-FFF2-40B4-BE49-F238E27FC236}">
                <a16:creationId xmlns:a16="http://schemas.microsoft.com/office/drawing/2014/main" id="{87A94C6F-0C32-702A-99F0-7C42B3D1701B}"/>
              </a:ext>
            </a:extLst>
          </p:cNvPr>
          <p:cNvSpPr>
            <a:spLocks noGrp="1"/>
          </p:cNvSpPr>
          <p:nvPr>
            <p:ph type="body" sz="quarter" idx="14"/>
          </p:nvPr>
        </p:nvSpPr>
        <p:spPr/>
        <p:txBody>
          <a:bodyPr/>
          <a:lstStyle/>
          <a:p>
            <a:r>
              <a:rPr lang="en-US">
                <a:latin typeface="Aptos" panose="020B0004020202020204" pitchFamily="34" charset="0"/>
              </a:rPr>
              <a:t>10 MINUTES</a:t>
            </a:r>
          </a:p>
        </p:txBody>
      </p:sp>
      <p:sp>
        <p:nvSpPr>
          <p:cNvPr id="6" name="Text Placeholder 5">
            <a:extLst>
              <a:ext uri="{FF2B5EF4-FFF2-40B4-BE49-F238E27FC236}">
                <a16:creationId xmlns:a16="http://schemas.microsoft.com/office/drawing/2014/main" id="{716D9E00-B43A-2633-68BC-45F83D772D8C}"/>
              </a:ext>
            </a:extLst>
          </p:cNvPr>
          <p:cNvSpPr>
            <a:spLocks noGrp="1"/>
          </p:cNvSpPr>
          <p:nvPr>
            <p:ph type="body" sz="quarter" idx="15"/>
          </p:nvPr>
        </p:nvSpPr>
        <p:spPr/>
        <p:txBody>
          <a:bodyPr/>
          <a:lstStyle/>
          <a:p>
            <a:r>
              <a:rPr lang="en-US">
                <a:latin typeface="Aptos" panose="020B0004020202020204" pitchFamily="34" charset="0"/>
              </a:rPr>
              <a:t>PART 1</a:t>
            </a:r>
          </a:p>
        </p:txBody>
      </p:sp>
      <p:graphicFrame>
        <p:nvGraphicFramePr>
          <p:cNvPr id="12" name="Table 11">
            <a:extLst>
              <a:ext uri="{FF2B5EF4-FFF2-40B4-BE49-F238E27FC236}">
                <a16:creationId xmlns:a16="http://schemas.microsoft.com/office/drawing/2014/main" id="{D2A00DD7-9384-E7A9-B523-D204942B2057}"/>
              </a:ext>
            </a:extLst>
          </p:cNvPr>
          <p:cNvGraphicFramePr>
            <a:graphicFrameLocks noGrp="1"/>
          </p:cNvGraphicFramePr>
          <p:nvPr>
            <p:extLst>
              <p:ext uri="{D42A27DB-BD31-4B8C-83A1-F6EECF244321}">
                <p14:modId xmlns:p14="http://schemas.microsoft.com/office/powerpoint/2010/main" val="1349102076"/>
              </p:ext>
            </p:extLst>
          </p:nvPr>
        </p:nvGraphicFramePr>
        <p:xfrm>
          <a:off x="572614" y="1717256"/>
          <a:ext cx="11306175" cy="4023360"/>
        </p:xfrm>
        <a:graphic>
          <a:graphicData uri="http://schemas.openxmlformats.org/drawingml/2006/table">
            <a:tbl>
              <a:tblPr firstRow="1" bandRow="1">
                <a:tableStyleId>{D27102A9-8310-4765-A935-A1911B00CA55}</a:tableStyleId>
              </a:tblPr>
              <a:tblGrid>
                <a:gridCol w="1924050">
                  <a:extLst>
                    <a:ext uri="{9D8B030D-6E8A-4147-A177-3AD203B41FA5}">
                      <a16:colId xmlns:a16="http://schemas.microsoft.com/office/drawing/2014/main" val="42641832"/>
                    </a:ext>
                  </a:extLst>
                </a:gridCol>
                <a:gridCol w="4705350">
                  <a:extLst>
                    <a:ext uri="{9D8B030D-6E8A-4147-A177-3AD203B41FA5}">
                      <a16:colId xmlns:a16="http://schemas.microsoft.com/office/drawing/2014/main" val="1579902591"/>
                    </a:ext>
                  </a:extLst>
                </a:gridCol>
                <a:gridCol w="4676775">
                  <a:extLst>
                    <a:ext uri="{9D8B030D-6E8A-4147-A177-3AD203B41FA5}">
                      <a16:colId xmlns:a16="http://schemas.microsoft.com/office/drawing/2014/main" val="4078690978"/>
                    </a:ext>
                  </a:extLst>
                </a:gridCol>
              </a:tblGrid>
              <a:tr h="361950">
                <a:tc>
                  <a:txBody>
                    <a:bodyPr/>
                    <a:lstStyle/>
                    <a:p>
                      <a:pPr algn="l" fontAlgn="base"/>
                      <a:r>
                        <a:rPr lang="en-US" sz="1800" b="1">
                          <a:solidFill>
                            <a:srgbClr val="002060"/>
                          </a:solidFill>
                          <a:effectLst/>
                          <a:latin typeface="Aptos" panose="020B0004020202020204" pitchFamily="34" charset="0"/>
                        </a:rPr>
                        <a:t>FIELD</a:t>
                      </a:r>
                      <a:endParaRPr lang="en-US" b="1" i="0">
                        <a:solidFill>
                          <a:srgbClr val="002060"/>
                        </a:solidFill>
                        <a:effectLst/>
                        <a:latin typeface="Aptos" panose="020B0004020202020204" pitchFamily="34" charset="0"/>
                      </a:endParaRPr>
                    </a:p>
                  </a:txBody>
                  <a:tcPr/>
                </a:tc>
                <a:tc>
                  <a:txBody>
                    <a:bodyPr/>
                    <a:lstStyle/>
                    <a:p>
                      <a:pPr algn="l" fontAlgn="base"/>
                      <a:r>
                        <a:rPr lang="en-US" sz="1800" b="1">
                          <a:solidFill>
                            <a:srgbClr val="002060"/>
                          </a:solidFill>
                          <a:effectLst/>
                          <a:latin typeface="Aptos" panose="020B0004020202020204" pitchFamily="34" charset="0"/>
                        </a:rPr>
                        <a:t>DESCRIPTION</a:t>
                      </a:r>
                      <a:endParaRPr lang="en-US" b="1" i="0">
                        <a:solidFill>
                          <a:srgbClr val="002060"/>
                        </a:solidFill>
                        <a:effectLst/>
                        <a:latin typeface="Aptos" panose="020B0004020202020204" pitchFamily="34" charset="0"/>
                      </a:endParaRPr>
                    </a:p>
                  </a:txBody>
                  <a:tcPr/>
                </a:tc>
                <a:tc>
                  <a:txBody>
                    <a:bodyPr/>
                    <a:lstStyle/>
                    <a:p>
                      <a:pPr algn="l" fontAlgn="base"/>
                      <a:r>
                        <a:rPr lang="en-US" sz="1800" b="1">
                          <a:solidFill>
                            <a:srgbClr val="002060"/>
                          </a:solidFill>
                          <a:effectLst/>
                          <a:latin typeface="Aptos" panose="020B0004020202020204" pitchFamily="34" charset="0"/>
                        </a:rPr>
                        <a:t>EXAMPLES</a:t>
                      </a:r>
                      <a:endParaRPr lang="en-US" b="1" i="0">
                        <a:solidFill>
                          <a:srgbClr val="002060"/>
                        </a:solidFill>
                        <a:effectLst/>
                        <a:latin typeface="Aptos" panose="020B0004020202020204" pitchFamily="34" charset="0"/>
                      </a:endParaRPr>
                    </a:p>
                  </a:txBody>
                  <a:tcPr/>
                </a:tc>
                <a:extLst>
                  <a:ext uri="{0D108BD9-81ED-4DB2-BD59-A6C34878D82A}">
                    <a16:rowId xmlns:a16="http://schemas.microsoft.com/office/drawing/2014/main" val="1530818379"/>
                  </a:ext>
                </a:extLst>
              </a:tr>
              <a:tr h="361950">
                <a:tc>
                  <a:txBody>
                    <a:bodyPr/>
                    <a:lstStyle/>
                    <a:p>
                      <a:pPr algn="l" fontAlgn="base"/>
                      <a:r>
                        <a:rPr lang="en-US" sz="1800" b="0">
                          <a:solidFill>
                            <a:srgbClr val="002060"/>
                          </a:solidFill>
                          <a:effectLst/>
                          <a:latin typeface="Aptos" panose="020B0004020202020204" pitchFamily="34" charset="0"/>
                        </a:rPr>
                        <a:t>Topic</a:t>
                      </a:r>
                      <a:endParaRPr lang="en-US" b="0" i="0">
                        <a:solidFill>
                          <a:srgbClr val="002060"/>
                        </a:solidFill>
                        <a:effectLst/>
                        <a:latin typeface="Aptos" panose="020B0004020202020204" pitchFamily="34" charset="0"/>
                      </a:endParaRPr>
                    </a:p>
                  </a:txBody>
                  <a:tcPr/>
                </a:tc>
                <a:tc>
                  <a:txBody>
                    <a:bodyPr/>
                    <a:lstStyle/>
                    <a:p>
                      <a:pPr algn="l" fontAlgn="base"/>
                      <a:r>
                        <a:rPr lang="en-US" sz="1800" b="0">
                          <a:solidFill>
                            <a:srgbClr val="002060"/>
                          </a:solidFill>
                          <a:effectLst/>
                          <a:latin typeface="Aptos" panose="020B0004020202020204" pitchFamily="34" charset="0"/>
                        </a:rPr>
                        <a:t>What your game will be about</a:t>
                      </a:r>
                      <a:endParaRPr lang="en-US" b="0" i="0">
                        <a:solidFill>
                          <a:srgbClr val="002060"/>
                        </a:solidFill>
                        <a:effectLst/>
                        <a:latin typeface="Aptos" panose="020B0004020202020204" pitchFamily="34" charset="0"/>
                      </a:endParaRPr>
                    </a:p>
                  </a:txBody>
                  <a:tcPr/>
                </a:tc>
                <a:tc>
                  <a:txBody>
                    <a:bodyPr/>
                    <a:lstStyle/>
                    <a:p>
                      <a:pPr algn="l" fontAlgn="base"/>
                      <a:r>
                        <a:rPr lang="en-US" sz="1800" b="0">
                          <a:solidFill>
                            <a:srgbClr val="002060"/>
                          </a:solidFill>
                          <a:effectLst/>
                          <a:latin typeface="Aptos" panose="020B0004020202020204" pitchFamily="34" charset="0"/>
                        </a:rPr>
                        <a:t>Genres, movies/TV shows, video games, personal experiences, … (Cats)</a:t>
                      </a:r>
                      <a:endParaRPr lang="en-US" b="0" i="0">
                        <a:solidFill>
                          <a:srgbClr val="002060"/>
                        </a:solidFill>
                        <a:effectLst/>
                        <a:latin typeface="Aptos" panose="020B0004020202020204" pitchFamily="34" charset="0"/>
                      </a:endParaRPr>
                    </a:p>
                  </a:txBody>
                  <a:tcPr/>
                </a:tc>
                <a:extLst>
                  <a:ext uri="{0D108BD9-81ED-4DB2-BD59-A6C34878D82A}">
                    <a16:rowId xmlns:a16="http://schemas.microsoft.com/office/drawing/2014/main" val="4040509070"/>
                  </a:ext>
                </a:extLst>
              </a:tr>
              <a:tr h="361950">
                <a:tc>
                  <a:txBody>
                    <a:bodyPr/>
                    <a:lstStyle/>
                    <a:p>
                      <a:pPr algn="l" fontAlgn="base"/>
                      <a:r>
                        <a:rPr lang="en-US" sz="1800" b="0">
                          <a:solidFill>
                            <a:srgbClr val="002060"/>
                          </a:solidFill>
                          <a:effectLst/>
                          <a:latin typeface="Aptos" panose="020B0004020202020204" pitchFamily="34" charset="0"/>
                        </a:rPr>
                        <a:t>Inspirations</a:t>
                      </a:r>
                      <a:endParaRPr lang="en-US" b="0" i="0">
                        <a:solidFill>
                          <a:srgbClr val="002060"/>
                        </a:solidFill>
                        <a:effectLst/>
                        <a:latin typeface="Aptos" panose="020B0004020202020204" pitchFamily="34" charset="0"/>
                      </a:endParaRPr>
                    </a:p>
                  </a:txBody>
                  <a:tcPr/>
                </a:tc>
                <a:tc>
                  <a:txBody>
                    <a:bodyPr/>
                    <a:lstStyle/>
                    <a:p>
                      <a:pPr algn="l" fontAlgn="base"/>
                      <a:r>
                        <a:rPr lang="en-US" sz="1800" b="0">
                          <a:solidFill>
                            <a:srgbClr val="002060"/>
                          </a:solidFill>
                          <a:effectLst/>
                          <a:latin typeface="Aptos" panose="020B0004020202020204" pitchFamily="34" charset="0"/>
                        </a:rPr>
                        <a:t>Media that’s related to your topic and games + their mechanics that you’ve liked</a:t>
                      </a:r>
                      <a:endParaRPr lang="en-US" b="0" i="0">
                        <a:solidFill>
                          <a:srgbClr val="002060"/>
                        </a:solidFill>
                        <a:effectLst/>
                        <a:latin typeface="Aptos" panose="020B0004020202020204" pitchFamily="34" charset="0"/>
                      </a:endParaRPr>
                    </a:p>
                  </a:txBody>
                  <a:tcPr/>
                </a:tc>
                <a:tc>
                  <a:txBody>
                    <a:bodyPr/>
                    <a:lstStyle/>
                    <a:p>
                      <a:pPr algn="l" fontAlgn="base"/>
                      <a:r>
                        <a:rPr lang="en-US" sz="1800" b="0">
                          <a:solidFill>
                            <a:srgbClr val="002060"/>
                          </a:solidFill>
                          <a:effectLst/>
                          <a:latin typeface="Aptos" panose="020B0004020202020204" pitchFamily="34" charset="0"/>
                        </a:rPr>
                        <a:t>For “Cats,” video game Stray, my cat Fig, Dungeons and Dragons, Chutes and Ladders, …</a:t>
                      </a:r>
                      <a:endParaRPr lang="en-US" b="0" i="0">
                        <a:solidFill>
                          <a:srgbClr val="002060"/>
                        </a:solidFill>
                        <a:effectLst/>
                        <a:latin typeface="Aptos" panose="020B0004020202020204" pitchFamily="34" charset="0"/>
                      </a:endParaRPr>
                    </a:p>
                  </a:txBody>
                  <a:tcPr/>
                </a:tc>
                <a:extLst>
                  <a:ext uri="{0D108BD9-81ED-4DB2-BD59-A6C34878D82A}">
                    <a16:rowId xmlns:a16="http://schemas.microsoft.com/office/drawing/2014/main" val="2718555249"/>
                  </a:ext>
                </a:extLst>
              </a:tr>
              <a:tr h="361950">
                <a:tc>
                  <a:txBody>
                    <a:bodyPr/>
                    <a:lstStyle/>
                    <a:p>
                      <a:pPr algn="l" fontAlgn="base"/>
                      <a:r>
                        <a:rPr lang="en-US" sz="1800" b="0">
                          <a:solidFill>
                            <a:srgbClr val="002060"/>
                          </a:solidFill>
                          <a:effectLst/>
                          <a:latin typeface="Aptos" panose="020B0004020202020204" pitchFamily="34" charset="0"/>
                        </a:rPr>
                        <a:t>Themes</a:t>
                      </a:r>
                      <a:endParaRPr lang="en-US" b="0" i="0">
                        <a:solidFill>
                          <a:srgbClr val="002060"/>
                        </a:solidFill>
                        <a:effectLst/>
                        <a:latin typeface="Aptos" panose="020B0004020202020204" pitchFamily="34" charset="0"/>
                      </a:endParaRPr>
                    </a:p>
                  </a:txBody>
                  <a:tcPr/>
                </a:tc>
                <a:tc>
                  <a:txBody>
                    <a:bodyPr/>
                    <a:lstStyle/>
                    <a:p>
                      <a:pPr algn="l" fontAlgn="base"/>
                      <a:r>
                        <a:rPr lang="en-US" sz="1800" b="0">
                          <a:solidFill>
                            <a:srgbClr val="002060"/>
                          </a:solidFill>
                          <a:effectLst/>
                          <a:latin typeface="Aptos" panose="020B0004020202020204" pitchFamily="34" charset="0"/>
                        </a:rPr>
                        <a:t>Descriptors for what your players would see/feel in your world</a:t>
                      </a:r>
                      <a:endParaRPr lang="en-US" b="0" i="0">
                        <a:solidFill>
                          <a:srgbClr val="002060"/>
                        </a:solidFill>
                        <a:effectLst/>
                        <a:latin typeface="Aptos" panose="020B0004020202020204" pitchFamily="34" charset="0"/>
                      </a:endParaRPr>
                    </a:p>
                  </a:txBody>
                  <a:tcPr/>
                </a:tc>
                <a:tc>
                  <a:txBody>
                    <a:bodyPr/>
                    <a:lstStyle/>
                    <a:p>
                      <a:pPr algn="l" fontAlgn="base"/>
                      <a:r>
                        <a:rPr lang="en-US" sz="1800" b="0">
                          <a:solidFill>
                            <a:srgbClr val="002060"/>
                          </a:solidFill>
                          <a:effectLst/>
                          <a:latin typeface="Aptos" panose="020B0004020202020204" pitchFamily="34" charset="0"/>
                        </a:rPr>
                        <a:t>For “Cats,” chaotic, silly, lots of cats, maybe other animals, running around a city, …</a:t>
                      </a:r>
                      <a:endParaRPr lang="en-US" b="0" i="0">
                        <a:solidFill>
                          <a:srgbClr val="002060"/>
                        </a:solidFill>
                        <a:effectLst/>
                        <a:latin typeface="Aptos" panose="020B0004020202020204" pitchFamily="34" charset="0"/>
                      </a:endParaRPr>
                    </a:p>
                  </a:txBody>
                  <a:tcPr/>
                </a:tc>
                <a:extLst>
                  <a:ext uri="{0D108BD9-81ED-4DB2-BD59-A6C34878D82A}">
                    <a16:rowId xmlns:a16="http://schemas.microsoft.com/office/drawing/2014/main" val="2249743410"/>
                  </a:ext>
                </a:extLst>
              </a:tr>
              <a:tr h="361950">
                <a:tc>
                  <a:txBody>
                    <a:bodyPr/>
                    <a:lstStyle/>
                    <a:p>
                      <a:pPr algn="l" fontAlgn="base"/>
                      <a:r>
                        <a:rPr lang="en-US" sz="1800" b="0">
                          <a:solidFill>
                            <a:srgbClr val="002060"/>
                          </a:solidFill>
                          <a:effectLst/>
                          <a:latin typeface="Aptos" panose="020B0004020202020204" pitchFamily="34" charset="0"/>
                        </a:rPr>
                        <a:t>Actions</a:t>
                      </a:r>
                      <a:endParaRPr lang="en-US" b="0" i="0">
                        <a:solidFill>
                          <a:srgbClr val="002060"/>
                        </a:solidFill>
                        <a:effectLst/>
                        <a:latin typeface="Aptos" panose="020B0004020202020204" pitchFamily="34" charset="0"/>
                      </a:endParaRPr>
                    </a:p>
                  </a:txBody>
                  <a:tcPr/>
                </a:tc>
                <a:tc>
                  <a:txBody>
                    <a:bodyPr/>
                    <a:lstStyle/>
                    <a:p>
                      <a:pPr algn="l" fontAlgn="base"/>
                      <a:r>
                        <a:rPr lang="en-US" sz="1800" b="0">
                          <a:solidFill>
                            <a:srgbClr val="002060"/>
                          </a:solidFill>
                          <a:effectLst/>
                          <a:latin typeface="Aptos" panose="020B0004020202020204" pitchFamily="34" charset="0"/>
                        </a:rPr>
                        <a:t>Ways your players can interact with the world and vice versa</a:t>
                      </a:r>
                      <a:endParaRPr lang="en-US" b="0" i="0">
                        <a:solidFill>
                          <a:srgbClr val="002060"/>
                        </a:solidFill>
                        <a:effectLst/>
                        <a:latin typeface="Aptos" panose="020B0004020202020204" pitchFamily="34" charset="0"/>
                      </a:endParaRPr>
                    </a:p>
                  </a:txBody>
                  <a:tcPr/>
                </a:tc>
                <a:tc>
                  <a:txBody>
                    <a:bodyPr/>
                    <a:lstStyle/>
                    <a:p>
                      <a:pPr algn="l" fontAlgn="base"/>
                      <a:r>
                        <a:rPr lang="en-US" sz="1800" b="0">
                          <a:solidFill>
                            <a:srgbClr val="002060"/>
                          </a:solidFill>
                          <a:effectLst/>
                          <a:latin typeface="Aptos" panose="020B0004020202020204" pitchFamily="34" charset="0"/>
                        </a:rPr>
                        <a:t>For “Cats,” players could explore small spaces, knock things over, …</a:t>
                      </a:r>
                      <a:endParaRPr lang="en-US" b="0">
                        <a:solidFill>
                          <a:srgbClr val="002060"/>
                        </a:solidFill>
                        <a:effectLst/>
                        <a:latin typeface="Aptos" panose="020B0004020202020204" pitchFamily="34" charset="0"/>
                      </a:endParaRPr>
                    </a:p>
                    <a:p>
                      <a:pPr algn="l" fontAlgn="base"/>
                      <a:r>
                        <a:rPr lang="en-US" sz="1800" b="0">
                          <a:solidFill>
                            <a:srgbClr val="002060"/>
                          </a:solidFill>
                          <a:effectLst/>
                          <a:latin typeface="Aptos" panose="020B0004020202020204" pitchFamily="34" charset="0"/>
                        </a:rPr>
                        <a:t>Players could also encounter scary dogs that chase them, animal control, other humans that try to pet them, etc.</a:t>
                      </a:r>
                      <a:endParaRPr lang="en-US" b="0" i="0">
                        <a:solidFill>
                          <a:srgbClr val="002060"/>
                        </a:solidFill>
                        <a:effectLst/>
                        <a:latin typeface="Aptos" panose="020B0004020202020204" pitchFamily="34" charset="0"/>
                      </a:endParaRPr>
                    </a:p>
                  </a:txBody>
                  <a:tcPr/>
                </a:tc>
                <a:extLst>
                  <a:ext uri="{0D108BD9-81ED-4DB2-BD59-A6C34878D82A}">
                    <a16:rowId xmlns:a16="http://schemas.microsoft.com/office/drawing/2014/main" val="2104744481"/>
                  </a:ext>
                </a:extLst>
              </a:tr>
            </a:tbl>
          </a:graphicData>
        </a:graphic>
      </p:graphicFrame>
      <p:sp>
        <p:nvSpPr>
          <p:cNvPr id="13" name="TextBox 8">
            <a:extLst>
              <a:ext uri="{FF2B5EF4-FFF2-40B4-BE49-F238E27FC236}">
                <a16:creationId xmlns:a16="http://schemas.microsoft.com/office/drawing/2014/main" id="{D4DD86CC-5B22-19B5-AEDF-C8E46C887E9F}"/>
              </a:ext>
            </a:extLst>
          </p:cNvPr>
          <p:cNvSpPr txBox="1"/>
          <p:nvPr/>
        </p:nvSpPr>
        <p:spPr>
          <a:xfrm>
            <a:off x="571108" y="5879854"/>
            <a:ext cx="11319507"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solidFill>
                  <a:schemeClr val="bg1"/>
                </a:solidFill>
              </a:rPr>
              <a:t>Feel free to move on to other sections as you brainstorm</a:t>
            </a:r>
          </a:p>
          <a:p>
            <a:pPr marL="285750" indent="-285750">
              <a:buFont typeface="Arial" panose="020B0604020202020204" pitchFamily="34" charset="0"/>
              <a:buChar char="•"/>
            </a:pPr>
            <a:r>
              <a:rPr lang="en-US">
                <a:solidFill>
                  <a:schemeClr val="bg1"/>
                </a:solidFill>
              </a:rPr>
              <a:t>Nothing needs to be perfect! </a:t>
            </a:r>
          </a:p>
        </p:txBody>
      </p:sp>
      <p:pic>
        <p:nvPicPr>
          <p:cNvPr id="7" name="Graphic 6" descr="Thought bubble with solid fill">
            <a:extLst>
              <a:ext uri="{FF2B5EF4-FFF2-40B4-BE49-F238E27FC236}">
                <a16:creationId xmlns:a16="http://schemas.microsoft.com/office/drawing/2014/main" id="{7C5D3493-ED0B-C229-F1DC-FD4D614E0F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4334" y="684803"/>
            <a:ext cx="420899" cy="420899"/>
          </a:xfrm>
          <a:prstGeom prst="rect">
            <a:avLst/>
          </a:prstGeom>
        </p:spPr>
      </p:pic>
      <p:pic>
        <p:nvPicPr>
          <p:cNvPr id="9" name="Picture 8">
            <a:extLst>
              <a:ext uri="{FF2B5EF4-FFF2-40B4-BE49-F238E27FC236}">
                <a16:creationId xmlns:a16="http://schemas.microsoft.com/office/drawing/2014/main" id="{F3808093-A651-F311-EC43-3F9EC0C23052}"/>
              </a:ext>
            </a:extLst>
          </p:cNvPr>
          <p:cNvPicPr>
            <a:picLocks noChangeAspect="1"/>
          </p:cNvPicPr>
          <p:nvPr/>
        </p:nvPicPr>
        <p:blipFill>
          <a:blip r:embed="rId5"/>
          <a:stretch>
            <a:fillRect/>
          </a:stretch>
        </p:blipFill>
        <p:spPr>
          <a:xfrm rot="404234">
            <a:off x="9778889" y="9532"/>
            <a:ext cx="2363457" cy="1771441"/>
          </a:xfrm>
          <a:prstGeom prst="rect">
            <a:avLst/>
          </a:prstGeom>
        </p:spPr>
      </p:pic>
      <p:sp>
        <p:nvSpPr>
          <p:cNvPr id="8" name="TextBox 7">
            <a:extLst>
              <a:ext uri="{FF2B5EF4-FFF2-40B4-BE49-F238E27FC236}">
                <a16:creationId xmlns:a16="http://schemas.microsoft.com/office/drawing/2014/main" id="{5398C515-C408-231E-4103-D712D9D24FC6}"/>
              </a:ext>
            </a:extLst>
          </p:cNvPr>
          <p:cNvSpPr txBox="1"/>
          <p:nvPr/>
        </p:nvSpPr>
        <p:spPr>
          <a:xfrm>
            <a:off x="630475" y="6096588"/>
            <a:ext cx="11256636" cy="523220"/>
          </a:xfrm>
          <a:prstGeom prst="rect">
            <a:avLst/>
          </a:prstGeom>
          <a:noFill/>
        </p:spPr>
        <p:txBody>
          <a:bodyPr wrap="square">
            <a:spAutoFit/>
          </a:bodyPr>
          <a:lstStyle/>
          <a:p>
            <a:r>
              <a:rPr lang="en-US" sz="2800" i="0">
                <a:solidFill>
                  <a:srgbClr val="002060"/>
                </a:solidFill>
                <a:effectLst/>
                <a:latin typeface="Aptos" panose="020B0004020202020204" pitchFamily="34" charset="0"/>
              </a:rPr>
              <a:t>Worksheets &amp; slides here: </a:t>
            </a:r>
            <a:r>
              <a:rPr lang="en-US" sz="2800" i="1" u="sng">
                <a:latin typeface="Aptos" panose="020B0004020202020204" pitchFamily="34" charset="0"/>
              </a:rPr>
              <a:t>tinyurl.com/</a:t>
            </a:r>
            <a:r>
              <a:rPr lang="en-US" sz="2800" i="1" u="sng" err="1">
                <a:latin typeface="Aptos" panose="020B0004020202020204" pitchFamily="34" charset="0"/>
              </a:rPr>
              <a:t>CreateYourOwnOnePageRPG</a:t>
            </a:r>
            <a:endParaRPr lang="en-US" sz="2800" u="sng">
              <a:solidFill>
                <a:srgbClr val="002060"/>
              </a:solidFill>
              <a:latin typeface="Aptos" panose="020B0004020202020204" pitchFamily="34" charset="0"/>
            </a:endParaRPr>
          </a:p>
        </p:txBody>
      </p:sp>
    </p:spTree>
    <p:extLst>
      <p:ext uri="{BB962C8B-B14F-4D97-AF65-F5344CB8AC3E}">
        <p14:creationId xmlns:p14="http://schemas.microsoft.com/office/powerpoint/2010/main" val="1645589190"/>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9D70E73-28BB-B474-400B-61FE03B8217B}"/>
              </a:ext>
            </a:extLst>
          </p:cNvPr>
          <p:cNvSpPr>
            <a:spLocks noGrp="1"/>
          </p:cNvSpPr>
          <p:nvPr>
            <p:ph type="sldNum" sz="quarter" idx="11"/>
          </p:nvPr>
        </p:nvSpPr>
        <p:spPr>
          <a:xfrm>
            <a:off x="154943" y="6296643"/>
            <a:ext cx="365760" cy="182880"/>
          </a:xfrm>
        </p:spPr>
        <p:txBody>
          <a:bodyPr/>
          <a:lstStyle/>
          <a:p>
            <a:r>
              <a:rPr lang="en-US"/>
              <a:t>8</a:t>
            </a:r>
          </a:p>
        </p:txBody>
      </p:sp>
      <p:sp>
        <p:nvSpPr>
          <p:cNvPr id="2" name="Footer Placeholder 4">
            <a:extLst>
              <a:ext uri="{FF2B5EF4-FFF2-40B4-BE49-F238E27FC236}">
                <a16:creationId xmlns:a16="http://schemas.microsoft.com/office/drawing/2014/main" id="{8D6C57A8-9B32-8F5B-7AAC-0AAEECB70A2A}"/>
              </a:ext>
            </a:extLst>
          </p:cNvPr>
          <p:cNvSpPr>
            <a:spLocks noGrp="1"/>
          </p:cNvSpPr>
          <p:nvPr>
            <p:ph type="ftr" sz="quarter" idx="12"/>
          </p:nvPr>
        </p:nvSpPr>
        <p:spPr>
          <a:xfrm rot="16200000">
            <a:off x="-979231" y="1471261"/>
            <a:ext cx="2631698" cy="182880"/>
          </a:xfrm>
        </p:spPr>
        <p:txBody>
          <a:bodyPr/>
          <a:lstStyle/>
          <a:p>
            <a:r>
              <a:rPr lang="en-US"/>
              <a:t>CREATE YOUR OWN RPG</a:t>
            </a:r>
          </a:p>
        </p:txBody>
      </p:sp>
      <p:sp>
        <p:nvSpPr>
          <p:cNvPr id="13" name="Title 12">
            <a:extLst>
              <a:ext uri="{FF2B5EF4-FFF2-40B4-BE49-F238E27FC236}">
                <a16:creationId xmlns:a16="http://schemas.microsoft.com/office/drawing/2014/main" id="{38361326-6D99-9D40-013F-3B85C21AB76C}"/>
              </a:ext>
            </a:extLst>
          </p:cNvPr>
          <p:cNvSpPr>
            <a:spLocks noGrp="1"/>
          </p:cNvSpPr>
          <p:nvPr>
            <p:ph type="title"/>
          </p:nvPr>
        </p:nvSpPr>
        <p:spPr>
          <a:xfrm>
            <a:off x="1066800" y="191101"/>
            <a:ext cx="10058400" cy="598309"/>
          </a:xfrm>
        </p:spPr>
        <p:txBody>
          <a:bodyPr/>
          <a:lstStyle/>
          <a:p>
            <a:r>
              <a:rPr lang="en-US"/>
              <a:t>Ideate: turn actions into gameplay</a:t>
            </a:r>
          </a:p>
        </p:txBody>
      </p:sp>
      <p:sp>
        <p:nvSpPr>
          <p:cNvPr id="15" name="Content Placeholder 14">
            <a:extLst>
              <a:ext uri="{FF2B5EF4-FFF2-40B4-BE49-F238E27FC236}">
                <a16:creationId xmlns:a16="http://schemas.microsoft.com/office/drawing/2014/main" id="{10DDF6E0-BE85-CF07-6219-6B3403B36CDA}"/>
              </a:ext>
            </a:extLst>
          </p:cNvPr>
          <p:cNvSpPr>
            <a:spLocks noGrp="1"/>
          </p:cNvSpPr>
          <p:nvPr>
            <p:ph idx="4294967295"/>
          </p:nvPr>
        </p:nvSpPr>
        <p:spPr>
          <a:xfrm>
            <a:off x="650929" y="1055040"/>
            <a:ext cx="6147666" cy="4993487"/>
          </a:xfrm>
        </p:spPr>
        <p:txBody>
          <a:bodyPr vert="horz" lIns="0" tIns="0" rIns="0" bIns="0" rtlCol="0" anchor="t">
            <a:noAutofit/>
          </a:bodyPr>
          <a:lstStyle/>
          <a:p>
            <a:r>
              <a:rPr lang="en-US" sz="3200">
                <a:latin typeface="Aptos" panose="020B0004020202020204" pitchFamily="34" charset="0"/>
              </a:rPr>
              <a:t>Mechanics are rules and parts of a game “that govern and guide the player's actions, as well as the game's response to them.” (Wikipedia)</a:t>
            </a:r>
          </a:p>
          <a:p>
            <a:r>
              <a:rPr lang="en-US" sz="3200">
                <a:latin typeface="Aptos" panose="020B0004020202020204" pitchFamily="34" charset="0"/>
              </a:rPr>
              <a:t>What backgrounds can players have to make them feel </a:t>
            </a:r>
            <a:r>
              <a:rPr lang="en-US" sz="3200" b="1">
                <a:latin typeface="Aptos" panose="020B0004020202020204" pitchFamily="34" charset="0"/>
              </a:rPr>
              <a:t>special</a:t>
            </a:r>
            <a:r>
              <a:rPr lang="en-US" sz="3200">
                <a:latin typeface="Aptos" panose="020B0004020202020204" pitchFamily="34" charset="0"/>
              </a:rPr>
              <a:t>?</a:t>
            </a:r>
          </a:p>
          <a:p>
            <a:pPr lvl="1"/>
            <a:r>
              <a:rPr lang="en-US" sz="2800">
                <a:latin typeface="Aptos" panose="020B0004020202020204" pitchFamily="34" charset="0"/>
              </a:rPr>
              <a:t>Customization is key (within reason)</a:t>
            </a:r>
          </a:p>
          <a:p>
            <a:pPr lvl="1"/>
            <a:r>
              <a:rPr lang="en-US" sz="2800">
                <a:latin typeface="Aptos" panose="020B0004020202020204" pitchFamily="34" charset="0"/>
              </a:rPr>
              <a:t>Focus on attributes players can pick that help build a </a:t>
            </a:r>
            <a:r>
              <a:rPr lang="en-US" sz="2800" b="1">
                <a:latin typeface="Aptos" panose="020B0004020202020204" pitchFamily="34" charset="0"/>
              </a:rPr>
              <a:t>backstory</a:t>
            </a:r>
            <a:endParaRPr lang="en-US" sz="2800">
              <a:latin typeface="Aptos" panose="020B0004020202020204" pitchFamily="34" charset="0"/>
            </a:endParaRPr>
          </a:p>
        </p:txBody>
      </p:sp>
      <p:grpSp>
        <p:nvGrpSpPr>
          <p:cNvPr id="4" name="Group 3">
            <a:extLst>
              <a:ext uri="{FF2B5EF4-FFF2-40B4-BE49-F238E27FC236}">
                <a16:creationId xmlns:a16="http://schemas.microsoft.com/office/drawing/2014/main" id="{DF224680-EE88-3D46-EAE0-4BDA7A817689}"/>
              </a:ext>
            </a:extLst>
          </p:cNvPr>
          <p:cNvGrpSpPr/>
          <p:nvPr/>
        </p:nvGrpSpPr>
        <p:grpSpPr>
          <a:xfrm>
            <a:off x="6899334" y="1055041"/>
            <a:ext cx="5397729" cy="4170881"/>
            <a:chOff x="6899334" y="1673412"/>
            <a:chExt cx="5397729" cy="4170881"/>
          </a:xfrm>
        </p:grpSpPr>
        <p:pic>
          <p:nvPicPr>
            <p:cNvPr id="1026" name="Picture 2">
              <a:extLst>
                <a:ext uri="{FF2B5EF4-FFF2-40B4-BE49-F238E27FC236}">
                  <a16:creationId xmlns:a16="http://schemas.microsoft.com/office/drawing/2014/main" id="{B8DEADCC-52BA-0D31-BCCB-19AE79E6BC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9334" y="1673412"/>
              <a:ext cx="5047489" cy="377077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AC54A55-ECED-70FD-5EC4-A8B8B28D4A74}"/>
                </a:ext>
              </a:extLst>
            </p:cNvPr>
            <p:cNvSpPr txBox="1"/>
            <p:nvPr/>
          </p:nvSpPr>
          <p:spPr>
            <a:xfrm>
              <a:off x="6899334" y="5444183"/>
              <a:ext cx="539772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hlinkClick r:id="rId4">
                    <a:extLst>
                      <a:ext uri="{A12FA001-AC4F-418D-AE19-62706E023703}">
                        <ahyp:hlinkClr xmlns:ahyp="http://schemas.microsoft.com/office/drawing/2018/hyperlinkcolor" val="tx"/>
                      </a:ext>
                    </a:extLst>
                  </a:hlinkClick>
                </a:rPr>
                <a:t>Snakes and ladders - Wikipedia</a:t>
              </a:r>
              <a:endParaRPr lang="en-US" sz="2000" i="1">
                <a:latin typeface="Aptos" panose="020B0004020202020204" pitchFamily="34" charset="0"/>
              </a:endParaRPr>
            </a:p>
          </p:txBody>
        </p:sp>
      </p:grpSp>
      <mc:AlternateContent xmlns:mc="http://schemas.openxmlformats.org/markup-compatibility/2006" xmlns:p14="http://schemas.microsoft.com/office/powerpoint/2010/main">
        <mc:Choice Requires="p14">
          <p:contentPart p14:bwMode="auto" r:id="rId5">
            <p14:nvContentPartPr>
              <p14:cNvPr id="24" name="Ink 23">
                <a:extLst>
                  <a:ext uri="{FF2B5EF4-FFF2-40B4-BE49-F238E27FC236}">
                    <a16:creationId xmlns:a16="http://schemas.microsoft.com/office/drawing/2014/main" id="{50BC9B8E-1087-7BBA-A85D-325534E58B3B}"/>
                  </a:ext>
                </a:extLst>
              </p14:cNvPr>
              <p14:cNvContentPartPr/>
              <p14:nvPr/>
            </p14:nvContentPartPr>
            <p14:xfrm>
              <a:off x="7129324" y="4030352"/>
              <a:ext cx="2766600" cy="743760"/>
            </p14:xfrm>
          </p:contentPart>
        </mc:Choice>
        <mc:Fallback xmlns="">
          <p:pic>
            <p:nvPicPr>
              <p:cNvPr id="24" name="Ink 23">
                <a:extLst>
                  <a:ext uri="{FF2B5EF4-FFF2-40B4-BE49-F238E27FC236}">
                    <a16:creationId xmlns:a16="http://schemas.microsoft.com/office/drawing/2014/main" id="{50BC9B8E-1087-7BBA-A85D-325534E58B3B}"/>
                  </a:ext>
                </a:extLst>
              </p:cNvPr>
              <p:cNvPicPr/>
              <p:nvPr/>
            </p:nvPicPr>
            <p:blipFill>
              <a:blip r:embed="rId6"/>
              <a:stretch>
                <a:fillRect/>
              </a:stretch>
            </p:blipFill>
            <p:spPr>
              <a:xfrm>
                <a:off x="7111324" y="4012343"/>
                <a:ext cx="2802240" cy="779417"/>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FF1DD117-915F-A276-D64B-A80A377CF167}"/>
                  </a:ext>
                </a:extLst>
              </p14:cNvPr>
              <p14:cNvContentPartPr/>
              <p14:nvPr/>
            </p14:nvContentPartPr>
            <p14:xfrm>
              <a:off x="8824204" y="3859352"/>
              <a:ext cx="1149120" cy="778320"/>
            </p14:xfrm>
          </p:contentPart>
        </mc:Choice>
        <mc:Fallback xmlns="">
          <p:pic>
            <p:nvPicPr>
              <p:cNvPr id="25" name="Ink 24">
                <a:extLst>
                  <a:ext uri="{FF2B5EF4-FFF2-40B4-BE49-F238E27FC236}">
                    <a16:creationId xmlns:a16="http://schemas.microsoft.com/office/drawing/2014/main" id="{FF1DD117-915F-A276-D64B-A80A377CF167}"/>
                  </a:ext>
                </a:extLst>
              </p:cNvPr>
              <p:cNvPicPr/>
              <p:nvPr/>
            </p:nvPicPr>
            <p:blipFill>
              <a:blip r:embed="rId8"/>
              <a:stretch>
                <a:fillRect/>
              </a:stretch>
            </p:blipFill>
            <p:spPr>
              <a:xfrm>
                <a:off x="8805124" y="3840272"/>
                <a:ext cx="1186920" cy="816120"/>
              </a:xfrm>
              <a:prstGeom prst="rect">
                <a:avLst/>
              </a:prstGeom>
            </p:spPr>
          </p:pic>
        </mc:Fallback>
      </mc:AlternateContent>
    </p:spTree>
    <p:extLst>
      <p:ext uri="{BB962C8B-B14F-4D97-AF65-F5344CB8AC3E}">
        <p14:creationId xmlns:p14="http://schemas.microsoft.com/office/powerpoint/2010/main" val="2941032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down)">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up)">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9B86B-F917-ED5C-4377-BBC9B61F804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8491C18-E7FD-BA69-181B-8B6727D1B276}"/>
              </a:ext>
            </a:extLst>
          </p:cNvPr>
          <p:cNvPicPr>
            <a:picLocks noChangeAspect="1"/>
          </p:cNvPicPr>
          <p:nvPr/>
        </p:nvPicPr>
        <p:blipFill>
          <a:blip r:embed="rId4"/>
          <a:stretch>
            <a:fillRect/>
          </a:stretch>
        </p:blipFill>
        <p:spPr>
          <a:xfrm>
            <a:off x="10809252" y="2582512"/>
            <a:ext cx="2906431" cy="3805571"/>
          </a:xfrm>
          <a:prstGeom prst="rect">
            <a:avLst/>
          </a:prstGeom>
        </p:spPr>
      </p:pic>
      <p:sp>
        <p:nvSpPr>
          <p:cNvPr id="5" name="Slide Number Placeholder 4">
            <a:extLst>
              <a:ext uri="{FF2B5EF4-FFF2-40B4-BE49-F238E27FC236}">
                <a16:creationId xmlns:a16="http://schemas.microsoft.com/office/drawing/2014/main" id="{34793532-A8FC-5A39-2A03-3DD3E085CFD3}"/>
              </a:ext>
            </a:extLst>
          </p:cNvPr>
          <p:cNvSpPr>
            <a:spLocks noGrp="1"/>
          </p:cNvSpPr>
          <p:nvPr>
            <p:ph type="sldNum" sz="quarter" idx="11"/>
          </p:nvPr>
        </p:nvSpPr>
        <p:spPr>
          <a:xfrm>
            <a:off x="154943" y="6296643"/>
            <a:ext cx="365760" cy="182880"/>
          </a:xfrm>
        </p:spPr>
        <p:txBody>
          <a:bodyPr/>
          <a:lstStyle/>
          <a:p>
            <a:r>
              <a:rPr lang="en-US"/>
              <a:t>9</a:t>
            </a:r>
          </a:p>
        </p:txBody>
      </p:sp>
      <p:sp>
        <p:nvSpPr>
          <p:cNvPr id="2" name="Footer Placeholder 4">
            <a:extLst>
              <a:ext uri="{FF2B5EF4-FFF2-40B4-BE49-F238E27FC236}">
                <a16:creationId xmlns:a16="http://schemas.microsoft.com/office/drawing/2014/main" id="{415B2671-CB69-E4CA-3055-A5142E8810EC}"/>
              </a:ext>
            </a:extLst>
          </p:cNvPr>
          <p:cNvSpPr>
            <a:spLocks noGrp="1"/>
          </p:cNvSpPr>
          <p:nvPr>
            <p:ph type="ftr" sz="quarter" idx="12"/>
          </p:nvPr>
        </p:nvSpPr>
        <p:spPr>
          <a:xfrm rot="16200000">
            <a:off x="-979231" y="1471261"/>
            <a:ext cx="2631698" cy="182880"/>
          </a:xfrm>
        </p:spPr>
        <p:txBody>
          <a:bodyPr/>
          <a:lstStyle/>
          <a:p>
            <a:r>
              <a:rPr lang="en-US"/>
              <a:t>CREATE YOUR OWN RPG</a:t>
            </a:r>
          </a:p>
        </p:txBody>
      </p:sp>
      <p:sp>
        <p:nvSpPr>
          <p:cNvPr id="13" name="Title 12">
            <a:extLst>
              <a:ext uri="{FF2B5EF4-FFF2-40B4-BE49-F238E27FC236}">
                <a16:creationId xmlns:a16="http://schemas.microsoft.com/office/drawing/2014/main" id="{4630B42E-44BC-7890-BAC4-7A58AB54579A}"/>
              </a:ext>
            </a:extLst>
          </p:cNvPr>
          <p:cNvSpPr>
            <a:spLocks noGrp="1"/>
          </p:cNvSpPr>
          <p:nvPr>
            <p:ph type="title"/>
          </p:nvPr>
        </p:nvSpPr>
        <p:spPr>
          <a:xfrm>
            <a:off x="1066800" y="191101"/>
            <a:ext cx="10058400" cy="1371600"/>
          </a:xfrm>
        </p:spPr>
        <p:txBody>
          <a:bodyPr/>
          <a:lstStyle/>
          <a:p>
            <a:r>
              <a:rPr lang="en-US"/>
              <a:t>Actions </a:t>
            </a:r>
            <a:r>
              <a:rPr lang="en-US">
                <a:sym typeface="Wingdings" panose="05000000000000000000" pitchFamily="2" charset="2"/>
              </a:rPr>
              <a:t></a:t>
            </a:r>
            <a:r>
              <a:rPr lang="en-US"/>
              <a:t> Mechanics</a:t>
            </a:r>
          </a:p>
        </p:txBody>
      </p:sp>
      <p:sp>
        <p:nvSpPr>
          <p:cNvPr id="3" name="Cloud 2">
            <a:extLst>
              <a:ext uri="{FF2B5EF4-FFF2-40B4-BE49-F238E27FC236}">
                <a16:creationId xmlns:a16="http://schemas.microsoft.com/office/drawing/2014/main" id="{14659D2C-0E70-DE9E-376D-78B01307E788}"/>
              </a:ext>
            </a:extLst>
          </p:cNvPr>
          <p:cNvSpPr/>
          <p:nvPr/>
        </p:nvSpPr>
        <p:spPr>
          <a:xfrm>
            <a:off x="2473404" y="682416"/>
            <a:ext cx="8116624" cy="2631698"/>
          </a:xfrm>
          <a:prstGeom prst="cloud">
            <a:avLst/>
          </a:prstGeom>
        </p:spPr>
        <p:style>
          <a:lnRef idx="2">
            <a:schemeClr val="accent5"/>
          </a:lnRef>
          <a:fillRef idx="1">
            <a:schemeClr val="lt1"/>
          </a:fillRef>
          <a:effectRef idx="0">
            <a:schemeClr val="accent5"/>
          </a:effectRef>
          <a:fontRef idx="minor">
            <a:schemeClr val="dk1"/>
          </a:fontRef>
        </p:style>
        <p:txBody>
          <a:bodyPr rtlCol="0" anchor="t"/>
          <a:lstStyle/>
          <a:p>
            <a:pPr algn="ctr"/>
            <a:r>
              <a:rPr lang="en-US" sz="3000" b="1" u="sng">
                <a:latin typeface="Aptos" panose="020B0004020202020204" pitchFamily="34" charset="0"/>
              </a:rPr>
              <a:t>Fighting</a:t>
            </a:r>
            <a:r>
              <a:rPr lang="en-US" sz="3000">
                <a:latin typeface="Aptos" panose="020B0004020202020204" pitchFamily="34" charset="0"/>
              </a:rPr>
              <a:t> </a:t>
            </a:r>
          </a:p>
          <a:p>
            <a:pPr algn="ctr"/>
            <a:r>
              <a:rPr lang="en-US" sz="3000">
                <a:latin typeface="Aptos" panose="020B0004020202020204" pitchFamily="34" charset="0"/>
              </a:rPr>
              <a:t>Swinging a sword</a:t>
            </a:r>
          </a:p>
          <a:p>
            <a:pPr algn="ctr"/>
            <a:r>
              <a:rPr lang="en-US" sz="3000">
                <a:latin typeface="Aptos" panose="020B0004020202020204" pitchFamily="34" charset="0"/>
              </a:rPr>
              <a:t>Casting a spell</a:t>
            </a:r>
          </a:p>
          <a:p>
            <a:pPr algn="ctr"/>
            <a:r>
              <a:rPr lang="en-US" sz="3000">
                <a:latin typeface="Aptos" panose="020B0004020202020204" pitchFamily="34" charset="0"/>
              </a:rPr>
              <a:t>Throwing your fists</a:t>
            </a:r>
          </a:p>
          <a:p>
            <a:pPr algn="ctr"/>
            <a:endParaRPr lang="en-US" sz="3000">
              <a:latin typeface="Aptos" panose="020B0004020202020204" pitchFamily="34" charset="0"/>
            </a:endParaRPr>
          </a:p>
        </p:txBody>
      </p:sp>
      <p:grpSp>
        <p:nvGrpSpPr>
          <p:cNvPr id="26" name="Group 25">
            <a:extLst>
              <a:ext uri="{FF2B5EF4-FFF2-40B4-BE49-F238E27FC236}">
                <a16:creationId xmlns:a16="http://schemas.microsoft.com/office/drawing/2014/main" id="{7FB4E819-1D03-8D65-8CE5-DD8CD9E02C8E}"/>
              </a:ext>
            </a:extLst>
          </p:cNvPr>
          <p:cNvGrpSpPr/>
          <p:nvPr/>
        </p:nvGrpSpPr>
        <p:grpSpPr>
          <a:xfrm>
            <a:off x="2159844" y="3685155"/>
            <a:ext cx="9032855" cy="1139125"/>
            <a:chOff x="2619214" y="2960874"/>
            <a:chExt cx="6614065" cy="1139125"/>
          </a:xfrm>
        </p:grpSpPr>
        <p:sp>
          <p:nvSpPr>
            <p:cNvPr id="4" name="Rectangle: Single Corner Rounded 3">
              <a:extLst>
                <a:ext uri="{FF2B5EF4-FFF2-40B4-BE49-F238E27FC236}">
                  <a16:creationId xmlns:a16="http://schemas.microsoft.com/office/drawing/2014/main" id="{F7C8F523-15C5-DAB4-9761-4F10762D922F}"/>
                </a:ext>
              </a:extLst>
            </p:cNvPr>
            <p:cNvSpPr/>
            <p:nvPr/>
          </p:nvSpPr>
          <p:spPr>
            <a:xfrm>
              <a:off x="2619214" y="3480067"/>
              <a:ext cx="2053525" cy="619932"/>
            </a:xfrm>
            <a:prstGeom prst="round1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000">
                  <a:latin typeface="Aptos" panose="020B0004020202020204" pitchFamily="34" charset="0"/>
                </a:rPr>
                <a:t>Strength</a:t>
              </a:r>
            </a:p>
          </p:txBody>
        </p:sp>
        <p:sp>
          <p:nvSpPr>
            <p:cNvPr id="6" name="Rectangle: Single Corner Rounded 5">
              <a:extLst>
                <a:ext uri="{FF2B5EF4-FFF2-40B4-BE49-F238E27FC236}">
                  <a16:creationId xmlns:a16="http://schemas.microsoft.com/office/drawing/2014/main" id="{D0CEAED5-C37D-2301-6DE6-1605DD2077AF}"/>
                </a:ext>
              </a:extLst>
            </p:cNvPr>
            <p:cNvSpPr/>
            <p:nvPr/>
          </p:nvSpPr>
          <p:spPr>
            <a:xfrm>
              <a:off x="4899484" y="3480067"/>
              <a:ext cx="2053525" cy="619932"/>
            </a:xfrm>
            <a:prstGeom prst="round1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000">
                  <a:latin typeface="Aptos" panose="020B0004020202020204" pitchFamily="34" charset="0"/>
                </a:rPr>
                <a:t>Type of weapon</a:t>
              </a:r>
            </a:p>
          </p:txBody>
        </p:sp>
        <p:sp>
          <p:nvSpPr>
            <p:cNvPr id="7" name="Rectangle: Single Corner Rounded 6">
              <a:extLst>
                <a:ext uri="{FF2B5EF4-FFF2-40B4-BE49-F238E27FC236}">
                  <a16:creationId xmlns:a16="http://schemas.microsoft.com/office/drawing/2014/main" id="{ADB85698-BCD8-C432-3E1E-ABE8BB11CB12}"/>
                </a:ext>
              </a:extLst>
            </p:cNvPr>
            <p:cNvSpPr/>
            <p:nvPr/>
          </p:nvSpPr>
          <p:spPr>
            <a:xfrm>
              <a:off x="7179754" y="3480067"/>
              <a:ext cx="2053525" cy="619932"/>
            </a:xfrm>
            <a:prstGeom prst="round1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000">
                  <a:latin typeface="Aptos" panose="020B0004020202020204" pitchFamily="34" charset="0"/>
                </a:rPr>
                <a:t>Enemy armor</a:t>
              </a:r>
            </a:p>
          </p:txBody>
        </p:sp>
        <p:cxnSp>
          <p:nvCxnSpPr>
            <p:cNvPr id="9" name="Straight Arrow Connector 8">
              <a:extLst>
                <a:ext uri="{FF2B5EF4-FFF2-40B4-BE49-F238E27FC236}">
                  <a16:creationId xmlns:a16="http://schemas.microsoft.com/office/drawing/2014/main" id="{34CEA99F-92A9-60B9-7D1D-FC595B6D5C5C}"/>
                </a:ext>
              </a:extLst>
            </p:cNvPr>
            <p:cNvCxnSpPr>
              <a:cxnSpLocks/>
            </p:cNvCxnSpPr>
            <p:nvPr/>
          </p:nvCxnSpPr>
          <p:spPr>
            <a:xfrm flipH="1">
              <a:off x="4223288" y="2980246"/>
              <a:ext cx="216976" cy="379709"/>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 name="Straight Arrow Connector 10">
              <a:extLst>
                <a:ext uri="{FF2B5EF4-FFF2-40B4-BE49-F238E27FC236}">
                  <a16:creationId xmlns:a16="http://schemas.microsoft.com/office/drawing/2014/main" id="{AFE3AAEE-29D5-AD5E-6A92-449A2C1F0E81}"/>
                </a:ext>
              </a:extLst>
            </p:cNvPr>
            <p:cNvCxnSpPr>
              <a:cxnSpLocks/>
            </p:cNvCxnSpPr>
            <p:nvPr/>
          </p:nvCxnSpPr>
          <p:spPr>
            <a:xfrm>
              <a:off x="5852041" y="3060895"/>
              <a:ext cx="0" cy="290593"/>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a:extLst>
                <a:ext uri="{FF2B5EF4-FFF2-40B4-BE49-F238E27FC236}">
                  <a16:creationId xmlns:a16="http://schemas.microsoft.com/office/drawing/2014/main" id="{EE137B72-5569-6D3F-45EA-235C1DC5E6FA}"/>
                </a:ext>
              </a:extLst>
            </p:cNvPr>
            <p:cNvCxnSpPr>
              <a:cxnSpLocks/>
            </p:cNvCxnSpPr>
            <p:nvPr/>
          </p:nvCxnSpPr>
          <p:spPr>
            <a:xfrm>
              <a:off x="7271287" y="2960874"/>
              <a:ext cx="440411" cy="418454"/>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nvGrpSpPr>
          <p:cNvPr id="27" name="Group 26">
            <a:extLst>
              <a:ext uri="{FF2B5EF4-FFF2-40B4-BE49-F238E27FC236}">
                <a16:creationId xmlns:a16="http://schemas.microsoft.com/office/drawing/2014/main" id="{F4D93393-10EC-F6E8-E4E4-02783B805C9A}"/>
              </a:ext>
            </a:extLst>
          </p:cNvPr>
          <p:cNvGrpSpPr/>
          <p:nvPr/>
        </p:nvGrpSpPr>
        <p:grpSpPr>
          <a:xfrm>
            <a:off x="1989041" y="5599585"/>
            <a:ext cx="9032855" cy="1053309"/>
            <a:chOff x="2548742" y="4172945"/>
            <a:chExt cx="6614065" cy="1053309"/>
          </a:xfrm>
        </p:grpSpPr>
        <p:sp>
          <p:nvSpPr>
            <p:cNvPr id="18" name="Rectangle: Single Corner Rounded 17">
              <a:extLst>
                <a:ext uri="{FF2B5EF4-FFF2-40B4-BE49-F238E27FC236}">
                  <a16:creationId xmlns:a16="http://schemas.microsoft.com/office/drawing/2014/main" id="{DD13B892-BFD9-D033-B3C4-C95A0717734D}"/>
                </a:ext>
              </a:extLst>
            </p:cNvPr>
            <p:cNvSpPr/>
            <p:nvPr/>
          </p:nvSpPr>
          <p:spPr>
            <a:xfrm>
              <a:off x="2548742" y="4606322"/>
              <a:ext cx="2053525" cy="619932"/>
            </a:xfrm>
            <a:prstGeom prst="round1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000">
                  <a:latin typeface="Aptos" panose="020B0004020202020204" pitchFamily="34" charset="0"/>
                </a:rPr>
                <a:t>Attributes</a:t>
              </a:r>
            </a:p>
          </p:txBody>
        </p:sp>
        <p:sp>
          <p:nvSpPr>
            <p:cNvPr id="19" name="Rectangle: Single Corner Rounded 18">
              <a:extLst>
                <a:ext uri="{FF2B5EF4-FFF2-40B4-BE49-F238E27FC236}">
                  <a16:creationId xmlns:a16="http://schemas.microsoft.com/office/drawing/2014/main" id="{0769CA5D-6098-9389-7C13-EA5F3359B99D}"/>
                </a:ext>
              </a:extLst>
            </p:cNvPr>
            <p:cNvSpPr/>
            <p:nvPr/>
          </p:nvSpPr>
          <p:spPr>
            <a:xfrm>
              <a:off x="4829012" y="4606322"/>
              <a:ext cx="2053525" cy="619932"/>
            </a:xfrm>
            <a:prstGeom prst="round1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000">
                  <a:latin typeface="Aptos" panose="020B0004020202020204" pitchFamily="34" charset="0"/>
                </a:rPr>
                <a:t>Weapon stats</a:t>
              </a:r>
            </a:p>
          </p:txBody>
        </p:sp>
        <p:sp>
          <p:nvSpPr>
            <p:cNvPr id="20" name="Rectangle: Single Corner Rounded 19">
              <a:extLst>
                <a:ext uri="{FF2B5EF4-FFF2-40B4-BE49-F238E27FC236}">
                  <a16:creationId xmlns:a16="http://schemas.microsoft.com/office/drawing/2014/main" id="{94389FAF-EF34-19AA-5E15-DE68CCE47BCC}"/>
                </a:ext>
              </a:extLst>
            </p:cNvPr>
            <p:cNvSpPr/>
            <p:nvPr/>
          </p:nvSpPr>
          <p:spPr>
            <a:xfrm>
              <a:off x="7109282" y="4606322"/>
              <a:ext cx="2053525" cy="619932"/>
            </a:xfrm>
            <a:prstGeom prst="round1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000">
                  <a:latin typeface="Aptos" panose="020B0004020202020204" pitchFamily="34" charset="0"/>
                </a:rPr>
                <a:t>Armor class</a:t>
              </a:r>
            </a:p>
          </p:txBody>
        </p:sp>
        <p:cxnSp>
          <p:nvCxnSpPr>
            <p:cNvPr id="21" name="Straight Arrow Connector 20">
              <a:extLst>
                <a:ext uri="{FF2B5EF4-FFF2-40B4-BE49-F238E27FC236}">
                  <a16:creationId xmlns:a16="http://schemas.microsoft.com/office/drawing/2014/main" id="{F252F932-DE16-5C2C-013F-0372ABC9D9B5}"/>
                </a:ext>
              </a:extLst>
            </p:cNvPr>
            <p:cNvCxnSpPr>
              <a:cxnSpLocks/>
            </p:cNvCxnSpPr>
            <p:nvPr/>
          </p:nvCxnSpPr>
          <p:spPr>
            <a:xfrm>
              <a:off x="3537488" y="4172945"/>
              <a:ext cx="0" cy="352011"/>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Straight Arrow Connector 21">
              <a:extLst>
                <a:ext uri="{FF2B5EF4-FFF2-40B4-BE49-F238E27FC236}">
                  <a16:creationId xmlns:a16="http://schemas.microsoft.com/office/drawing/2014/main" id="{6B36CD25-792D-D10B-62AA-9E246B5E8943}"/>
                </a:ext>
              </a:extLst>
            </p:cNvPr>
            <p:cNvCxnSpPr>
              <a:cxnSpLocks/>
            </p:cNvCxnSpPr>
            <p:nvPr/>
          </p:nvCxnSpPr>
          <p:spPr>
            <a:xfrm>
              <a:off x="5917790" y="4241442"/>
              <a:ext cx="0" cy="290593"/>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a:extLst>
                <a:ext uri="{FF2B5EF4-FFF2-40B4-BE49-F238E27FC236}">
                  <a16:creationId xmlns:a16="http://schemas.microsoft.com/office/drawing/2014/main" id="{DE1B50BE-F01A-F6E4-5B03-CEDBA46BF80C}"/>
                </a:ext>
              </a:extLst>
            </p:cNvPr>
            <p:cNvCxnSpPr>
              <a:cxnSpLocks/>
            </p:cNvCxnSpPr>
            <p:nvPr/>
          </p:nvCxnSpPr>
          <p:spPr>
            <a:xfrm>
              <a:off x="8191718" y="4172945"/>
              <a:ext cx="0" cy="324218"/>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28" name="Title 12">
            <a:extLst>
              <a:ext uri="{FF2B5EF4-FFF2-40B4-BE49-F238E27FC236}">
                <a16:creationId xmlns:a16="http://schemas.microsoft.com/office/drawing/2014/main" id="{142B93D4-E38B-553C-2F50-3DF1583D02C2}"/>
              </a:ext>
            </a:extLst>
          </p:cNvPr>
          <p:cNvSpPr txBox="1">
            <a:spLocks/>
          </p:cNvSpPr>
          <p:nvPr/>
        </p:nvSpPr>
        <p:spPr>
          <a:xfrm>
            <a:off x="-666215" y="1942514"/>
            <a:ext cx="4599889" cy="1371600"/>
          </a:xfrm>
          <a:prstGeom prst="rect">
            <a:avLst/>
          </a:prstGeom>
        </p:spPr>
        <p:txBody>
          <a:bodyPr vert="horz" lIns="0" tIns="0" rIns="0" bIns="0" rtlCol="0" anchor="t">
            <a:noAutofit/>
          </a:bodyPr>
          <a:lstStyle>
            <a:lvl1pPr algn="ctr" defTabSz="914400" rtl="0" eaLnBrk="1" latinLnBrk="0" hangingPunct="1">
              <a:lnSpc>
                <a:spcPct val="90000"/>
              </a:lnSpc>
              <a:spcBef>
                <a:spcPct val="0"/>
              </a:spcBef>
              <a:buNone/>
              <a:defRPr sz="4300" kern="1200" cap="none" spc="300" baseline="0">
                <a:solidFill>
                  <a:srgbClr val="002060"/>
                </a:solidFill>
                <a:latin typeface="Book Antiqua" panose="02040602050305030304" pitchFamily="18" charset="0"/>
                <a:ea typeface="+mj-ea"/>
                <a:cs typeface="Angsana New" panose="020B0502040204020203" pitchFamily="18" charset="-34"/>
              </a:defRPr>
            </a:lvl1pPr>
          </a:lstStyle>
          <a:p>
            <a:r>
              <a:rPr lang="en-US" sz="3500"/>
              <a:t>Actions</a:t>
            </a:r>
          </a:p>
        </p:txBody>
      </p:sp>
      <p:sp>
        <p:nvSpPr>
          <p:cNvPr id="29" name="Title 12">
            <a:extLst>
              <a:ext uri="{FF2B5EF4-FFF2-40B4-BE49-F238E27FC236}">
                <a16:creationId xmlns:a16="http://schemas.microsoft.com/office/drawing/2014/main" id="{5813B2B1-5237-3AF6-AB38-30D8C18C0693}"/>
              </a:ext>
            </a:extLst>
          </p:cNvPr>
          <p:cNvSpPr txBox="1">
            <a:spLocks/>
          </p:cNvSpPr>
          <p:nvPr/>
        </p:nvSpPr>
        <p:spPr>
          <a:xfrm>
            <a:off x="4290217" y="5145030"/>
            <a:ext cx="4599889" cy="1371600"/>
          </a:xfrm>
          <a:prstGeom prst="rect">
            <a:avLst/>
          </a:prstGeom>
        </p:spPr>
        <p:txBody>
          <a:bodyPr vert="horz" lIns="0" tIns="0" rIns="0" bIns="0" rtlCol="0" anchor="t">
            <a:noAutofit/>
          </a:bodyPr>
          <a:lstStyle>
            <a:lvl1pPr algn="ctr" defTabSz="914400" rtl="0" eaLnBrk="1" latinLnBrk="0" hangingPunct="1">
              <a:lnSpc>
                <a:spcPct val="90000"/>
              </a:lnSpc>
              <a:spcBef>
                <a:spcPct val="0"/>
              </a:spcBef>
              <a:buNone/>
              <a:defRPr sz="4300" kern="1200" cap="none" spc="300" baseline="0">
                <a:solidFill>
                  <a:srgbClr val="002060"/>
                </a:solidFill>
                <a:latin typeface="Book Antiqua" panose="02040602050305030304" pitchFamily="18" charset="0"/>
                <a:ea typeface="+mj-ea"/>
                <a:cs typeface="Angsana New" panose="020B0502040204020203" pitchFamily="18" charset="-34"/>
              </a:defRPr>
            </a:lvl1pPr>
          </a:lstStyle>
          <a:p>
            <a:r>
              <a:rPr lang="en-US" sz="3500"/>
              <a:t>Mechanics</a:t>
            </a:r>
          </a:p>
        </p:txBody>
      </p:sp>
      <p:sp>
        <p:nvSpPr>
          <p:cNvPr id="10" name="Title 12">
            <a:extLst>
              <a:ext uri="{FF2B5EF4-FFF2-40B4-BE49-F238E27FC236}">
                <a16:creationId xmlns:a16="http://schemas.microsoft.com/office/drawing/2014/main" id="{AAB472A5-5106-875B-A54B-575B06311771}"/>
              </a:ext>
            </a:extLst>
          </p:cNvPr>
          <p:cNvSpPr txBox="1">
            <a:spLocks/>
          </p:cNvSpPr>
          <p:nvPr/>
        </p:nvSpPr>
        <p:spPr>
          <a:xfrm>
            <a:off x="999301" y="3257022"/>
            <a:ext cx="10462597" cy="1371600"/>
          </a:xfrm>
          <a:prstGeom prst="rect">
            <a:avLst/>
          </a:prstGeom>
        </p:spPr>
        <p:txBody>
          <a:bodyPr vert="horz" lIns="0" tIns="0" rIns="0" bIns="0" rtlCol="0" anchor="t">
            <a:noAutofit/>
          </a:bodyPr>
          <a:lstStyle>
            <a:lvl1pPr algn="ctr" defTabSz="914400" rtl="0" eaLnBrk="1" latinLnBrk="0" hangingPunct="1">
              <a:lnSpc>
                <a:spcPct val="90000"/>
              </a:lnSpc>
              <a:spcBef>
                <a:spcPct val="0"/>
              </a:spcBef>
              <a:buNone/>
              <a:defRPr sz="4300" kern="1200" cap="none" spc="300" baseline="0">
                <a:solidFill>
                  <a:srgbClr val="002060"/>
                </a:solidFill>
                <a:latin typeface="Book Antiqua" panose="02040602050305030304" pitchFamily="18" charset="0"/>
                <a:ea typeface="+mj-ea"/>
                <a:cs typeface="Angsana New" panose="020B0502040204020203" pitchFamily="18" charset="-34"/>
              </a:defRPr>
            </a:lvl1pPr>
          </a:lstStyle>
          <a:p>
            <a:r>
              <a:rPr lang="en-US" sz="3500"/>
              <a:t>Important factors swinging a sword</a:t>
            </a:r>
          </a:p>
        </p:txBody>
      </p:sp>
    </p:spTree>
    <p:extLst>
      <p:ext uri="{BB962C8B-B14F-4D97-AF65-F5344CB8AC3E}">
        <p14:creationId xmlns:p14="http://schemas.microsoft.com/office/powerpoint/2010/main" val="2226640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26"/>
                                        </p:tgtEl>
                                        <p:attrNameLst>
                                          <p:attrName>style.visibility</p:attrName>
                                        </p:attrNameLst>
                                      </p:cBhvr>
                                      <p:to>
                                        <p:strVal val="visible"/>
                                      </p:to>
                                    </p:set>
                                    <p:anim calcmode="lin" valueType="num">
                                      <p:cBhvr>
                                        <p:cTn id="24" dur="500" fill="hold"/>
                                        <p:tgtEl>
                                          <p:spTgt spid="26"/>
                                        </p:tgtEl>
                                        <p:attrNameLst>
                                          <p:attrName>ppt_w</p:attrName>
                                        </p:attrNameLst>
                                      </p:cBhvr>
                                      <p:tavLst>
                                        <p:tav tm="0">
                                          <p:val>
                                            <p:fltVal val="0"/>
                                          </p:val>
                                        </p:tav>
                                        <p:tav tm="100000">
                                          <p:val>
                                            <p:strVal val="#ppt_w"/>
                                          </p:val>
                                        </p:tav>
                                      </p:tavLst>
                                    </p:anim>
                                    <p:anim calcmode="lin" valueType="num">
                                      <p:cBhvr>
                                        <p:cTn id="25" dur="500" fill="hold"/>
                                        <p:tgtEl>
                                          <p:spTgt spid="26"/>
                                        </p:tgtEl>
                                        <p:attrNameLst>
                                          <p:attrName>ppt_h</p:attrName>
                                        </p:attrNameLst>
                                      </p:cBhvr>
                                      <p:tavLst>
                                        <p:tav tm="0">
                                          <p:val>
                                            <p:fltVal val="0"/>
                                          </p:val>
                                        </p:tav>
                                        <p:tav tm="100000">
                                          <p:val>
                                            <p:strVal val="#ppt_h"/>
                                          </p:val>
                                        </p:tav>
                                      </p:tavLst>
                                    </p:anim>
                                    <p:animEffect transition="in" filter="fade">
                                      <p:cBhvr>
                                        <p:cTn id="26" dur="500"/>
                                        <p:tgtEl>
                                          <p:spTgt spid="26"/>
                                        </p:tgtEl>
                                      </p:cBhvr>
                                    </p:animEffect>
                                  </p:childTnLst>
                                </p:cTn>
                              </p:par>
                              <p:par>
                                <p:cTn id="27" presetID="10"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1000"/>
                                        <p:tgtEl>
                                          <p:spTgt spid="29"/>
                                        </p:tgtEl>
                                      </p:cBhvr>
                                    </p:animEffect>
                                    <p:anim calcmode="lin" valueType="num">
                                      <p:cBhvr>
                                        <p:cTn id="35" dur="1000" fill="hold"/>
                                        <p:tgtEl>
                                          <p:spTgt spid="29"/>
                                        </p:tgtEl>
                                        <p:attrNameLst>
                                          <p:attrName>ppt_x</p:attrName>
                                        </p:attrNameLst>
                                      </p:cBhvr>
                                      <p:tavLst>
                                        <p:tav tm="0">
                                          <p:val>
                                            <p:strVal val="#ppt_x"/>
                                          </p:val>
                                        </p:tav>
                                        <p:tav tm="100000">
                                          <p:val>
                                            <p:strVal val="#ppt_x"/>
                                          </p:val>
                                        </p:tav>
                                      </p:tavLst>
                                    </p:anim>
                                    <p:anim calcmode="lin" valueType="num">
                                      <p:cBhvr>
                                        <p:cTn id="36"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nodeType="clickEffect">
                                  <p:stCondLst>
                                    <p:cond delay="0"/>
                                  </p:stCondLst>
                                  <p:childTnLst>
                                    <p:set>
                                      <p:cBhvr>
                                        <p:cTn id="40" dur="1" fill="hold">
                                          <p:stCondLst>
                                            <p:cond delay="0"/>
                                          </p:stCondLst>
                                        </p:cTn>
                                        <p:tgtEl>
                                          <p:spTgt spid="27"/>
                                        </p:tgtEl>
                                        <p:attrNameLst>
                                          <p:attrName>style.visibility</p:attrName>
                                        </p:attrNameLst>
                                      </p:cBhvr>
                                      <p:to>
                                        <p:strVal val="visible"/>
                                      </p:to>
                                    </p:set>
                                    <p:anim calcmode="lin" valueType="num">
                                      <p:cBhvr>
                                        <p:cTn id="41" dur="500" fill="hold"/>
                                        <p:tgtEl>
                                          <p:spTgt spid="27"/>
                                        </p:tgtEl>
                                        <p:attrNameLst>
                                          <p:attrName>ppt_w</p:attrName>
                                        </p:attrNameLst>
                                      </p:cBhvr>
                                      <p:tavLst>
                                        <p:tav tm="0">
                                          <p:val>
                                            <p:fltVal val="0"/>
                                          </p:val>
                                        </p:tav>
                                        <p:tav tm="100000">
                                          <p:val>
                                            <p:strVal val="#ppt_w"/>
                                          </p:val>
                                        </p:tav>
                                      </p:tavLst>
                                    </p:anim>
                                    <p:anim calcmode="lin" valueType="num">
                                      <p:cBhvr>
                                        <p:cTn id="42" dur="500" fill="hold"/>
                                        <p:tgtEl>
                                          <p:spTgt spid="27"/>
                                        </p:tgtEl>
                                        <p:attrNameLst>
                                          <p:attrName>ppt_h</p:attrName>
                                        </p:attrNameLst>
                                      </p:cBhvr>
                                      <p:tavLst>
                                        <p:tav tm="0">
                                          <p:val>
                                            <p:fltVal val="0"/>
                                          </p:val>
                                        </p:tav>
                                        <p:tav tm="100000">
                                          <p:val>
                                            <p:strVal val="#ppt_h"/>
                                          </p:val>
                                        </p:tav>
                                      </p:tavLst>
                                    </p:anim>
                                    <p:animEffect transition="in" filter="fade">
                                      <p:cBhvr>
                                        <p:cTn id="4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8" grpId="0"/>
      <p:bldP spid="29" grpId="0"/>
      <p:bldP spid="10" grpId="0"/>
    </p:bldLst>
  </p:timing>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40FCE-FA9E-971B-A117-00BE99848A5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56A942E-402B-4A77-9A92-C995558432AF}"/>
              </a:ext>
            </a:extLst>
          </p:cNvPr>
          <p:cNvSpPr>
            <a:spLocks noGrp="1"/>
          </p:cNvSpPr>
          <p:nvPr>
            <p:ph type="sldNum" sz="quarter" idx="11"/>
          </p:nvPr>
        </p:nvSpPr>
        <p:spPr>
          <a:xfrm>
            <a:off x="154943" y="6296643"/>
            <a:ext cx="365760" cy="182880"/>
          </a:xfrm>
        </p:spPr>
        <p:txBody>
          <a:bodyPr/>
          <a:lstStyle/>
          <a:p>
            <a:r>
              <a:rPr lang="en-US"/>
              <a:t>9</a:t>
            </a:r>
          </a:p>
        </p:txBody>
      </p:sp>
      <p:sp>
        <p:nvSpPr>
          <p:cNvPr id="2" name="Footer Placeholder 4">
            <a:extLst>
              <a:ext uri="{FF2B5EF4-FFF2-40B4-BE49-F238E27FC236}">
                <a16:creationId xmlns:a16="http://schemas.microsoft.com/office/drawing/2014/main" id="{FBDCAE24-01F8-3256-4C22-94CCCBA113F2}"/>
              </a:ext>
            </a:extLst>
          </p:cNvPr>
          <p:cNvSpPr>
            <a:spLocks noGrp="1"/>
          </p:cNvSpPr>
          <p:nvPr>
            <p:ph type="ftr" sz="quarter" idx="12"/>
          </p:nvPr>
        </p:nvSpPr>
        <p:spPr>
          <a:xfrm rot="16200000">
            <a:off x="-979231" y="1471261"/>
            <a:ext cx="2631698" cy="182880"/>
          </a:xfrm>
        </p:spPr>
        <p:txBody>
          <a:bodyPr/>
          <a:lstStyle/>
          <a:p>
            <a:r>
              <a:rPr lang="en-US"/>
              <a:t>CREATE YOUR OWN RPG</a:t>
            </a:r>
          </a:p>
        </p:txBody>
      </p:sp>
      <p:sp>
        <p:nvSpPr>
          <p:cNvPr id="13" name="Title 12">
            <a:extLst>
              <a:ext uri="{FF2B5EF4-FFF2-40B4-BE49-F238E27FC236}">
                <a16:creationId xmlns:a16="http://schemas.microsoft.com/office/drawing/2014/main" id="{9F67EA28-AFFE-CA5E-3750-CCE26F6359C3}"/>
              </a:ext>
            </a:extLst>
          </p:cNvPr>
          <p:cNvSpPr>
            <a:spLocks noGrp="1"/>
          </p:cNvSpPr>
          <p:nvPr>
            <p:ph type="title"/>
          </p:nvPr>
        </p:nvSpPr>
        <p:spPr>
          <a:xfrm>
            <a:off x="1066800" y="191101"/>
            <a:ext cx="10058400" cy="1371600"/>
          </a:xfrm>
        </p:spPr>
        <p:txBody>
          <a:bodyPr/>
          <a:lstStyle/>
          <a:p>
            <a:r>
              <a:rPr lang="en-US"/>
              <a:t>Tools of chance</a:t>
            </a:r>
          </a:p>
        </p:txBody>
      </p:sp>
      <p:grpSp>
        <p:nvGrpSpPr>
          <p:cNvPr id="6" name="Group 5">
            <a:extLst>
              <a:ext uri="{FF2B5EF4-FFF2-40B4-BE49-F238E27FC236}">
                <a16:creationId xmlns:a16="http://schemas.microsoft.com/office/drawing/2014/main" id="{ED8753ED-5449-5BFA-6121-6B60182F25C0}"/>
              </a:ext>
            </a:extLst>
          </p:cNvPr>
          <p:cNvGrpSpPr/>
          <p:nvPr/>
        </p:nvGrpSpPr>
        <p:grpSpPr>
          <a:xfrm>
            <a:off x="1654726" y="721582"/>
            <a:ext cx="8882547" cy="2799697"/>
            <a:chOff x="5066950" y="1157807"/>
            <a:chExt cx="6429212" cy="2799697"/>
          </a:xfrm>
        </p:grpSpPr>
        <p:sp>
          <p:nvSpPr>
            <p:cNvPr id="3" name="Explosion: 14 Points 2">
              <a:extLst>
                <a:ext uri="{FF2B5EF4-FFF2-40B4-BE49-F238E27FC236}">
                  <a16:creationId xmlns:a16="http://schemas.microsoft.com/office/drawing/2014/main" id="{F10F60F6-28EF-B263-635A-10F61E5B02DF}"/>
                </a:ext>
              </a:extLst>
            </p:cNvPr>
            <p:cNvSpPr/>
            <p:nvPr/>
          </p:nvSpPr>
          <p:spPr>
            <a:xfrm>
              <a:off x="5066950" y="1281417"/>
              <a:ext cx="4747220" cy="2676087"/>
            </a:xfrm>
            <a:prstGeom prst="irregularSeal2">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2500">
                  <a:latin typeface="Aptos" panose="020B0004020202020204" pitchFamily="34" charset="0"/>
                  <a:cs typeface="Calibri"/>
                </a:rPr>
                <a:t>What information helps determine the outcome?</a:t>
              </a:r>
            </a:p>
          </p:txBody>
        </p:sp>
        <p:sp>
          <p:nvSpPr>
            <p:cNvPr id="4" name="Explosion: 14 Points 3">
              <a:extLst>
                <a:ext uri="{FF2B5EF4-FFF2-40B4-BE49-F238E27FC236}">
                  <a16:creationId xmlns:a16="http://schemas.microsoft.com/office/drawing/2014/main" id="{A83B54F4-DD04-6FD7-42FB-B3781344B1E8}"/>
                </a:ext>
              </a:extLst>
            </p:cNvPr>
            <p:cNvSpPr/>
            <p:nvPr/>
          </p:nvSpPr>
          <p:spPr>
            <a:xfrm>
              <a:off x="8132177" y="1157807"/>
              <a:ext cx="3363985" cy="2676088"/>
            </a:xfrm>
            <a:prstGeom prst="irregularSeal2">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2500">
                  <a:latin typeface="Aptos" panose="020B0004020202020204" pitchFamily="34" charset="0"/>
                  <a:cs typeface="Calibri"/>
                </a:rPr>
                <a:t>Is there randomness involved?</a:t>
              </a:r>
            </a:p>
          </p:txBody>
        </p:sp>
      </p:grpSp>
      <p:pic>
        <p:nvPicPr>
          <p:cNvPr id="8" name="Picture 7">
            <a:extLst>
              <a:ext uri="{FF2B5EF4-FFF2-40B4-BE49-F238E27FC236}">
                <a16:creationId xmlns:a16="http://schemas.microsoft.com/office/drawing/2014/main" id="{CF896EAD-8D87-97EE-225B-8986B3637B16}"/>
              </a:ext>
            </a:extLst>
          </p:cNvPr>
          <p:cNvPicPr>
            <a:picLocks noChangeAspect="1"/>
          </p:cNvPicPr>
          <p:nvPr/>
        </p:nvPicPr>
        <p:blipFill>
          <a:blip r:embed="rId4"/>
          <a:stretch>
            <a:fillRect/>
          </a:stretch>
        </p:blipFill>
        <p:spPr>
          <a:xfrm>
            <a:off x="4965122" y="3708656"/>
            <a:ext cx="3248324" cy="2958243"/>
          </a:xfrm>
          <a:prstGeom prst="rect">
            <a:avLst/>
          </a:prstGeom>
          <a:ln>
            <a:noFill/>
          </a:ln>
          <a:effectLst>
            <a:outerShdw blurRad="292100" dist="139700" dir="2700000" algn="tl" rotWithShape="0">
              <a:srgbClr val="333333">
                <a:alpha val="65000"/>
              </a:srgbClr>
            </a:outerShdw>
          </a:effectLst>
        </p:spPr>
      </p:pic>
      <p:grpSp>
        <p:nvGrpSpPr>
          <p:cNvPr id="23" name="Group 22">
            <a:extLst>
              <a:ext uri="{FF2B5EF4-FFF2-40B4-BE49-F238E27FC236}">
                <a16:creationId xmlns:a16="http://schemas.microsoft.com/office/drawing/2014/main" id="{39490929-3D79-8FAD-BCA1-914EF57C4685}"/>
              </a:ext>
            </a:extLst>
          </p:cNvPr>
          <p:cNvGrpSpPr/>
          <p:nvPr/>
        </p:nvGrpSpPr>
        <p:grpSpPr>
          <a:xfrm>
            <a:off x="8782920" y="3267015"/>
            <a:ext cx="2601800" cy="3502891"/>
            <a:chOff x="8782920" y="3267015"/>
            <a:chExt cx="2601800" cy="3502891"/>
          </a:xfrm>
        </p:grpSpPr>
        <p:pic>
          <p:nvPicPr>
            <p:cNvPr id="16" name="Graphic 15" descr="Rectangular Prism outline">
              <a:extLst>
                <a:ext uri="{FF2B5EF4-FFF2-40B4-BE49-F238E27FC236}">
                  <a16:creationId xmlns:a16="http://schemas.microsoft.com/office/drawing/2014/main" id="{AB746AB5-47A3-E5D8-1D56-E95A1E1146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09588" y="4019642"/>
              <a:ext cx="1375132" cy="1375132"/>
            </a:xfrm>
            <a:prstGeom prst="rect">
              <a:avLst/>
            </a:prstGeom>
          </p:spPr>
        </p:pic>
        <p:pic>
          <p:nvPicPr>
            <p:cNvPr id="18" name="Graphic 17" descr="Stopwatch outline">
              <a:extLst>
                <a:ext uri="{FF2B5EF4-FFF2-40B4-BE49-F238E27FC236}">
                  <a16:creationId xmlns:a16="http://schemas.microsoft.com/office/drawing/2014/main" id="{D12AD3FA-7865-C393-2EB3-143ED49DB69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82920" y="4544802"/>
              <a:ext cx="1375132" cy="1375132"/>
            </a:xfrm>
            <a:prstGeom prst="rect">
              <a:avLst/>
            </a:prstGeom>
          </p:spPr>
        </p:pic>
        <p:pic>
          <p:nvPicPr>
            <p:cNvPr id="20" name="Graphic 19" descr="Playing card outline">
              <a:extLst>
                <a:ext uri="{FF2B5EF4-FFF2-40B4-BE49-F238E27FC236}">
                  <a16:creationId xmlns:a16="http://schemas.microsoft.com/office/drawing/2014/main" id="{56A16CBF-2A74-DC56-7C0A-D141A57A1E5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801373" y="3267015"/>
              <a:ext cx="1375132" cy="1375132"/>
            </a:xfrm>
            <a:prstGeom prst="rect">
              <a:avLst/>
            </a:prstGeom>
          </p:spPr>
        </p:pic>
        <p:pic>
          <p:nvPicPr>
            <p:cNvPr id="22" name="Graphic 21" descr="Flying Money outline">
              <a:extLst>
                <a:ext uri="{FF2B5EF4-FFF2-40B4-BE49-F238E27FC236}">
                  <a16:creationId xmlns:a16="http://schemas.microsoft.com/office/drawing/2014/main" id="{7CF81AE7-6A59-7733-DFAA-F7C8575385E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09588" y="5394774"/>
              <a:ext cx="1375132" cy="1375132"/>
            </a:xfrm>
            <a:prstGeom prst="rect">
              <a:avLst/>
            </a:prstGeom>
          </p:spPr>
        </p:pic>
      </p:grpSp>
      <p:grpSp>
        <p:nvGrpSpPr>
          <p:cNvPr id="26" name="Group 25">
            <a:extLst>
              <a:ext uri="{FF2B5EF4-FFF2-40B4-BE49-F238E27FC236}">
                <a16:creationId xmlns:a16="http://schemas.microsoft.com/office/drawing/2014/main" id="{805A4558-1AFA-C9C5-1D2A-D3612CCD4A53}"/>
              </a:ext>
            </a:extLst>
          </p:cNvPr>
          <p:cNvGrpSpPr/>
          <p:nvPr/>
        </p:nvGrpSpPr>
        <p:grpSpPr>
          <a:xfrm>
            <a:off x="1304487" y="3621814"/>
            <a:ext cx="3072708" cy="3265663"/>
            <a:chOff x="1304487" y="3621814"/>
            <a:chExt cx="3072708" cy="3265663"/>
          </a:xfrm>
        </p:grpSpPr>
        <p:pic>
          <p:nvPicPr>
            <p:cNvPr id="14" name="Picture 13">
              <a:extLst>
                <a:ext uri="{FF2B5EF4-FFF2-40B4-BE49-F238E27FC236}">
                  <a16:creationId xmlns:a16="http://schemas.microsoft.com/office/drawing/2014/main" id="{128ECB2F-7E1D-69ED-3411-3EF6C3AA8B43}"/>
                </a:ext>
              </a:extLst>
            </p:cNvPr>
            <p:cNvPicPr>
              <a:picLocks noChangeAspect="1"/>
            </p:cNvPicPr>
            <p:nvPr/>
          </p:nvPicPr>
          <p:blipFill>
            <a:blip r:embed="rId9">
              <a:extLst>
                <a:ext uri="{BEBA8EAE-BF5A-486C-A8C5-ECC9F3942E4B}">
                  <a14:imgProps xmlns:a14="http://schemas.microsoft.com/office/drawing/2010/main">
                    <a14:imgLayer r:embed="rId10">
                      <a14:imgEffect>
                        <a14:brightnessContrast bright="40000" contrast="-40000"/>
                      </a14:imgEffect>
                    </a14:imgLayer>
                  </a14:imgProps>
                </a:ext>
              </a:extLst>
            </a:blip>
            <a:stretch>
              <a:fillRect/>
            </a:stretch>
          </p:blipFill>
          <p:spPr>
            <a:xfrm>
              <a:off x="1400759" y="3621814"/>
              <a:ext cx="2810514" cy="2896331"/>
            </a:xfrm>
            <a:prstGeom prst="rect">
              <a:avLst/>
            </a:prstGeom>
            <a:ln>
              <a:noFill/>
            </a:ln>
            <a:effectLst>
              <a:outerShdw blurRad="292100" dist="139700" dir="2700000" algn="tl" rotWithShape="0">
                <a:srgbClr val="333333">
                  <a:alpha val="65000"/>
                </a:srgbClr>
              </a:outerShdw>
            </a:effectLst>
          </p:spPr>
        </p:pic>
        <p:sp>
          <p:nvSpPr>
            <p:cNvPr id="25" name="TextBox 24">
              <a:extLst>
                <a:ext uri="{FF2B5EF4-FFF2-40B4-BE49-F238E27FC236}">
                  <a16:creationId xmlns:a16="http://schemas.microsoft.com/office/drawing/2014/main" id="{003CB3ED-E5FB-3CFA-16D7-FD49649C6EFD}"/>
                </a:ext>
              </a:extLst>
            </p:cNvPr>
            <p:cNvSpPr txBox="1"/>
            <p:nvPr/>
          </p:nvSpPr>
          <p:spPr>
            <a:xfrm>
              <a:off x="1304487" y="6518145"/>
              <a:ext cx="3072708" cy="369332"/>
            </a:xfrm>
            <a:prstGeom prst="rect">
              <a:avLst/>
            </a:prstGeom>
            <a:noFill/>
          </p:spPr>
          <p:txBody>
            <a:bodyPr wrap="square">
              <a:spAutoFit/>
            </a:bodyPr>
            <a:lstStyle/>
            <a:p>
              <a:r>
                <a:rPr lang="en-US">
                  <a:hlinkClick r:id="rId11">
                    <a:extLst>
                      <a:ext uri="{A12FA001-AC4F-418D-AE19-62706E023703}">
                        <ahyp:hlinkClr xmlns:ahyp="http://schemas.microsoft.com/office/drawing/2018/hyperlinkcolor" val="tx"/>
                      </a:ext>
                    </a:extLst>
                  </a:hlinkClick>
                </a:rPr>
                <a:t>Ten Candles — Cavalry Games</a:t>
              </a:r>
              <a:endParaRPr lang="en-US"/>
            </a:p>
          </p:txBody>
        </p:sp>
      </p:grpSp>
    </p:spTree>
    <p:extLst>
      <p:ext uri="{BB962C8B-B14F-4D97-AF65-F5344CB8AC3E}">
        <p14:creationId xmlns:p14="http://schemas.microsoft.com/office/powerpoint/2010/main" val="3890385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Scale>
                                      <p:cBhvr>
                                        <p:cTn id="7"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6"/>
                                        </p:tgtEl>
                                        <p:attrNameLst>
                                          <p:attrName>ppt_x</p:attrName>
                                          <p:attrName>ppt_y</p:attrName>
                                        </p:attrNameLst>
                                      </p:cBhvr>
                                    </p:animMotion>
                                    <p:animEffect transition="in" filter="fade">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additive="base">
                                        <p:cTn id="14" dur="500" fill="hold"/>
                                        <p:tgtEl>
                                          <p:spTgt spid="26"/>
                                        </p:tgtEl>
                                        <p:attrNameLst>
                                          <p:attrName>ppt_x</p:attrName>
                                        </p:attrNameLst>
                                      </p:cBhvr>
                                      <p:tavLst>
                                        <p:tav tm="0">
                                          <p:val>
                                            <p:strVal val="#ppt_x"/>
                                          </p:val>
                                        </p:tav>
                                        <p:tav tm="100000">
                                          <p:val>
                                            <p:strVal val="#ppt_x"/>
                                          </p:val>
                                        </p:tav>
                                      </p:tavLst>
                                    </p:anim>
                                    <p:anim calcmode="lin" valueType="num">
                                      <p:cBhvr additive="base">
                                        <p:cTn id="15"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DDF1F-D4D5-E206-2807-4A3D5C01DEBC}"/>
              </a:ext>
            </a:extLst>
          </p:cNvPr>
          <p:cNvSpPr>
            <a:spLocks noGrp="1"/>
          </p:cNvSpPr>
          <p:nvPr>
            <p:ph type="title"/>
          </p:nvPr>
        </p:nvSpPr>
        <p:spPr/>
        <p:txBody>
          <a:bodyPr/>
          <a:lstStyle/>
          <a:p>
            <a:r>
              <a:rPr lang="en-US"/>
              <a:t>Workshop: Ideate</a:t>
            </a:r>
          </a:p>
        </p:txBody>
      </p:sp>
      <p:sp>
        <p:nvSpPr>
          <p:cNvPr id="3" name="Slide Number Placeholder 2">
            <a:extLst>
              <a:ext uri="{FF2B5EF4-FFF2-40B4-BE49-F238E27FC236}">
                <a16:creationId xmlns:a16="http://schemas.microsoft.com/office/drawing/2014/main" id="{54B03FB7-41A6-2AA2-E94C-2B62369975D1}"/>
              </a:ext>
            </a:extLst>
          </p:cNvPr>
          <p:cNvSpPr>
            <a:spLocks noGrp="1"/>
          </p:cNvSpPr>
          <p:nvPr>
            <p:ph type="sldNum" sz="quarter" idx="12"/>
          </p:nvPr>
        </p:nvSpPr>
        <p:spPr/>
        <p:txBody>
          <a:bodyPr/>
          <a:lstStyle/>
          <a:p>
            <a:fld id="{294A09A9-5501-47C1-A89A-A340965A2BE2}" type="slidenum">
              <a:rPr lang="en-US" smtClean="0"/>
              <a:t>10</a:t>
            </a:fld>
            <a:endParaRPr lang="en-US"/>
          </a:p>
        </p:txBody>
      </p:sp>
      <p:sp>
        <p:nvSpPr>
          <p:cNvPr id="4" name="Footer Placeholder 3">
            <a:extLst>
              <a:ext uri="{FF2B5EF4-FFF2-40B4-BE49-F238E27FC236}">
                <a16:creationId xmlns:a16="http://schemas.microsoft.com/office/drawing/2014/main" id="{BE712189-B8BD-BB6B-E3A8-40399020F6D6}"/>
              </a:ext>
            </a:extLst>
          </p:cNvPr>
          <p:cNvSpPr>
            <a:spLocks noGrp="1"/>
          </p:cNvSpPr>
          <p:nvPr>
            <p:ph type="ftr" sz="quarter" idx="13"/>
          </p:nvPr>
        </p:nvSpPr>
        <p:spPr/>
        <p:txBody>
          <a:bodyPr/>
          <a:lstStyle/>
          <a:p>
            <a:r>
              <a:rPr lang="en-US"/>
              <a:t>CREATE YOUR OWN RPG</a:t>
            </a:r>
          </a:p>
        </p:txBody>
      </p:sp>
      <p:sp>
        <p:nvSpPr>
          <p:cNvPr id="5" name="Text Placeholder 4">
            <a:extLst>
              <a:ext uri="{FF2B5EF4-FFF2-40B4-BE49-F238E27FC236}">
                <a16:creationId xmlns:a16="http://schemas.microsoft.com/office/drawing/2014/main" id="{17F38661-6D04-77C8-1C49-F9F23EE14BD0}"/>
              </a:ext>
            </a:extLst>
          </p:cNvPr>
          <p:cNvSpPr>
            <a:spLocks noGrp="1"/>
          </p:cNvSpPr>
          <p:nvPr>
            <p:ph type="body" sz="quarter" idx="14"/>
          </p:nvPr>
        </p:nvSpPr>
        <p:spPr/>
        <p:txBody>
          <a:bodyPr/>
          <a:lstStyle/>
          <a:p>
            <a:r>
              <a:rPr lang="en-US"/>
              <a:t>15 MINUTES</a:t>
            </a:r>
          </a:p>
        </p:txBody>
      </p:sp>
      <p:sp>
        <p:nvSpPr>
          <p:cNvPr id="6" name="Text Placeholder 5">
            <a:extLst>
              <a:ext uri="{FF2B5EF4-FFF2-40B4-BE49-F238E27FC236}">
                <a16:creationId xmlns:a16="http://schemas.microsoft.com/office/drawing/2014/main" id="{326AD487-7439-E207-5392-EDFC08259B43}"/>
              </a:ext>
            </a:extLst>
          </p:cNvPr>
          <p:cNvSpPr>
            <a:spLocks noGrp="1"/>
          </p:cNvSpPr>
          <p:nvPr>
            <p:ph type="body" sz="quarter" idx="15"/>
          </p:nvPr>
        </p:nvSpPr>
        <p:spPr/>
        <p:txBody>
          <a:bodyPr/>
          <a:lstStyle/>
          <a:p>
            <a:r>
              <a:rPr lang="en-US"/>
              <a:t>PART 2</a:t>
            </a:r>
          </a:p>
        </p:txBody>
      </p:sp>
      <p:sp>
        <p:nvSpPr>
          <p:cNvPr id="7" name="Content Placeholder 2">
            <a:extLst>
              <a:ext uri="{FF2B5EF4-FFF2-40B4-BE49-F238E27FC236}">
                <a16:creationId xmlns:a16="http://schemas.microsoft.com/office/drawing/2014/main" id="{954B2B75-F77B-BBE2-2A03-5E438223B328}"/>
              </a:ext>
            </a:extLst>
          </p:cNvPr>
          <p:cNvSpPr txBox="1">
            <a:spLocks/>
          </p:cNvSpPr>
          <p:nvPr/>
        </p:nvSpPr>
        <p:spPr>
          <a:xfrm>
            <a:off x="661910" y="5586050"/>
            <a:ext cx="11256636" cy="618153"/>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accent6"/>
                </a:solidFill>
                <a:latin typeface="+mn-lt"/>
                <a:ea typeface="+mn-ea"/>
                <a:cs typeface="Gill Sans Nova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accent6"/>
                </a:solidFill>
                <a:latin typeface="+mn-lt"/>
                <a:ea typeface="+mn-ea"/>
                <a:cs typeface="Gill Sans Nova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solidFill>
                <a:latin typeface="+mn-lt"/>
                <a:ea typeface="+mn-ea"/>
                <a:cs typeface="Gill Sans Nova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Gill Sans Nova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Gill Sans Nova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solidFill>
                  <a:srgbClr val="002060"/>
                </a:solidFill>
                <a:latin typeface="Aptos" panose="020B0004020202020204" pitchFamily="34" charset="0"/>
              </a:rPr>
              <a:t>What info helps determine outcomes? Is randomness involved?</a:t>
            </a:r>
          </a:p>
        </p:txBody>
      </p:sp>
      <p:graphicFrame>
        <p:nvGraphicFramePr>
          <p:cNvPr id="8" name="Table 7">
            <a:extLst>
              <a:ext uri="{FF2B5EF4-FFF2-40B4-BE49-F238E27FC236}">
                <a16:creationId xmlns:a16="http://schemas.microsoft.com/office/drawing/2014/main" id="{EEE79739-064B-D9BA-CF13-BE308D7A2C0F}"/>
              </a:ext>
            </a:extLst>
          </p:cNvPr>
          <p:cNvGraphicFramePr>
            <a:graphicFrameLocks noGrp="1"/>
          </p:cNvGraphicFramePr>
          <p:nvPr>
            <p:extLst>
              <p:ext uri="{D42A27DB-BD31-4B8C-83A1-F6EECF244321}">
                <p14:modId xmlns:p14="http://schemas.microsoft.com/office/powerpoint/2010/main" val="255563646"/>
              </p:ext>
            </p:extLst>
          </p:nvPr>
        </p:nvGraphicFramePr>
        <p:xfrm>
          <a:off x="630475" y="1590899"/>
          <a:ext cx="11319507" cy="3845560"/>
        </p:xfrm>
        <a:graphic>
          <a:graphicData uri="http://schemas.openxmlformats.org/drawingml/2006/table">
            <a:tbl>
              <a:tblPr firstRow="1" bandRow="1">
                <a:tableStyleId>{C083E6E3-FA7D-4D7B-A595-EF9225AFEA82}</a:tableStyleId>
              </a:tblPr>
              <a:tblGrid>
                <a:gridCol w="1930400">
                  <a:extLst>
                    <a:ext uri="{9D8B030D-6E8A-4147-A177-3AD203B41FA5}">
                      <a16:colId xmlns:a16="http://schemas.microsoft.com/office/drawing/2014/main" val="272438724"/>
                    </a:ext>
                  </a:extLst>
                </a:gridCol>
                <a:gridCol w="4705350">
                  <a:extLst>
                    <a:ext uri="{9D8B030D-6E8A-4147-A177-3AD203B41FA5}">
                      <a16:colId xmlns:a16="http://schemas.microsoft.com/office/drawing/2014/main" val="1993911120"/>
                    </a:ext>
                  </a:extLst>
                </a:gridCol>
                <a:gridCol w="4683757">
                  <a:extLst>
                    <a:ext uri="{9D8B030D-6E8A-4147-A177-3AD203B41FA5}">
                      <a16:colId xmlns:a16="http://schemas.microsoft.com/office/drawing/2014/main" val="2582668257"/>
                    </a:ext>
                  </a:extLst>
                </a:gridCol>
              </a:tblGrid>
              <a:tr h="370840">
                <a:tc>
                  <a:txBody>
                    <a:bodyPr/>
                    <a:lstStyle/>
                    <a:p>
                      <a:r>
                        <a:rPr lang="en-US">
                          <a:latin typeface="Aptos"/>
                        </a:rPr>
                        <a:t>GAME</a:t>
                      </a:r>
                    </a:p>
                  </a:txBody>
                  <a:tcPr/>
                </a:tc>
                <a:tc>
                  <a:txBody>
                    <a:bodyPr/>
                    <a:lstStyle/>
                    <a:p>
                      <a:r>
                        <a:rPr lang="en-US">
                          <a:latin typeface="Aptos"/>
                        </a:rPr>
                        <a:t>ACTION / IDEA </a:t>
                      </a:r>
                    </a:p>
                  </a:txBody>
                  <a:tcPr/>
                </a:tc>
                <a:tc>
                  <a:txBody>
                    <a:bodyPr/>
                    <a:lstStyle/>
                    <a:p>
                      <a:r>
                        <a:rPr lang="en-US">
                          <a:latin typeface="Aptos"/>
                        </a:rPr>
                        <a:t>MECHANIC</a:t>
                      </a:r>
                    </a:p>
                  </a:txBody>
                  <a:tcPr/>
                </a:tc>
                <a:extLst>
                  <a:ext uri="{0D108BD9-81ED-4DB2-BD59-A6C34878D82A}">
                    <a16:rowId xmlns:a16="http://schemas.microsoft.com/office/drawing/2014/main" val="1655172339"/>
                  </a:ext>
                </a:extLst>
              </a:tr>
              <a:tr h="370840">
                <a:tc>
                  <a:txBody>
                    <a:bodyPr/>
                    <a:lstStyle/>
                    <a:p>
                      <a:r>
                        <a:rPr lang="en-US">
                          <a:latin typeface="Aptos" panose="020B0004020202020204" pitchFamily="34" charset="0"/>
                        </a:rPr>
                        <a:t>Cats in the City</a:t>
                      </a:r>
                    </a:p>
                  </a:txBody>
                  <a:tcPr/>
                </a:tc>
                <a:tc>
                  <a:txBody>
                    <a:bodyPr/>
                    <a:lstStyle/>
                    <a:p>
                      <a:r>
                        <a:rPr lang="en-US">
                          <a:latin typeface="Aptos"/>
                        </a:rPr>
                        <a:t>Cats are chaotic and sometimes do crazy things that hurt them, but also help them</a:t>
                      </a:r>
                    </a:p>
                  </a:txBody>
                  <a:tcPr/>
                </a:tc>
                <a:tc>
                  <a:txBody>
                    <a:bodyPr/>
                    <a:lstStyle/>
                    <a:p>
                      <a:r>
                        <a:rPr lang="en-US">
                          <a:latin typeface="Aptos" panose="020B0004020202020204" pitchFamily="34" charset="0"/>
                        </a:rPr>
                        <a:t>A “chaos roll” can help or hurt the cat, and they don’t know when it’s going to happen</a:t>
                      </a:r>
                    </a:p>
                  </a:txBody>
                  <a:tcPr/>
                </a:tc>
                <a:extLst>
                  <a:ext uri="{0D108BD9-81ED-4DB2-BD59-A6C34878D82A}">
                    <a16:rowId xmlns:a16="http://schemas.microsoft.com/office/drawing/2014/main" val="291930364"/>
                  </a:ext>
                </a:extLst>
              </a:tr>
              <a:tr h="370840">
                <a:tc>
                  <a:txBody>
                    <a:bodyPr/>
                    <a:lstStyle/>
                    <a:p>
                      <a:r>
                        <a:rPr lang="en-US">
                          <a:latin typeface="Aptos" panose="020B0004020202020204" pitchFamily="34" charset="0"/>
                        </a:rPr>
                        <a:t>Road Trippin’</a:t>
                      </a:r>
                    </a:p>
                  </a:txBody>
                  <a:tcPr/>
                </a:tc>
                <a:tc>
                  <a:txBody>
                    <a:bodyPr/>
                    <a:lstStyle/>
                    <a:p>
                      <a:r>
                        <a:rPr lang="en-US">
                          <a:latin typeface="Aptos" panose="020B0004020202020204" pitchFamily="34" charset="0"/>
                        </a:rPr>
                        <a:t>On a road trip and you have to hold in pee, getting increasingly desperate for a bathroom</a:t>
                      </a:r>
                    </a:p>
                  </a:txBody>
                  <a:tcPr/>
                </a:tc>
                <a:tc>
                  <a:txBody>
                    <a:bodyPr/>
                    <a:lstStyle/>
                    <a:p>
                      <a:r>
                        <a:rPr lang="en-US">
                          <a:latin typeface="Aptos"/>
                        </a:rPr>
                        <a:t>A “pee meter” that goes up periodically, which makes other rolls worse</a:t>
                      </a:r>
                    </a:p>
                  </a:txBody>
                  <a:tcPr/>
                </a:tc>
                <a:extLst>
                  <a:ext uri="{0D108BD9-81ED-4DB2-BD59-A6C34878D82A}">
                    <a16:rowId xmlns:a16="http://schemas.microsoft.com/office/drawing/2014/main" val="2682731040"/>
                  </a:ext>
                </a:extLst>
              </a:tr>
              <a:tr h="370840">
                <a:tc>
                  <a:txBody>
                    <a:bodyPr/>
                    <a:lstStyle/>
                    <a:p>
                      <a:r>
                        <a:rPr lang="en-US">
                          <a:latin typeface="Aptos" panose="020B0004020202020204" pitchFamily="34" charset="0"/>
                        </a:rPr>
                        <a:t>Astronomers</a:t>
                      </a:r>
                    </a:p>
                  </a:txBody>
                  <a:tcPr/>
                </a:tc>
                <a:tc>
                  <a:txBody>
                    <a:bodyPr/>
                    <a:lstStyle/>
                    <a:p>
                      <a:r>
                        <a:rPr lang="en-US">
                          <a:latin typeface="Aptos"/>
                        </a:rPr>
                        <a:t>Discover planets no one has ever seen before and observe their attributes</a:t>
                      </a:r>
                    </a:p>
                  </a:txBody>
                  <a:tcPr/>
                </a:tc>
                <a:tc>
                  <a:txBody>
                    <a:bodyPr/>
                    <a:lstStyle/>
                    <a:p>
                      <a:r>
                        <a:rPr lang="en-US">
                          <a:latin typeface="Aptos" panose="020B0004020202020204" pitchFamily="34" charset="0"/>
                        </a:rPr>
                        <a:t>Compare a card from a deck to a table: e.g. all “7s” are considered “extremely hot” planets.</a:t>
                      </a:r>
                    </a:p>
                  </a:txBody>
                  <a:tcPr/>
                </a:tc>
                <a:extLst>
                  <a:ext uri="{0D108BD9-81ED-4DB2-BD59-A6C34878D82A}">
                    <a16:rowId xmlns:a16="http://schemas.microsoft.com/office/drawing/2014/main" val="1293557248"/>
                  </a:ext>
                </a:extLst>
              </a:tr>
              <a:tr h="370840">
                <a:tc>
                  <a:txBody>
                    <a:bodyPr/>
                    <a:lstStyle/>
                    <a:p>
                      <a:r>
                        <a:rPr lang="en-US">
                          <a:latin typeface="Aptos" panose="020B0004020202020204" pitchFamily="34" charset="0"/>
                        </a:rPr>
                        <a:t>Do you copy?</a:t>
                      </a:r>
                    </a:p>
                  </a:txBody>
                  <a:tcPr/>
                </a:tc>
                <a:tc>
                  <a:txBody>
                    <a:bodyPr/>
                    <a:lstStyle/>
                    <a:p>
                      <a:r>
                        <a:rPr lang="en-US">
                          <a:latin typeface="Aptos" panose="020B0004020202020204" pitchFamily="34" charset="0"/>
                        </a:rPr>
                        <a:t>A limited amount of time to talk to a planet across the galaxy</a:t>
                      </a:r>
                    </a:p>
                  </a:txBody>
                  <a:tcPr/>
                </a:tc>
                <a:tc>
                  <a:txBody>
                    <a:bodyPr/>
                    <a:lstStyle/>
                    <a:p>
                      <a:r>
                        <a:rPr lang="en-US">
                          <a:latin typeface="Aptos" panose="020B0004020202020204" pitchFamily="34" charset="0"/>
                        </a:rPr>
                        <a:t>The number on a timer counting down when a decision is made is the number that’s “rolled”</a:t>
                      </a:r>
                    </a:p>
                  </a:txBody>
                  <a:tcPr/>
                </a:tc>
                <a:extLst>
                  <a:ext uri="{0D108BD9-81ED-4DB2-BD59-A6C34878D82A}">
                    <a16:rowId xmlns:a16="http://schemas.microsoft.com/office/drawing/2014/main" val="314333362"/>
                  </a:ext>
                </a:extLst>
              </a:tr>
              <a:tr h="370840">
                <a:tc>
                  <a:txBody>
                    <a:bodyPr/>
                    <a:lstStyle/>
                    <a:p>
                      <a:r>
                        <a:rPr lang="en-US">
                          <a:latin typeface="Aptos" panose="020B0004020202020204" pitchFamily="34" charset="0"/>
                        </a:rPr>
                        <a:t>10 Candles</a:t>
                      </a:r>
                    </a:p>
                  </a:txBody>
                  <a:tcPr/>
                </a:tc>
                <a:tc>
                  <a:txBody>
                    <a:bodyPr/>
                    <a:lstStyle/>
                    <a:p>
                      <a:r>
                        <a:rPr lang="en-US">
                          <a:latin typeface="Aptos" panose="020B0004020202020204" pitchFamily="34" charset="0"/>
                        </a:rPr>
                        <a:t>Telling a scary story at night, that is still slightly hopeful, but always in the brink of disaster </a:t>
                      </a:r>
                    </a:p>
                  </a:txBody>
                  <a:tcPr/>
                </a:tc>
                <a:tc>
                  <a:txBody>
                    <a:bodyPr/>
                    <a:lstStyle/>
                    <a:p>
                      <a:r>
                        <a:rPr lang="en-US">
                          <a:latin typeface="Aptos" panose="020B0004020202020204" pitchFamily="34" charset="0"/>
                        </a:rPr>
                        <a:t>When literal, actual candles on the table are blown out, players lose something important regardless of how it was blown out.</a:t>
                      </a:r>
                    </a:p>
                  </a:txBody>
                  <a:tcPr/>
                </a:tc>
                <a:extLst>
                  <a:ext uri="{0D108BD9-81ED-4DB2-BD59-A6C34878D82A}">
                    <a16:rowId xmlns:a16="http://schemas.microsoft.com/office/drawing/2014/main" val="3458984977"/>
                  </a:ext>
                </a:extLst>
              </a:tr>
            </a:tbl>
          </a:graphicData>
        </a:graphic>
      </p:graphicFrame>
      <p:pic>
        <p:nvPicPr>
          <p:cNvPr id="31" name="Graphic 30" descr="Lightbulb with solid fill">
            <a:extLst>
              <a:ext uri="{FF2B5EF4-FFF2-40B4-BE49-F238E27FC236}">
                <a16:creationId xmlns:a16="http://schemas.microsoft.com/office/drawing/2014/main" id="{2D7591E4-979E-756F-7803-09E8C2ABA9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4305" y="679942"/>
            <a:ext cx="420899" cy="420899"/>
          </a:xfrm>
          <a:prstGeom prst="rect">
            <a:avLst/>
          </a:prstGeom>
        </p:spPr>
      </p:pic>
      <p:pic>
        <p:nvPicPr>
          <p:cNvPr id="17" name="Picture 16">
            <a:extLst>
              <a:ext uri="{FF2B5EF4-FFF2-40B4-BE49-F238E27FC236}">
                <a16:creationId xmlns:a16="http://schemas.microsoft.com/office/drawing/2014/main" id="{92D0B1E1-E0C5-5F0F-5C30-7374E781EFED}"/>
              </a:ext>
            </a:extLst>
          </p:cNvPr>
          <p:cNvPicPr>
            <a:picLocks noChangeAspect="1"/>
          </p:cNvPicPr>
          <p:nvPr/>
        </p:nvPicPr>
        <p:blipFill>
          <a:blip r:embed="rId4"/>
          <a:stretch>
            <a:fillRect/>
          </a:stretch>
        </p:blipFill>
        <p:spPr>
          <a:xfrm rot="21435456">
            <a:off x="8725617" y="-229280"/>
            <a:ext cx="3640737" cy="2100581"/>
          </a:xfrm>
          <a:prstGeom prst="rect">
            <a:avLst/>
          </a:prstGeom>
        </p:spPr>
      </p:pic>
      <p:sp>
        <p:nvSpPr>
          <p:cNvPr id="9" name="TextBox 8">
            <a:extLst>
              <a:ext uri="{FF2B5EF4-FFF2-40B4-BE49-F238E27FC236}">
                <a16:creationId xmlns:a16="http://schemas.microsoft.com/office/drawing/2014/main" id="{AF15F537-CC96-B05A-D8EE-5CF4D2A3A59F}"/>
              </a:ext>
            </a:extLst>
          </p:cNvPr>
          <p:cNvSpPr txBox="1"/>
          <p:nvPr/>
        </p:nvSpPr>
        <p:spPr>
          <a:xfrm>
            <a:off x="630475" y="6096588"/>
            <a:ext cx="11256636" cy="523220"/>
          </a:xfrm>
          <a:prstGeom prst="rect">
            <a:avLst/>
          </a:prstGeom>
          <a:noFill/>
        </p:spPr>
        <p:txBody>
          <a:bodyPr wrap="square">
            <a:spAutoFit/>
          </a:bodyPr>
          <a:lstStyle/>
          <a:p>
            <a:r>
              <a:rPr lang="en-US" sz="2800" i="0">
                <a:solidFill>
                  <a:srgbClr val="002060"/>
                </a:solidFill>
                <a:effectLst/>
                <a:latin typeface="Aptos" panose="020B0004020202020204" pitchFamily="34" charset="0"/>
              </a:rPr>
              <a:t>Worksheets &amp; slides here: </a:t>
            </a:r>
            <a:r>
              <a:rPr lang="en-US" sz="2800" i="1" u="sng">
                <a:latin typeface="Aptos" panose="020B0004020202020204" pitchFamily="34" charset="0"/>
              </a:rPr>
              <a:t>tinyurl.com/</a:t>
            </a:r>
            <a:r>
              <a:rPr lang="en-US" sz="2800" i="1" u="sng" err="1">
                <a:latin typeface="Aptos" panose="020B0004020202020204" pitchFamily="34" charset="0"/>
              </a:rPr>
              <a:t>CreateYourOwnOnePageRPG</a:t>
            </a:r>
            <a:endParaRPr lang="en-US" sz="2800" u="sng">
              <a:solidFill>
                <a:srgbClr val="002060"/>
              </a:solidFill>
              <a:latin typeface="Aptos" panose="020B0004020202020204" pitchFamily="34" charset="0"/>
            </a:endParaRPr>
          </a:p>
        </p:txBody>
      </p:sp>
    </p:spTree>
    <p:extLst>
      <p:ext uri="{BB962C8B-B14F-4D97-AF65-F5344CB8AC3E}">
        <p14:creationId xmlns:p14="http://schemas.microsoft.com/office/powerpoint/2010/main" val="1944192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AA08BD-09CE-16F6-3F27-5A9C4CC4A901}"/>
              </a:ext>
            </a:extLst>
          </p:cNvPr>
          <p:cNvSpPr>
            <a:spLocks noGrp="1"/>
          </p:cNvSpPr>
          <p:nvPr>
            <p:ph type="sldNum" sz="quarter" idx="11"/>
          </p:nvPr>
        </p:nvSpPr>
        <p:spPr>
          <a:xfrm>
            <a:off x="154943" y="6296643"/>
            <a:ext cx="365760" cy="182880"/>
          </a:xfrm>
        </p:spPr>
        <p:txBody>
          <a:bodyPr/>
          <a:lstStyle/>
          <a:p>
            <a:r>
              <a:rPr lang="en-US"/>
              <a:t>12</a:t>
            </a:r>
          </a:p>
        </p:txBody>
      </p:sp>
      <p:sp>
        <p:nvSpPr>
          <p:cNvPr id="2" name="Title 1">
            <a:extLst>
              <a:ext uri="{FF2B5EF4-FFF2-40B4-BE49-F238E27FC236}">
                <a16:creationId xmlns:a16="http://schemas.microsoft.com/office/drawing/2014/main" id="{2BE808A1-EB1B-4C17-17A1-7FD464DE3B1F}"/>
              </a:ext>
            </a:extLst>
          </p:cNvPr>
          <p:cNvSpPr>
            <a:spLocks noGrp="1"/>
          </p:cNvSpPr>
          <p:nvPr>
            <p:ph type="title"/>
          </p:nvPr>
        </p:nvSpPr>
        <p:spPr>
          <a:xfrm>
            <a:off x="1066800" y="191101"/>
            <a:ext cx="10058400" cy="1371600"/>
          </a:xfrm>
        </p:spPr>
        <p:txBody>
          <a:bodyPr/>
          <a:lstStyle/>
          <a:p>
            <a:r>
              <a:rPr lang="en-US"/>
              <a:t>Prototype: Writing the Rules</a:t>
            </a:r>
          </a:p>
        </p:txBody>
      </p:sp>
      <p:sp>
        <p:nvSpPr>
          <p:cNvPr id="6" name="Footer Placeholder 4">
            <a:extLst>
              <a:ext uri="{FF2B5EF4-FFF2-40B4-BE49-F238E27FC236}">
                <a16:creationId xmlns:a16="http://schemas.microsoft.com/office/drawing/2014/main" id="{8C6F43B2-07DE-EEEF-15AA-72C4776FDC06}"/>
              </a:ext>
            </a:extLst>
          </p:cNvPr>
          <p:cNvSpPr txBox="1">
            <a:spLocks/>
          </p:cNvSpPr>
          <p:nvPr/>
        </p:nvSpPr>
        <p:spPr>
          <a:xfrm rot="16200000">
            <a:off x="-978026" y="1495027"/>
            <a:ext cx="2631698" cy="182880"/>
          </a:xfrm>
          <a:prstGeom prst="rect">
            <a:avLst/>
          </a:prstGeom>
        </p:spPr>
        <p:txBody>
          <a:bodyPr vert="horz" lIns="91440" tIns="45720" rIns="91440" bIns="45720" rtlCol="0" anchor="ctr">
            <a:noAutofit/>
          </a:bodyPr>
          <a:lstStyle>
            <a:defPPr>
              <a:defRPr lang="en-US"/>
            </a:defPPr>
            <a:lvl1pPr marL="0" algn="ctr" defTabSz="914400" rtl="0" eaLnBrk="1" latinLnBrk="0" hangingPunct="1">
              <a:defRPr sz="1200" b="0" i="0" kern="1200" cap="all" spc="300" baseline="0">
                <a:solidFill>
                  <a:schemeClr val="accent1">
                    <a:lumMod val="60000"/>
                    <a:lumOff val="4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02060"/>
                </a:solidFill>
              </a:rPr>
              <a:t>CREATE YOUR OWN RPG</a:t>
            </a:r>
          </a:p>
        </p:txBody>
      </p:sp>
      <p:grpSp>
        <p:nvGrpSpPr>
          <p:cNvPr id="30" name="Group 29">
            <a:extLst>
              <a:ext uri="{FF2B5EF4-FFF2-40B4-BE49-F238E27FC236}">
                <a16:creationId xmlns:a16="http://schemas.microsoft.com/office/drawing/2014/main" id="{D3AF6EC1-0030-0EC8-D78D-A47E5A48D1AF}"/>
              </a:ext>
            </a:extLst>
          </p:cNvPr>
          <p:cNvGrpSpPr/>
          <p:nvPr/>
        </p:nvGrpSpPr>
        <p:grpSpPr>
          <a:xfrm>
            <a:off x="5356350" y="1562701"/>
            <a:ext cx="1998759" cy="2001786"/>
            <a:chOff x="1816958" y="1064053"/>
            <a:chExt cx="1926624" cy="2001786"/>
          </a:xfrm>
        </p:grpSpPr>
        <p:pic>
          <p:nvPicPr>
            <p:cNvPr id="7" name="Graphic 6" descr="Flowchart with solid fill">
              <a:extLst>
                <a:ext uri="{FF2B5EF4-FFF2-40B4-BE49-F238E27FC236}">
                  <a16:creationId xmlns:a16="http://schemas.microsoft.com/office/drawing/2014/main" id="{73D151D2-B699-D730-6AEA-5CD8976080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a:off x="2146300" y="1428750"/>
              <a:ext cx="1276350" cy="1276350"/>
            </a:xfrm>
            <a:prstGeom prst="rect">
              <a:avLst/>
            </a:prstGeom>
          </p:spPr>
        </p:pic>
        <p:sp>
          <p:nvSpPr>
            <p:cNvPr id="14" name="Oval 13">
              <a:extLst>
                <a:ext uri="{FF2B5EF4-FFF2-40B4-BE49-F238E27FC236}">
                  <a16:creationId xmlns:a16="http://schemas.microsoft.com/office/drawing/2014/main" id="{76EF256C-736C-619E-842D-B51639E03949}"/>
                </a:ext>
              </a:extLst>
            </p:cNvPr>
            <p:cNvSpPr/>
            <p:nvPr/>
          </p:nvSpPr>
          <p:spPr>
            <a:xfrm>
              <a:off x="1816958" y="1064053"/>
              <a:ext cx="1926624" cy="2001786"/>
            </a:xfrm>
            <a:prstGeom prst="ellipse">
              <a:avLst/>
            </a:prstGeom>
            <a:noFill/>
            <a:ln w="57150">
              <a:solidFill>
                <a:srgbClr val="32223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CDCFA853-A392-9148-7959-86A3164EC07C}"/>
              </a:ext>
            </a:extLst>
          </p:cNvPr>
          <p:cNvGrpSpPr/>
          <p:nvPr/>
        </p:nvGrpSpPr>
        <p:grpSpPr>
          <a:xfrm>
            <a:off x="9070612" y="1562700"/>
            <a:ext cx="1998759" cy="2004072"/>
            <a:chOff x="5379308" y="1203752"/>
            <a:chExt cx="1431324" cy="1436636"/>
          </a:xfrm>
        </p:grpSpPr>
        <p:grpSp>
          <p:nvGrpSpPr>
            <p:cNvPr id="11" name="Group 10">
              <a:extLst>
                <a:ext uri="{FF2B5EF4-FFF2-40B4-BE49-F238E27FC236}">
                  <a16:creationId xmlns:a16="http://schemas.microsoft.com/office/drawing/2014/main" id="{E776ACB0-D111-6936-2BA8-DAA8E7155649}"/>
                </a:ext>
              </a:extLst>
            </p:cNvPr>
            <p:cNvGrpSpPr/>
            <p:nvPr/>
          </p:nvGrpSpPr>
          <p:grpSpPr>
            <a:xfrm>
              <a:off x="5391150" y="1231900"/>
              <a:ext cx="1409700" cy="1384300"/>
              <a:chOff x="4222750" y="4991100"/>
              <a:chExt cx="1409700" cy="1384300"/>
            </a:xfrm>
          </p:grpSpPr>
          <p:pic>
            <p:nvPicPr>
              <p:cNvPr id="9" name="Graphic 8" descr="Remote learning math with solid fill">
                <a:extLst>
                  <a:ext uri="{FF2B5EF4-FFF2-40B4-BE49-F238E27FC236}">
                    <a16:creationId xmlns:a16="http://schemas.microsoft.com/office/drawing/2014/main" id="{B9EB3BBB-0500-74C8-2469-511A33011B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64050" y="5264150"/>
                <a:ext cx="914400" cy="914400"/>
              </a:xfrm>
              <a:prstGeom prst="rect">
                <a:avLst/>
              </a:prstGeom>
            </p:spPr>
          </p:pic>
          <p:pic>
            <p:nvPicPr>
              <p:cNvPr id="10" name="Graphic 9" descr="No sign outline">
                <a:extLst>
                  <a:ext uri="{FF2B5EF4-FFF2-40B4-BE49-F238E27FC236}">
                    <a16:creationId xmlns:a16="http://schemas.microsoft.com/office/drawing/2014/main" id="{B5CC6996-0859-E0C2-0406-A735ABEF173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222750" y="4991100"/>
                <a:ext cx="1409700" cy="1384300"/>
              </a:xfrm>
              <a:prstGeom prst="rect">
                <a:avLst/>
              </a:prstGeom>
            </p:spPr>
          </p:pic>
        </p:grpSp>
        <p:sp>
          <p:nvSpPr>
            <p:cNvPr id="15" name="Oval 14">
              <a:extLst>
                <a:ext uri="{FF2B5EF4-FFF2-40B4-BE49-F238E27FC236}">
                  <a16:creationId xmlns:a16="http://schemas.microsoft.com/office/drawing/2014/main" id="{BA44A755-A973-6528-3199-D4919C858862}"/>
                </a:ext>
              </a:extLst>
            </p:cNvPr>
            <p:cNvSpPr/>
            <p:nvPr/>
          </p:nvSpPr>
          <p:spPr>
            <a:xfrm>
              <a:off x="5379308" y="1203752"/>
              <a:ext cx="1431324" cy="1436636"/>
            </a:xfrm>
            <a:prstGeom prst="ellipse">
              <a:avLst/>
            </a:prstGeom>
            <a:noFill/>
            <a:ln w="57150">
              <a:solidFill>
                <a:srgbClr val="32223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Content Placeholder 2">
            <a:extLst>
              <a:ext uri="{FF2B5EF4-FFF2-40B4-BE49-F238E27FC236}">
                <a16:creationId xmlns:a16="http://schemas.microsoft.com/office/drawing/2014/main" id="{D00F06D3-1172-7EB7-A265-B861B4355EFD}"/>
              </a:ext>
            </a:extLst>
          </p:cNvPr>
          <p:cNvSpPr txBox="1">
            <a:spLocks/>
          </p:cNvSpPr>
          <p:nvPr/>
        </p:nvSpPr>
        <p:spPr>
          <a:xfrm>
            <a:off x="4745891" y="3896818"/>
            <a:ext cx="3224531" cy="2001786"/>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Gill Sans Nova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Gill Sans Nova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Gill Sans Nova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Gill Sans Nova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Gill Sans Nova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a:t>Limited number</a:t>
            </a:r>
          </a:p>
          <a:p>
            <a:pPr marL="0" indent="0" algn="ctr">
              <a:buNone/>
            </a:pPr>
            <a:r>
              <a:rPr lang="en-US" sz="2800"/>
              <a:t>Aim for a single mechanic that is easy to teach</a:t>
            </a:r>
            <a:r>
              <a:rPr lang="en-US"/>
              <a:t>.</a:t>
            </a:r>
            <a:endParaRPr lang="en-US" sz="2800"/>
          </a:p>
        </p:txBody>
      </p:sp>
      <p:grpSp>
        <p:nvGrpSpPr>
          <p:cNvPr id="32" name="Group 31">
            <a:extLst>
              <a:ext uri="{FF2B5EF4-FFF2-40B4-BE49-F238E27FC236}">
                <a16:creationId xmlns:a16="http://schemas.microsoft.com/office/drawing/2014/main" id="{38EF584C-F8F6-46E5-3077-D7177E32587A}"/>
              </a:ext>
            </a:extLst>
          </p:cNvPr>
          <p:cNvGrpSpPr/>
          <p:nvPr/>
        </p:nvGrpSpPr>
        <p:grpSpPr>
          <a:xfrm>
            <a:off x="1404208" y="1562699"/>
            <a:ext cx="1998760" cy="2004072"/>
            <a:chOff x="9608408" y="1254552"/>
            <a:chExt cx="1431324" cy="1436636"/>
          </a:xfrm>
        </p:grpSpPr>
        <p:pic>
          <p:nvPicPr>
            <p:cNvPr id="13" name="Graphic 12" descr="List with solid fill">
              <a:extLst>
                <a:ext uri="{FF2B5EF4-FFF2-40B4-BE49-F238E27FC236}">
                  <a16:creationId xmlns:a16="http://schemas.microsoft.com/office/drawing/2014/main" id="{BADB89A0-1BC9-5E59-1FFF-9F43DA497DE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0800000">
              <a:off x="9867900" y="1517650"/>
              <a:ext cx="914400" cy="914400"/>
            </a:xfrm>
            <a:prstGeom prst="rect">
              <a:avLst/>
            </a:prstGeom>
          </p:spPr>
        </p:pic>
        <p:sp>
          <p:nvSpPr>
            <p:cNvPr id="16" name="Oval 15">
              <a:extLst>
                <a:ext uri="{FF2B5EF4-FFF2-40B4-BE49-F238E27FC236}">
                  <a16:creationId xmlns:a16="http://schemas.microsoft.com/office/drawing/2014/main" id="{957EE86E-6B8C-C0BB-7088-53E3164942B5}"/>
                </a:ext>
              </a:extLst>
            </p:cNvPr>
            <p:cNvSpPr/>
            <p:nvPr/>
          </p:nvSpPr>
          <p:spPr>
            <a:xfrm>
              <a:off x="9608408" y="1254552"/>
              <a:ext cx="1431324" cy="1436636"/>
            </a:xfrm>
            <a:prstGeom prst="ellipse">
              <a:avLst/>
            </a:prstGeom>
            <a:noFill/>
            <a:ln w="57150">
              <a:solidFill>
                <a:srgbClr val="32223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Content Placeholder 2">
            <a:extLst>
              <a:ext uri="{FF2B5EF4-FFF2-40B4-BE49-F238E27FC236}">
                <a16:creationId xmlns:a16="http://schemas.microsoft.com/office/drawing/2014/main" id="{BCCFBA60-E3CF-7E07-67C4-180A12A1EB9D}"/>
              </a:ext>
            </a:extLst>
          </p:cNvPr>
          <p:cNvSpPr txBox="1">
            <a:spLocks/>
          </p:cNvSpPr>
          <p:nvPr/>
        </p:nvSpPr>
        <p:spPr>
          <a:xfrm>
            <a:off x="8447453" y="3892910"/>
            <a:ext cx="3249931" cy="2004072"/>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Gill Sans Nova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Gill Sans Nova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Gill Sans Nova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Gill Sans Nova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Gill Sans Nova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a:t>Easy to calculate</a:t>
            </a:r>
          </a:p>
          <a:p>
            <a:pPr marL="0" indent="0" algn="ctr">
              <a:buNone/>
            </a:pPr>
            <a:r>
              <a:rPr lang="en-US" sz="2800"/>
              <a:t>Use one form of comparison:</a:t>
            </a:r>
            <a:r>
              <a:rPr lang="en-US"/>
              <a:t> counting</a:t>
            </a:r>
            <a:r>
              <a:rPr lang="en-US" sz="2800"/>
              <a:t>, summing, etc.</a:t>
            </a:r>
            <a:endParaRPr lang="en-US"/>
          </a:p>
        </p:txBody>
      </p:sp>
      <p:sp>
        <p:nvSpPr>
          <p:cNvPr id="29" name="Content Placeholder 2">
            <a:extLst>
              <a:ext uri="{FF2B5EF4-FFF2-40B4-BE49-F238E27FC236}">
                <a16:creationId xmlns:a16="http://schemas.microsoft.com/office/drawing/2014/main" id="{E5993D9E-E778-4F6F-9902-8DE4CB37EC4C}"/>
              </a:ext>
            </a:extLst>
          </p:cNvPr>
          <p:cNvSpPr txBox="1">
            <a:spLocks/>
          </p:cNvSpPr>
          <p:nvPr/>
        </p:nvSpPr>
        <p:spPr>
          <a:xfrm>
            <a:off x="910980" y="3896817"/>
            <a:ext cx="3244069" cy="2004072"/>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Gill Sans Nova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Gill Sans Nova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Gill Sans Nova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Gill Sans Nova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Gill Sans Nova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a:t>Keep it Simple, Silly!</a:t>
            </a:r>
            <a:endParaRPr lang="en-US"/>
          </a:p>
          <a:p>
            <a:pPr marL="0" indent="0" algn="ctr">
              <a:buNone/>
            </a:pPr>
            <a:r>
              <a:rPr lang="en-US"/>
              <a:t>Keep what's essential to the core idea, save the rest for later</a:t>
            </a:r>
          </a:p>
        </p:txBody>
      </p:sp>
    </p:spTree>
    <p:extLst>
      <p:ext uri="{BB962C8B-B14F-4D97-AF65-F5344CB8AC3E}">
        <p14:creationId xmlns:p14="http://schemas.microsoft.com/office/powerpoint/2010/main" val="358779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fill="hold"/>
                                        <p:tgtEl>
                                          <p:spTgt spid="32"/>
                                        </p:tgtEl>
                                        <p:attrNameLst>
                                          <p:attrName>ppt_x</p:attrName>
                                        </p:attrNameLst>
                                      </p:cBhvr>
                                      <p:tavLst>
                                        <p:tav tm="0">
                                          <p:val>
                                            <p:strVal val="#ppt_x"/>
                                          </p:val>
                                        </p:tav>
                                        <p:tav tm="100000">
                                          <p:val>
                                            <p:strVal val="#ppt_x"/>
                                          </p:val>
                                        </p:tav>
                                      </p:tavLst>
                                    </p:anim>
                                    <p:anim calcmode="lin" valueType="num">
                                      <p:cBhvr additive="base">
                                        <p:cTn id="12"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ppt_x"/>
                                          </p:val>
                                        </p:tav>
                                        <p:tav tm="100000">
                                          <p:val>
                                            <p:strVal val="#ppt_x"/>
                                          </p:val>
                                        </p:tav>
                                      </p:tavLst>
                                    </p:anim>
                                    <p:anim calcmode="lin" valueType="num">
                                      <p:cBhvr additive="base">
                                        <p:cTn id="18" dur="500" fill="hold"/>
                                        <p:tgtEl>
                                          <p:spTgt spid="19"/>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anim calcmode="lin" valueType="num">
                                      <p:cBhvr additive="base">
                                        <p:cTn id="21" dur="500" fill="hold"/>
                                        <p:tgtEl>
                                          <p:spTgt spid="30"/>
                                        </p:tgtEl>
                                        <p:attrNameLst>
                                          <p:attrName>ppt_x</p:attrName>
                                        </p:attrNameLst>
                                      </p:cBhvr>
                                      <p:tavLst>
                                        <p:tav tm="0">
                                          <p:val>
                                            <p:strVal val="#ppt_x"/>
                                          </p:val>
                                        </p:tav>
                                        <p:tav tm="100000">
                                          <p:val>
                                            <p:strVal val="#ppt_x"/>
                                          </p:val>
                                        </p:tav>
                                      </p:tavLst>
                                    </p:anim>
                                    <p:anim calcmode="lin" valueType="num">
                                      <p:cBhvr additive="base">
                                        <p:cTn id="2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additive="base">
                                        <p:cTn id="27" dur="500" fill="hold"/>
                                        <p:tgtEl>
                                          <p:spTgt spid="27"/>
                                        </p:tgtEl>
                                        <p:attrNameLst>
                                          <p:attrName>ppt_x</p:attrName>
                                        </p:attrNameLst>
                                      </p:cBhvr>
                                      <p:tavLst>
                                        <p:tav tm="0">
                                          <p:val>
                                            <p:strVal val="#ppt_x"/>
                                          </p:val>
                                        </p:tav>
                                        <p:tav tm="100000">
                                          <p:val>
                                            <p:strVal val="#ppt_x"/>
                                          </p:val>
                                        </p:tav>
                                      </p:tavLst>
                                    </p:anim>
                                    <p:anim calcmode="lin" valueType="num">
                                      <p:cBhvr additive="base">
                                        <p:cTn id="28" dur="500" fill="hold"/>
                                        <p:tgtEl>
                                          <p:spTgt spid="27"/>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additive="base">
                                        <p:cTn id="31" dur="500" fill="hold"/>
                                        <p:tgtEl>
                                          <p:spTgt spid="31"/>
                                        </p:tgtEl>
                                        <p:attrNameLst>
                                          <p:attrName>ppt_x</p:attrName>
                                        </p:attrNameLst>
                                      </p:cBhvr>
                                      <p:tavLst>
                                        <p:tav tm="0">
                                          <p:val>
                                            <p:strVal val="#ppt_x"/>
                                          </p:val>
                                        </p:tav>
                                        <p:tav tm="100000">
                                          <p:val>
                                            <p:strVal val="#ppt_x"/>
                                          </p:val>
                                        </p:tav>
                                      </p:tavLst>
                                    </p:anim>
                                    <p:anim calcmode="lin" valueType="num">
                                      <p:cBhvr additive="base">
                                        <p:cTn id="3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7" grpId="0"/>
      <p:bldP spid="29" grpId="0"/>
    </p:bldLst>
  </p:timing>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A54B6-30D1-F6D5-8159-AB2B47507333}"/>
              </a:ext>
            </a:extLst>
          </p:cNvPr>
          <p:cNvSpPr>
            <a:spLocks noGrp="1"/>
          </p:cNvSpPr>
          <p:nvPr>
            <p:ph type="title"/>
          </p:nvPr>
        </p:nvSpPr>
        <p:spPr/>
        <p:txBody>
          <a:bodyPr/>
          <a:lstStyle/>
          <a:p>
            <a:r>
              <a:rPr lang="en-US"/>
              <a:t>Workshop: Prototype</a:t>
            </a:r>
          </a:p>
        </p:txBody>
      </p:sp>
      <p:sp>
        <p:nvSpPr>
          <p:cNvPr id="3" name="Slide Number Placeholder 2">
            <a:extLst>
              <a:ext uri="{FF2B5EF4-FFF2-40B4-BE49-F238E27FC236}">
                <a16:creationId xmlns:a16="http://schemas.microsoft.com/office/drawing/2014/main" id="{EDFBAB6D-12DB-B54B-E502-8E002A60B0E7}"/>
              </a:ext>
            </a:extLst>
          </p:cNvPr>
          <p:cNvSpPr>
            <a:spLocks noGrp="1"/>
          </p:cNvSpPr>
          <p:nvPr>
            <p:ph type="sldNum" sz="quarter" idx="12"/>
          </p:nvPr>
        </p:nvSpPr>
        <p:spPr/>
        <p:txBody>
          <a:bodyPr/>
          <a:lstStyle/>
          <a:p>
            <a:fld id="{294A09A9-5501-47C1-A89A-A340965A2BE2}" type="slidenum">
              <a:rPr lang="en-US" smtClean="0"/>
              <a:t>12</a:t>
            </a:fld>
            <a:endParaRPr lang="en-US"/>
          </a:p>
        </p:txBody>
      </p:sp>
      <p:sp>
        <p:nvSpPr>
          <p:cNvPr id="4" name="Footer Placeholder 3">
            <a:extLst>
              <a:ext uri="{FF2B5EF4-FFF2-40B4-BE49-F238E27FC236}">
                <a16:creationId xmlns:a16="http://schemas.microsoft.com/office/drawing/2014/main" id="{593DB0CD-0785-594D-D880-9A28A3D7C3A3}"/>
              </a:ext>
            </a:extLst>
          </p:cNvPr>
          <p:cNvSpPr>
            <a:spLocks noGrp="1"/>
          </p:cNvSpPr>
          <p:nvPr>
            <p:ph type="ftr" sz="quarter" idx="13"/>
          </p:nvPr>
        </p:nvSpPr>
        <p:spPr/>
        <p:txBody>
          <a:bodyPr/>
          <a:lstStyle/>
          <a:p>
            <a:r>
              <a:rPr lang="en-US"/>
              <a:t>CREATE YOUR OWN RPG</a:t>
            </a:r>
          </a:p>
        </p:txBody>
      </p:sp>
      <p:sp>
        <p:nvSpPr>
          <p:cNvPr id="5" name="Text Placeholder 4">
            <a:extLst>
              <a:ext uri="{FF2B5EF4-FFF2-40B4-BE49-F238E27FC236}">
                <a16:creationId xmlns:a16="http://schemas.microsoft.com/office/drawing/2014/main" id="{32C26CAE-F897-FFAD-9DE0-5BA4EF523F90}"/>
              </a:ext>
            </a:extLst>
          </p:cNvPr>
          <p:cNvSpPr>
            <a:spLocks noGrp="1"/>
          </p:cNvSpPr>
          <p:nvPr>
            <p:ph type="body" sz="quarter" idx="14"/>
          </p:nvPr>
        </p:nvSpPr>
        <p:spPr/>
        <p:txBody>
          <a:bodyPr/>
          <a:lstStyle/>
          <a:p>
            <a:r>
              <a:rPr lang="en-US"/>
              <a:t>15 MINUTES</a:t>
            </a:r>
          </a:p>
        </p:txBody>
      </p:sp>
      <p:sp>
        <p:nvSpPr>
          <p:cNvPr id="6" name="Text Placeholder 5">
            <a:extLst>
              <a:ext uri="{FF2B5EF4-FFF2-40B4-BE49-F238E27FC236}">
                <a16:creationId xmlns:a16="http://schemas.microsoft.com/office/drawing/2014/main" id="{E50199A2-EDFA-330C-2C4B-9E33F5B52B02}"/>
              </a:ext>
            </a:extLst>
          </p:cNvPr>
          <p:cNvSpPr>
            <a:spLocks noGrp="1"/>
          </p:cNvSpPr>
          <p:nvPr>
            <p:ph type="body" sz="quarter" idx="15"/>
          </p:nvPr>
        </p:nvSpPr>
        <p:spPr/>
        <p:txBody>
          <a:bodyPr/>
          <a:lstStyle/>
          <a:p>
            <a:r>
              <a:rPr lang="en-US"/>
              <a:t>PART 3 (BOTH SIDES)</a:t>
            </a:r>
          </a:p>
        </p:txBody>
      </p:sp>
      <p:sp>
        <p:nvSpPr>
          <p:cNvPr id="9" name="Content Placeholder 2">
            <a:extLst>
              <a:ext uri="{FF2B5EF4-FFF2-40B4-BE49-F238E27FC236}">
                <a16:creationId xmlns:a16="http://schemas.microsoft.com/office/drawing/2014/main" id="{16BFB358-00B1-97E3-05E5-5FA1A7AF1D79}"/>
              </a:ext>
            </a:extLst>
          </p:cNvPr>
          <p:cNvSpPr txBox="1">
            <a:spLocks/>
          </p:cNvSpPr>
          <p:nvPr/>
        </p:nvSpPr>
        <p:spPr>
          <a:xfrm>
            <a:off x="699206" y="1682874"/>
            <a:ext cx="8709489" cy="4070035"/>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solidFill>
                <a:latin typeface="+mn-lt"/>
                <a:ea typeface="+mn-ea"/>
                <a:cs typeface="Gill Sans Nova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solidFill>
                <a:latin typeface="+mn-lt"/>
                <a:ea typeface="+mn-ea"/>
                <a:cs typeface="Gill Sans Nova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Gill Sans Nova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solidFill>
                <a:latin typeface="+mn-lt"/>
                <a:ea typeface="+mn-ea"/>
                <a:cs typeface="Gill Sans Nova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solidFill>
                <a:latin typeface="+mn-lt"/>
                <a:ea typeface="+mn-ea"/>
                <a:cs typeface="Gill Sans Nova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a:solidFill>
                  <a:srgbClr val="002060"/>
                </a:solidFill>
                <a:latin typeface="Aptos" panose="020B0004020202020204" pitchFamily="34" charset="0"/>
              </a:rPr>
              <a:t>Describe your game and its core mechanic</a:t>
            </a:r>
          </a:p>
          <a:p>
            <a:pPr>
              <a:lnSpc>
                <a:spcPct val="100000"/>
              </a:lnSpc>
            </a:pPr>
            <a:r>
              <a:rPr lang="en-US" sz="2400">
                <a:solidFill>
                  <a:srgbClr val="002060"/>
                </a:solidFill>
                <a:latin typeface="Aptos" panose="020B0004020202020204" pitchFamily="34" charset="0"/>
              </a:rPr>
              <a:t>Define how the game starts, what happens on a player's turn, the game’s loop, etc.</a:t>
            </a:r>
          </a:p>
          <a:p>
            <a:pPr marL="0" indent="0">
              <a:lnSpc>
                <a:spcPct val="100000"/>
              </a:lnSpc>
              <a:buFont typeface="Arial" panose="020B0604020202020204" pitchFamily="34" charset="0"/>
              <a:buNone/>
            </a:pPr>
            <a:endParaRPr lang="en-US" sz="2400">
              <a:solidFill>
                <a:srgbClr val="002060"/>
              </a:solidFill>
              <a:latin typeface="Aptos" panose="020B0004020202020204" pitchFamily="34" charset="0"/>
            </a:endParaRPr>
          </a:p>
          <a:p>
            <a:pPr>
              <a:lnSpc>
                <a:spcPct val="100000"/>
              </a:lnSpc>
            </a:pPr>
            <a:r>
              <a:rPr lang="en-US" sz="2400">
                <a:solidFill>
                  <a:srgbClr val="002060"/>
                </a:solidFill>
                <a:latin typeface="Aptos" panose="020B0004020202020204" pitchFamily="34" charset="0"/>
              </a:rPr>
              <a:t>Tips:</a:t>
            </a:r>
          </a:p>
          <a:p>
            <a:pPr lvl="1">
              <a:lnSpc>
                <a:spcPct val="100000"/>
              </a:lnSpc>
              <a:buFont typeface="Courier New" panose="020B0604020202020204" pitchFamily="34" charset="0"/>
              <a:buChar char="o"/>
            </a:pPr>
            <a:r>
              <a:rPr lang="en-US">
                <a:solidFill>
                  <a:srgbClr val="002060"/>
                </a:solidFill>
                <a:latin typeface="Aptos" panose="020B0004020202020204" pitchFamily="34" charset="0"/>
              </a:rPr>
              <a:t>Use your work in Part 1 and 2 to fill out these sections</a:t>
            </a:r>
          </a:p>
          <a:p>
            <a:pPr lvl="1">
              <a:lnSpc>
                <a:spcPct val="100000"/>
              </a:lnSpc>
              <a:buFont typeface="Courier New" panose="020B0604020202020204" pitchFamily="34" charset="0"/>
              <a:buChar char="o"/>
            </a:pPr>
            <a:r>
              <a:rPr lang="en-US">
                <a:solidFill>
                  <a:srgbClr val="002060"/>
                </a:solidFill>
                <a:latin typeface="Aptos" panose="020B0004020202020204" pitchFamily="34" charset="0"/>
              </a:rPr>
              <a:t>Consider adding quick ways to make an adventure, like providing example adventures or tables to randomly generate a story</a:t>
            </a:r>
          </a:p>
        </p:txBody>
      </p:sp>
      <p:sp>
        <p:nvSpPr>
          <p:cNvPr id="8" name="TextBox 7">
            <a:extLst>
              <a:ext uri="{FF2B5EF4-FFF2-40B4-BE49-F238E27FC236}">
                <a16:creationId xmlns:a16="http://schemas.microsoft.com/office/drawing/2014/main" id="{0FC59F8D-1614-414D-0680-5A960B2CADE3}"/>
              </a:ext>
            </a:extLst>
          </p:cNvPr>
          <p:cNvSpPr txBox="1"/>
          <p:nvPr/>
        </p:nvSpPr>
        <p:spPr>
          <a:xfrm>
            <a:off x="630475" y="6096588"/>
            <a:ext cx="11256636" cy="523220"/>
          </a:xfrm>
          <a:prstGeom prst="rect">
            <a:avLst/>
          </a:prstGeom>
          <a:noFill/>
        </p:spPr>
        <p:txBody>
          <a:bodyPr wrap="square">
            <a:spAutoFit/>
          </a:bodyPr>
          <a:lstStyle/>
          <a:p>
            <a:r>
              <a:rPr lang="en-US" sz="2800" i="0">
                <a:solidFill>
                  <a:srgbClr val="002060"/>
                </a:solidFill>
                <a:effectLst/>
                <a:latin typeface="Aptos" panose="020B0004020202020204" pitchFamily="34" charset="0"/>
              </a:rPr>
              <a:t>Worksheets &amp; slides here: </a:t>
            </a:r>
            <a:r>
              <a:rPr lang="en-US" sz="2800" i="1" u="sng">
                <a:latin typeface="Aptos" panose="020B0004020202020204" pitchFamily="34" charset="0"/>
              </a:rPr>
              <a:t>tinyurl.com/</a:t>
            </a:r>
            <a:r>
              <a:rPr lang="en-US" sz="2800" i="1" u="sng" err="1">
                <a:latin typeface="Aptos" panose="020B0004020202020204" pitchFamily="34" charset="0"/>
              </a:rPr>
              <a:t>CreateYourOwnOnePageRPG</a:t>
            </a:r>
            <a:endParaRPr lang="en-US" sz="2800" u="sng">
              <a:solidFill>
                <a:srgbClr val="002060"/>
              </a:solidFill>
              <a:latin typeface="Aptos" panose="020B0004020202020204" pitchFamily="34" charset="0"/>
            </a:endParaRPr>
          </a:p>
        </p:txBody>
      </p:sp>
      <p:grpSp>
        <p:nvGrpSpPr>
          <p:cNvPr id="19" name="Group 18">
            <a:extLst>
              <a:ext uri="{FF2B5EF4-FFF2-40B4-BE49-F238E27FC236}">
                <a16:creationId xmlns:a16="http://schemas.microsoft.com/office/drawing/2014/main" id="{493D3A4B-37C7-245F-BEF2-1A291E78B9F6}"/>
              </a:ext>
            </a:extLst>
          </p:cNvPr>
          <p:cNvGrpSpPr/>
          <p:nvPr/>
        </p:nvGrpSpPr>
        <p:grpSpPr>
          <a:xfrm>
            <a:off x="8843211" y="-29877"/>
            <a:ext cx="3521476" cy="6079369"/>
            <a:chOff x="8843211" y="-29877"/>
            <a:chExt cx="3521476" cy="6079369"/>
          </a:xfrm>
        </p:grpSpPr>
        <p:cxnSp>
          <p:nvCxnSpPr>
            <p:cNvPr id="16" name="Straight Connector 15">
              <a:extLst>
                <a:ext uri="{FF2B5EF4-FFF2-40B4-BE49-F238E27FC236}">
                  <a16:creationId xmlns:a16="http://schemas.microsoft.com/office/drawing/2014/main" id="{0CDB2531-A4D1-B774-B542-327A9B5F368A}"/>
                </a:ext>
              </a:extLst>
            </p:cNvPr>
            <p:cNvCxnSpPr>
              <a:cxnSpLocks/>
            </p:cNvCxnSpPr>
            <p:nvPr/>
          </p:nvCxnSpPr>
          <p:spPr>
            <a:xfrm flipV="1">
              <a:off x="11819771" y="-29877"/>
              <a:ext cx="0" cy="2314521"/>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EC07586C-C3A8-93E7-45DE-15F177E44F96}"/>
                </a:ext>
              </a:extLst>
            </p:cNvPr>
            <p:cNvGrpSpPr/>
            <p:nvPr/>
          </p:nvGrpSpPr>
          <p:grpSpPr>
            <a:xfrm>
              <a:off x="8843211" y="1271950"/>
              <a:ext cx="3521476" cy="4777542"/>
              <a:chOff x="8563533" y="998419"/>
              <a:chExt cx="4005689" cy="5395541"/>
            </a:xfrm>
          </p:grpSpPr>
          <p:pic>
            <p:nvPicPr>
              <p:cNvPr id="13" name="Graphic 12" descr="Pen with solid fill">
                <a:extLst>
                  <a:ext uri="{FF2B5EF4-FFF2-40B4-BE49-F238E27FC236}">
                    <a16:creationId xmlns:a16="http://schemas.microsoft.com/office/drawing/2014/main" id="{3D30422C-8A2D-D7F9-9300-A344F3A574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6200000">
                <a:off x="10792326" y="998419"/>
                <a:ext cx="1233886" cy="1233886"/>
              </a:xfrm>
              <a:prstGeom prst="rect">
                <a:avLst/>
              </a:prstGeom>
            </p:spPr>
          </p:pic>
          <p:pic>
            <p:nvPicPr>
              <p:cNvPr id="11" name="Picture 10">
                <a:extLst>
                  <a:ext uri="{FF2B5EF4-FFF2-40B4-BE49-F238E27FC236}">
                    <a16:creationId xmlns:a16="http://schemas.microsoft.com/office/drawing/2014/main" id="{71B505E7-13E7-758C-AFC6-D8CE4E12253A}"/>
                  </a:ext>
                </a:extLst>
              </p:cNvPr>
              <p:cNvPicPr>
                <a:picLocks noChangeAspect="1"/>
              </p:cNvPicPr>
              <p:nvPr/>
            </p:nvPicPr>
            <p:blipFill>
              <a:blip r:embed="rId4"/>
              <a:stretch>
                <a:fillRect/>
              </a:stretch>
            </p:blipFill>
            <p:spPr>
              <a:xfrm rot="10800000">
                <a:off x="8563533" y="1041821"/>
                <a:ext cx="4005689" cy="5352139"/>
              </a:xfrm>
              <a:prstGeom prst="rect">
                <a:avLst/>
              </a:prstGeom>
            </p:spPr>
          </p:pic>
        </p:grpSp>
      </p:grpSp>
    </p:spTree>
    <p:extLst>
      <p:ext uri="{BB962C8B-B14F-4D97-AF65-F5344CB8AC3E}">
        <p14:creationId xmlns:p14="http://schemas.microsoft.com/office/powerpoint/2010/main" val="1400404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131CD64-5919-E4A7-D536-50290971F24D}"/>
              </a:ext>
            </a:extLst>
          </p:cNvPr>
          <p:cNvSpPr>
            <a:spLocks noGrp="1"/>
          </p:cNvSpPr>
          <p:nvPr>
            <p:ph type="sldNum" sz="quarter" idx="11"/>
          </p:nvPr>
        </p:nvSpPr>
        <p:spPr>
          <a:xfrm>
            <a:off x="154943" y="6296643"/>
            <a:ext cx="365760" cy="182880"/>
          </a:xfrm>
        </p:spPr>
        <p:txBody>
          <a:bodyPr/>
          <a:lstStyle/>
          <a:p>
            <a:r>
              <a:rPr lang="en-US"/>
              <a:t>14</a:t>
            </a:r>
          </a:p>
        </p:txBody>
      </p:sp>
      <p:sp>
        <p:nvSpPr>
          <p:cNvPr id="9" name="Footer Placeholder 4">
            <a:extLst>
              <a:ext uri="{FF2B5EF4-FFF2-40B4-BE49-F238E27FC236}">
                <a16:creationId xmlns:a16="http://schemas.microsoft.com/office/drawing/2014/main" id="{64BFEE74-4F34-7AE7-506C-1F4FD76FBFA6}"/>
              </a:ext>
            </a:extLst>
          </p:cNvPr>
          <p:cNvSpPr>
            <a:spLocks noGrp="1"/>
          </p:cNvSpPr>
          <p:nvPr>
            <p:ph type="ftr" sz="quarter" idx="12"/>
          </p:nvPr>
        </p:nvSpPr>
        <p:spPr>
          <a:xfrm rot="16200000">
            <a:off x="-979231" y="1471261"/>
            <a:ext cx="2631698" cy="182880"/>
          </a:xfrm>
        </p:spPr>
        <p:txBody>
          <a:bodyPr/>
          <a:lstStyle/>
          <a:p>
            <a:r>
              <a:rPr lang="en-US"/>
              <a:t>CREATE YOUR OWN RPG</a:t>
            </a:r>
          </a:p>
        </p:txBody>
      </p:sp>
      <p:sp>
        <p:nvSpPr>
          <p:cNvPr id="2" name="Title 1">
            <a:extLst>
              <a:ext uri="{FF2B5EF4-FFF2-40B4-BE49-F238E27FC236}">
                <a16:creationId xmlns:a16="http://schemas.microsoft.com/office/drawing/2014/main" id="{B9EA4DEF-1597-FF01-48B4-FD0714B9F638}"/>
              </a:ext>
            </a:extLst>
          </p:cNvPr>
          <p:cNvSpPr>
            <a:spLocks noGrp="1"/>
          </p:cNvSpPr>
          <p:nvPr>
            <p:ph type="title"/>
          </p:nvPr>
        </p:nvSpPr>
        <p:spPr>
          <a:xfrm>
            <a:off x="1066800" y="191101"/>
            <a:ext cx="10058400" cy="1371600"/>
          </a:xfrm>
        </p:spPr>
        <p:txBody>
          <a:bodyPr/>
          <a:lstStyle/>
          <a:p>
            <a:r>
              <a:rPr lang="en-US"/>
              <a:t>Design thinking</a:t>
            </a:r>
          </a:p>
        </p:txBody>
      </p:sp>
      <p:sp>
        <p:nvSpPr>
          <p:cNvPr id="3" name="Content Placeholder 2">
            <a:extLst>
              <a:ext uri="{FF2B5EF4-FFF2-40B4-BE49-F238E27FC236}">
                <a16:creationId xmlns:a16="http://schemas.microsoft.com/office/drawing/2014/main" id="{5FFC19EC-97E5-6B94-0504-65BE29D4F137}"/>
              </a:ext>
            </a:extLst>
          </p:cNvPr>
          <p:cNvSpPr>
            <a:spLocks noGrp="1"/>
          </p:cNvSpPr>
          <p:nvPr>
            <p:ph idx="4294967295"/>
          </p:nvPr>
        </p:nvSpPr>
        <p:spPr>
          <a:xfrm>
            <a:off x="1071966" y="877157"/>
            <a:ext cx="10874856" cy="822595"/>
          </a:xfrm>
          <a:noFill/>
        </p:spPr>
        <p:txBody>
          <a:bodyPr vert="horz" lIns="0" tIns="0" rIns="0" bIns="0" rtlCol="0" anchor="t">
            <a:noAutofit/>
          </a:bodyPr>
          <a:lstStyle/>
          <a:p>
            <a:pPr marL="0" indent="0" algn="ctr">
              <a:buNone/>
            </a:pPr>
            <a:r>
              <a:rPr lang="en-US" sz="2600">
                <a:latin typeface="Aptos" panose="020B0004020202020204" pitchFamily="34" charset="0"/>
              </a:rPr>
              <a:t>Design thinking is a way to create anything, work on any project, in a way that is </a:t>
            </a:r>
            <a:r>
              <a:rPr lang="en-US" sz="2600" u="sng">
                <a:latin typeface="Aptos" panose="020B0004020202020204" pitchFamily="34" charset="0"/>
              </a:rPr>
              <a:t>human-centered</a:t>
            </a:r>
            <a:r>
              <a:rPr lang="en-US" sz="2600">
                <a:latin typeface="Aptos" panose="020B0004020202020204" pitchFamily="34" charset="0"/>
              </a:rPr>
              <a:t> at its core and </a:t>
            </a:r>
            <a:r>
              <a:rPr lang="en-US" sz="2600" u="sng">
                <a:latin typeface="Aptos" panose="020B0004020202020204" pitchFamily="34" charset="0"/>
              </a:rPr>
              <a:t>favors progress over perfection</a:t>
            </a:r>
            <a:endParaRPr lang="en-US"/>
          </a:p>
        </p:txBody>
      </p:sp>
      <p:sp>
        <p:nvSpPr>
          <p:cNvPr id="4" name="TextBox 3">
            <a:extLst>
              <a:ext uri="{FF2B5EF4-FFF2-40B4-BE49-F238E27FC236}">
                <a16:creationId xmlns:a16="http://schemas.microsoft.com/office/drawing/2014/main" id="{78406582-A875-3E4F-97EA-D3A33D41EE42}"/>
              </a:ext>
            </a:extLst>
          </p:cNvPr>
          <p:cNvSpPr txBox="1"/>
          <p:nvPr/>
        </p:nvSpPr>
        <p:spPr>
          <a:xfrm>
            <a:off x="9045018" y="6165205"/>
            <a:ext cx="314765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Interaction Design Foundation</a:t>
            </a:r>
          </a:p>
          <a:p>
            <a:r>
              <a:rPr lang="en-US" dirty="0"/>
              <a:t>Interaction-design.org</a:t>
            </a:r>
          </a:p>
        </p:txBody>
      </p:sp>
      <p:pic>
        <p:nvPicPr>
          <p:cNvPr id="11" name="Picture 10">
            <a:extLst>
              <a:ext uri="{FF2B5EF4-FFF2-40B4-BE49-F238E27FC236}">
                <a16:creationId xmlns:a16="http://schemas.microsoft.com/office/drawing/2014/main" id="{15E3D6D1-A86D-42AD-34EA-DEB5882D0BFC}"/>
              </a:ext>
            </a:extLst>
          </p:cNvPr>
          <p:cNvPicPr>
            <a:picLocks noChangeAspect="1"/>
          </p:cNvPicPr>
          <p:nvPr/>
        </p:nvPicPr>
        <p:blipFill>
          <a:blip r:embed="rId4"/>
          <a:srcRect l="8378" r="9235"/>
          <a:stretch>
            <a:fillRect/>
          </a:stretch>
        </p:blipFill>
        <p:spPr>
          <a:xfrm>
            <a:off x="1255872" y="3132400"/>
            <a:ext cx="1257916" cy="1593803"/>
          </a:xfrm>
          <a:prstGeom prst="rect">
            <a:avLst/>
          </a:prstGeom>
        </p:spPr>
      </p:pic>
      <p:pic>
        <p:nvPicPr>
          <p:cNvPr id="13" name="Picture 12">
            <a:extLst>
              <a:ext uri="{FF2B5EF4-FFF2-40B4-BE49-F238E27FC236}">
                <a16:creationId xmlns:a16="http://schemas.microsoft.com/office/drawing/2014/main" id="{56632C57-8560-5850-BC40-1E7EF955DE60}"/>
              </a:ext>
            </a:extLst>
          </p:cNvPr>
          <p:cNvPicPr>
            <a:picLocks noChangeAspect="1"/>
          </p:cNvPicPr>
          <p:nvPr/>
        </p:nvPicPr>
        <p:blipFill>
          <a:blip r:embed="rId5"/>
          <a:srcRect/>
          <a:stretch>
            <a:fillRect/>
          </a:stretch>
        </p:blipFill>
        <p:spPr>
          <a:xfrm>
            <a:off x="3361457" y="3167487"/>
            <a:ext cx="1257916" cy="1528436"/>
          </a:xfrm>
          <a:prstGeom prst="rect">
            <a:avLst/>
          </a:prstGeom>
        </p:spPr>
      </p:pic>
      <p:pic>
        <p:nvPicPr>
          <p:cNvPr id="15" name="Picture 14">
            <a:extLst>
              <a:ext uri="{FF2B5EF4-FFF2-40B4-BE49-F238E27FC236}">
                <a16:creationId xmlns:a16="http://schemas.microsoft.com/office/drawing/2014/main" id="{436D2E76-53B6-18E5-3F1D-37633473E119}"/>
              </a:ext>
            </a:extLst>
          </p:cNvPr>
          <p:cNvPicPr>
            <a:picLocks noChangeAspect="1"/>
          </p:cNvPicPr>
          <p:nvPr/>
        </p:nvPicPr>
        <p:blipFill>
          <a:blip r:embed="rId6"/>
          <a:srcRect l="3017" t="2351" r="4630"/>
          <a:stretch>
            <a:fillRect/>
          </a:stretch>
        </p:blipFill>
        <p:spPr>
          <a:xfrm>
            <a:off x="5467043" y="3167776"/>
            <a:ext cx="1257916" cy="1585297"/>
          </a:xfrm>
          <a:prstGeom prst="rect">
            <a:avLst/>
          </a:prstGeom>
        </p:spPr>
      </p:pic>
      <p:pic>
        <p:nvPicPr>
          <p:cNvPr id="17" name="Picture 16">
            <a:extLst>
              <a:ext uri="{FF2B5EF4-FFF2-40B4-BE49-F238E27FC236}">
                <a16:creationId xmlns:a16="http://schemas.microsoft.com/office/drawing/2014/main" id="{46F3A495-6712-E7B2-B6E8-3541FEE565D8}"/>
              </a:ext>
            </a:extLst>
          </p:cNvPr>
          <p:cNvPicPr>
            <a:picLocks noChangeAspect="1"/>
          </p:cNvPicPr>
          <p:nvPr/>
        </p:nvPicPr>
        <p:blipFill>
          <a:blip r:embed="rId7"/>
          <a:srcRect l="8909" r="8198" b="4617"/>
          <a:stretch>
            <a:fillRect/>
          </a:stretch>
        </p:blipFill>
        <p:spPr>
          <a:xfrm>
            <a:off x="7667164" y="3167777"/>
            <a:ext cx="1257915" cy="1585296"/>
          </a:xfrm>
          <a:prstGeom prst="rect">
            <a:avLst/>
          </a:prstGeom>
        </p:spPr>
      </p:pic>
      <p:pic>
        <p:nvPicPr>
          <p:cNvPr id="19" name="Picture 18">
            <a:extLst>
              <a:ext uri="{FF2B5EF4-FFF2-40B4-BE49-F238E27FC236}">
                <a16:creationId xmlns:a16="http://schemas.microsoft.com/office/drawing/2014/main" id="{7F78A3ED-64D3-8490-633F-A7C93A4AA4C7}"/>
              </a:ext>
            </a:extLst>
          </p:cNvPr>
          <p:cNvPicPr>
            <a:picLocks noChangeAspect="1"/>
          </p:cNvPicPr>
          <p:nvPr/>
        </p:nvPicPr>
        <p:blipFill>
          <a:blip r:embed="rId8"/>
          <a:srcRect t="4332"/>
          <a:stretch>
            <a:fillRect/>
          </a:stretch>
        </p:blipFill>
        <p:spPr>
          <a:xfrm>
            <a:off x="9867285" y="3105533"/>
            <a:ext cx="1257915" cy="1647540"/>
          </a:xfrm>
          <a:prstGeom prst="rect">
            <a:avLst/>
          </a:prstGeom>
        </p:spPr>
      </p:pic>
      <p:cxnSp>
        <p:nvCxnSpPr>
          <p:cNvPr id="21" name="Connector: Curved 20">
            <a:extLst>
              <a:ext uri="{FF2B5EF4-FFF2-40B4-BE49-F238E27FC236}">
                <a16:creationId xmlns:a16="http://schemas.microsoft.com/office/drawing/2014/main" id="{AC77FD46-0A1A-3448-EBA6-23E3CCF5ECE6}"/>
              </a:ext>
            </a:extLst>
          </p:cNvPr>
          <p:cNvCxnSpPr>
            <a:cxnSpLocks/>
            <a:stCxn id="11" idx="0"/>
            <a:endCxn id="13" idx="0"/>
          </p:cNvCxnSpPr>
          <p:nvPr/>
        </p:nvCxnSpPr>
        <p:spPr>
          <a:xfrm rot="16200000" flipH="1">
            <a:off x="2920078" y="2097151"/>
            <a:ext cx="35087" cy="2105585"/>
          </a:xfrm>
          <a:prstGeom prst="curvedConnector3">
            <a:avLst>
              <a:gd name="adj1" fmla="val -651523"/>
            </a:avLst>
          </a:prstGeom>
          <a:ln w="38100">
            <a:solidFill>
              <a:srgbClr val="039CE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3" name="Connector: Curved 22">
            <a:extLst>
              <a:ext uri="{FF2B5EF4-FFF2-40B4-BE49-F238E27FC236}">
                <a16:creationId xmlns:a16="http://schemas.microsoft.com/office/drawing/2014/main" id="{769B810E-B9F2-BF42-959A-1F5BBCEC578B}"/>
              </a:ext>
            </a:extLst>
          </p:cNvPr>
          <p:cNvCxnSpPr>
            <a:cxnSpLocks/>
            <a:stCxn id="19" idx="0"/>
            <a:endCxn id="11" idx="0"/>
          </p:cNvCxnSpPr>
          <p:nvPr/>
        </p:nvCxnSpPr>
        <p:spPr>
          <a:xfrm rot="16200000" flipH="1" flipV="1">
            <a:off x="6177103" y="-1186741"/>
            <a:ext cx="26867" cy="8611413"/>
          </a:xfrm>
          <a:prstGeom prst="curvedConnector3">
            <a:avLst>
              <a:gd name="adj1" fmla="val -4963338"/>
            </a:avLst>
          </a:prstGeom>
          <a:ln w="38100">
            <a:solidFill>
              <a:srgbClr val="039CE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Connector: Curved 35">
            <a:extLst>
              <a:ext uri="{FF2B5EF4-FFF2-40B4-BE49-F238E27FC236}">
                <a16:creationId xmlns:a16="http://schemas.microsoft.com/office/drawing/2014/main" id="{A2669102-3FB1-068B-AAB4-6EAA6C0E9AE2}"/>
              </a:ext>
            </a:extLst>
          </p:cNvPr>
          <p:cNvCxnSpPr>
            <a:cxnSpLocks/>
            <a:stCxn id="19" idx="0"/>
            <a:endCxn id="17" idx="0"/>
          </p:cNvCxnSpPr>
          <p:nvPr/>
        </p:nvCxnSpPr>
        <p:spPr>
          <a:xfrm rot="16200000" flipH="1" flipV="1">
            <a:off x="9365061" y="2036594"/>
            <a:ext cx="62244" cy="2200121"/>
          </a:xfrm>
          <a:prstGeom prst="curvedConnector3">
            <a:avLst>
              <a:gd name="adj1" fmla="val -367264"/>
            </a:avLst>
          </a:prstGeom>
          <a:ln w="38100">
            <a:solidFill>
              <a:srgbClr val="039CE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9" name="Connector: Curved 38">
            <a:extLst>
              <a:ext uri="{FF2B5EF4-FFF2-40B4-BE49-F238E27FC236}">
                <a16:creationId xmlns:a16="http://schemas.microsoft.com/office/drawing/2014/main" id="{DCBA2A74-7709-0D98-25B7-383DAC8C0EFE}"/>
              </a:ext>
            </a:extLst>
          </p:cNvPr>
          <p:cNvCxnSpPr>
            <a:cxnSpLocks/>
            <a:stCxn id="17" idx="2"/>
            <a:endCxn id="15" idx="2"/>
          </p:cNvCxnSpPr>
          <p:nvPr/>
        </p:nvCxnSpPr>
        <p:spPr>
          <a:xfrm rot="5400000">
            <a:off x="7196062" y="3653013"/>
            <a:ext cx="12700" cy="2200121"/>
          </a:xfrm>
          <a:prstGeom prst="curvedConnector3">
            <a:avLst>
              <a:gd name="adj1" fmla="val 1800000"/>
            </a:avLst>
          </a:prstGeom>
          <a:ln w="38100">
            <a:solidFill>
              <a:srgbClr val="039CE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Connector: Curved 41">
            <a:extLst>
              <a:ext uri="{FF2B5EF4-FFF2-40B4-BE49-F238E27FC236}">
                <a16:creationId xmlns:a16="http://schemas.microsoft.com/office/drawing/2014/main" id="{AC84605E-9358-0C70-7169-317AB94090B9}"/>
              </a:ext>
            </a:extLst>
          </p:cNvPr>
          <p:cNvCxnSpPr>
            <a:cxnSpLocks/>
            <a:stCxn id="19" idx="2"/>
            <a:endCxn id="13" idx="2"/>
          </p:cNvCxnSpPr>
          <p:nvPr/>
        </p:nvCxnSpPr>
        <p:spPr>
          <a:xfrm rot="5400000" flipH="1">
            <a:off x="7214754" y="1471584"/>
            <a:ext cx="57150" cy="6505828"/>
          </a:xfrm>
          <a:prstGeom prst="curvedConnector3">
            <a:avLst>
              <a:gd name="adj1" fmla="val -2316667"/>
            </a:avLst>
          </a:prstGeom>
          <a:ln w="38100">
            <a:solidFill>
              <a:srgbClr val="039CE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9648626D-A44F-6A16-865E-867EB3413E97}"/>
              </a:ext>
            </a:extLst>
          </p:cNvPr>
          <p:cNvSpPr txBox="1"/>
          <p:nvPr/>
        </p:nvSpPr>
        <p:spPr>
          <a:xfrm>
            <a:off x="3895347" y="2526696"/>
            <a:ext cx="1257915" cy="415498"/>
          </a:xfrm>
          <a:prstGeom prst="rect">
            <a:avLst/>
          </a:prstGeom>
          <a:noFill/>
        </p:spPr>
        <p:txBody>
          <a:bodyPr wrap="square" rtlCol="0">
            <a:spAutoFit/>
          </a:bodyPr>
          <a:lstStyle/>
          <a:p>
            <a:r>
              <a:rPr lang="en-US" sz="1050" b="1">
                <a:latin typeface="Arial" panose="020B0604020202020204" pitchFamily="34" charset="0"/>
                <a:cs typeface="Arial" panose="020B0604020202020204" pitchFamily="34" charset="0"/>
              </a:rPr>
              <a:t>Empathy helps define problems</a:t>
            </a:r>
          </a:p>
        </p:txBody>
      </p:sp>
      <p:sp>
        <p:nvSpPr>
          <p:cNvPr id="49" name="TextBox 48">
            <a:extLst>
              <a:ext uri="{FF2B5EF4-FFF2-40B4-BE49-F238E27FC236}">
                <a16:creationId xmlns:a16="http://schemas.microsoft.com/office/drawing/2014/main" id="{68E56F21-5247-2052-74BE-F0E7FDDE8D01}"/>
              </a:ext>
            </a:extLst>
          </p:cNvPr>
          <p:cNvSpPr txBox="1"/>
          <p:nvPr/>
        </p:nvSpPr>
        <p:spPr>
          <a:xfrm>
            <a:off x="5628420" y="2123792"/>
            <a:ext cx="1352693" cy="415498"/>
          </a:xfrm>
          <a:prstGeom prst="rect">
            <a:avLst/>
          </a:prstGeom>
          <a:noFill/>
        </p:spPr>
        <p:txBody>
          <a:bodyPr wrap="square" rtlCol="0">
            <a:spAutoFit/>
          </a:bodyPr>
          <a:lstStyle/>
          <a:p>
            <a:r>
              <a:rPr lang="en-US" sz="1050" b="1">
                <a:latin typeface="Arial" panose="020B0604020202020204" pitchFamily="34" charset="0"/>
                <a:cs typeface="Arial" panose="020B0604020202020204" pitchFamily="34" charset="0"/>
              </a:rPr>
              <a:t>Learn about users through testing</a:t>
            </a:r>
          </a:p>
        </p:txBody>
      </p:sp>
      <p:sp>
        <p:nvSpPr>
          <p:cNvPr id="51" name="TextBox 50">
            <a:extLst>
              <a:ext uri="{FF2B5EF4-FFF2-40B4-BE49-F238E27FC236}">
                <a16:creationId xmlns:a16="http://schemas.microsoft.com/office/drawing/2014/main" id="{5D5F1896-CA3B-144D-5CDC-335EE4086519}"/>
              </a:ext>
            </a:extLst>
          </p:cNvPr>
          <p:cNvSpPr txBox="1"/>
          <p:nvPr/>
        </p:nvSpPr>
        <p:spPr>
          <a:xfrm>
            <a:off x="7667163" y="2443728"/>
            <a:ext cx="1377855" cy="415498"/>
          </a:xfrm>
          <a:prstGeom prst="rect">
            <a:avLst/>
          </a:prstGeom>
          <a:noFill/>
        </p:spPr>
        <p:txBody>
          <a:bodyPr wrap="square" rtlCol="0">
            <a:spAutoFit/>
          </a:bodyPr>
          <a:lstStyle/>
          <a:p>
            <a:r>
              <a:rPr lang="en-US" sz="1050" b="1">
                <a:latin typeface="Arial" panose="020B0604020202020204" pitchFamily="34" charset="0"/>
                <a:cs typeface="Arial" panose="020B0604020202020204" pitchFamily="34" charset="0"/>
              </a:rPr>
              <a:t>Tests create new ideas for projects</a:t>
            </a:r>
          </a:p>
        </p:txBody>
      </p:sp>
      <p:sp>
        <p:nvSpPr>
          <p:cNvPr id="53" name="TextBox 52">
            <a:extLst>
              <a:ext uri="{FF2B5EF4-FFF2-40B4-BE49-F238E27FC236}">
                <a16:creationId xmlns:a16="http://schemas.microsoft.com/office/drawing/2014/main" id="{1B0AF729-3E2D-615C-4F64-EFF98C126E00}"/>
              </a:ext>
            </a:extLst>
          </p:cNvPr>
          <p:cNvSpPr txBox="1"/>
          <p:nvPr/>
        </p:nvSpPr>
        <p:spPr>
          <a:xfrm>
            <a:off x="6573454" y="5146071"/>
            <a:ext cx="1341821" cy="415498"/>
          </a:xfrm>
          <a:prstGeom prst="rect">
            <a:avLst/>
          </a:prstGeom>
          <a:noFill/>
        </p:spPr>
        <p:txBody>
          <a:bodyPr wrap="square" rtlCol="0">
            <a:spAutoFit/>
          </a:bodyPr>
          <a:lstStyle/>
          <a:p>
            <a:r>
              <a:rPr lang="en-US" sz="1050" b="1">
                <a:latin typeface="Arial" panose="020B0604020202020204" pitchFamily="34" charset="0"/>
                <a:cs typeface="Arial" panose="020B0604020202020204" pitchFamily="34" charset="0"/>
              </a:rPr>
              <a:t>Prototype sparks a new idea</a:t>
            </a:r>
          </a:p>
        </p:txBody>
      </p:sp>
      <p:sp>
        <p:nvSpPr>
          <p:cNvPr id="55" name="TextBox 54">
            <a:extLst>
              <a:ext uri="{FF2B5EF4-FFF2-40B4-BE49-F238E27FC236}">
                <a16:creationId xmlns:a16="http://schemas.microsoft.com/office/drawing/2014/main" id="{E97201AB-E2FE-5985-A814-B2327FCF4136}"/>
              </a:ext>
            </a:extLst>
          </p:cNvPr>
          <p:cNvSpPr txBox="1"/>
          <p:nvPr/>
        </p:nvSpPr>
        <p:spPr>
          <a:xfrm>
            <a:off x="3061691" y="5843949"/>
            <a:ext cx="1857446" cy="415498"/>
          </a:xfrm>
          <a:prstGeom prst="rect">
            <a:avLst/>
          </a:prstGeom>
          <a:noFill/>
        </p:spPr>
        <p:txBody>
          <a:bodyPr wrap="square" rtlCol="0">
            <a:spAutoFit/>
          </a:bodyPr>
          <a:lstStyle/>
          <a:p>
            <a:r>
              <a:rPr lang="en-US" sz="1050" b="1">
                <a:latin typeface="Arial" panose="020B0604020202020204" pitchFamily="34" charset="0"/>
                <a:cs typeface="Arial" panose="020B0604020202020204" pitchFamily="34" charset="0"/>
              </a:rPr>
              <a:t>Tests reveal insights that redefine the problem</a:t>
            </a:r>
          </a:p>
        </p:txBody>
      </p:sp>
      <p:cxnSp>
        <p:nvCxnSpPr>
          <p:cNvPr id="57" name="Straight Connector 56">
            <a:extLst>
              <a:ext uri="{FF2B5EF4-FFF2-40B4-BE49-F238E27FC236}">
                <a16:creationId xmlns:a16="http://schemas.microsoft.com/office/drawing/2014/main" id="{70AE30B7-F151-B6BC-5172-5D1BB5EBAAE0}"/>
              </a:ext>
            </a:extLst>
          </p:cNvPr>
          <p:cNvCxnSpPr>
            <a:cxnSpLocks/>
            <a:stCxn id="47" idx="1"/>
          </p:cNvCxnSpPr>
          <p:nvPr/>
        </p:nvCxnSpPr>
        <p:spPr>
          <a:xfrm flipH="1">
            <a:off x="3429000" y="2734445"/>
            <a:ext cx="466347" cy="199589"/>
          </a:xfrm>
          <a:prstGeom prst="line">
            <a:avLst/>
          </a:prstGeom>
          <a:ln w="19050">
            <a:solidFill>
              <a:srgbClr val="039CE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390F9BF-BA42-C737-27C9-BC326541139D}"/>
              </a:ext>
            </a:extLst>
          </p:cNvPr>
          <p:cNvCxnSpPr>
            <a:cxnSpLocks/>
            <a:stCxn id="49" idx="0"/>
          </p:cNvCxnSpPr>
          <p:nvPr/>
        </p:nvCxnSpPr>
        <p:spPr>
          <a:xfrm flipV="1">
            <a:off x="6304767" y="1790700"/>
            <a:ext cx="0" cy="333092"/>
          </a:xfrm>
          <a:prstGeom prst="line">
            <a:avLst/>
          </a:prstGeom>
          <a:ln w="19050">
            <a:solidFill>
              <a:srgbClr val="039CE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90F9748-2898-E19B-38FB-2766AFCC058A}"/>
              </a:ext>
            </a:extLst>
          </p:cNvPr>
          <p:cNvCxnSpPr>
            <a:cxnSpLocks/>
            <a:endCxn id="51" idx="3"/>
          </p:cNvCxnSpPr>
          <p:nvPr/>
        </p:nvCxnSpPr>
        <p:spPr>
          <a:xfrm flipH="1" flipV="1">
            <a:off x="9045018" y="2651477"/>
            <a:ext cx="365682" cy="220905"/>
          </a:xfrm>
          <a:prstGeom prst="line">
            <a:avLst/>
          </a:prstGeom>
          <a:ln w="19050">
            <a:solidFill>
              <a:srgbClr val="039CE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7C3D7AB-A1AE-00C8-E053-84A90E639673}"/>
              </a:ext>
            </a:extLst>
          </p:cNvPr>
          <p:cNvCxnSpPr>
            <a:cxnSpLocks/>
            <a:endCxn id="53" idx="0"/>
          </p:cNvCxnSpPr>
          <p:nvPr/>
        </p:nvCxnSpPr>
        <p:spPr>
          <a:xfrm>
            <a:off x="7244365" y="4972050"/>
            <a:ext cx="0" cy="174021"/>
          </a:xfrm>
          <a:prstGeom prst="line">
            <a:avLst/>
          </a:prstGeom>
          <a:ln w="19050">
            <a:solidFill>
              <a:srgbClr val="039CE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044CB56-8C90-7007-BC98-412004B1B101}"/>
              </a:ext>
            </a:extLst>
          </p:cNvPr>
          <p:cNvCxnSpPr>
            <a:cxnSpLocks/>
            <a:endCxn id="55" idx="0"/>
          </p:cNvCxnSpPr>
          <p:nvPr/>
        </p:nvCxnSpPr>
        <p:spPr>
          <a:xfrm flipH="1">
            <a:off x="3990414" y="5448300"/>
            <a:ext cx="628959" cy="395649"/>
          </a:xfrm>
          <a:prstGeom prst="line">
            <a:avLst/>
          </a:prstGeom>
          <a:ln w="19050">
            <a:solidFill>
              <a:srgbClr val="039CE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4631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mph" presetSubtype="0" fill="hold" nodeType="clickEffect">
                                  <p:stCondLst>
                                    <p:cond delay="0"/>
                                  </p:stCondLst>
                                  <p:childTnLst>
                                    <p:animScale>
                                      <p:cBhvr>
                                        <p:cTn id="11" dur="1000" fill="hold"/>
                                        <p:tgtEl>
                                          <p:spTgt spid="11"/>
                                        </p:tgtEl>
                                      </p:cBhvr>
                                      <p:by x="150000" y="150000"/>
                                    </p:animScale>
                                  </p:childTnLst>
                                </p:cTn>
                              </p:par>
                            </p:childTnLst>
                          </p:cTn>
                        </p:par>
                      </p:childTnLst>
                    </p:cTn>
                  </p:par>
                  <p:par>
                    <p:cTn id="12" fill="hold">
                      <p:stCondLst>
                        <p:cond delay="indefinite"/>
                      </p:stCondLst>
                      <p:childTnLst>
                        <p:par>
                          <p:cTn id="13" fill="hold">
                            <p:stCondLst>
                              <p:cond delay="0"/>
                            </p:stCondLst>
                            <p:childTnLst>
                              <p:par>
                                <p:cTn id="14" presetID="6" presetClass="emph" presetSubtype="0" fill="hold" nodeType="clickEffect">
                                  <p:stCondLst>
                                    <p:cond delay="0"/>
                                  </p:stCondLst>
                                  <p:childTnLst>
                                    <p:animScale>
                                      <p:cBhvr>
                                        <p:cTn id="15" dur="1000" fill="hold"/>
                                        <p:tgtEl>
                                          <p:spTgt spid="13"/>
                                        </p:tgtEl>
                                      </p:cBhvr>
                                      <p:by x="150000" y="150000"/>
                                    </p:animScale>
                                  </p:childTnLst>
                                </p:cTn>
                              </p:par>
                              <p:par>
                                <p:cTn id="16" presetID="6" presetClass="emph" presetSubtype="0" fill="hold" nodeType="withEffect">
                                  <p:stCondLst>
                                    <p:cond delay="0"/>
                                  </p:stCondLst>
                                  <p:childTnLst>
                                    <p:animScale>
                                      <p:cBhvr>
                                        <p:cTn id="17" dur="1000" fill="hold"/>
                                        <p:tgtEl>
                                          <p:spTgt spid="11"/>
                                        </p:tgtEl>
                                      </p:cBhvr>
                                      <p:by x="66000" y="66000"/>
                                    </p:animScale>
                                  </p:childTnLst>
                                </p:cTn>
                              </p:par>
                            </p:childTnLst>
                          </p:cTn>
                        </p:par>
                      </p:childTnLst>
                    </p:cTn>
                  </p:par>
                  <p:par>
                    <p:cTn id="18" fill="hold">
                      <p:stCondLst>
                        <p:cond delay="indefinite"/>
                      </p:stCondLst>
                      <p:childTnLst>
                        <p:par>
                          <p:cTn id="19" fill="hold">
                            <p:stCondLst>
                              <p:cond delay="0"/>
                            </p:stCondLst>
                            <p:childTnLst>
                              <p:par>
                                <p:cTn id="20" presetID="6" presetClass="emph" presetSubtype="0" fill="hold" nodeType="clickEffect">
                                  <p:stCondLst>
                                    <p:cond delay="0"/>
                                  </p:stCondLst>
                                  <p:childTnLst>
                                    <p:animScale>
                                      <p:cBhvr>
                                        <p:cTn id="21" dur="1000" fill="hold"/>
                                        <p:tgtEl>
                                          <p:spTgt spid="15"/>
                                        </p:tgtEl>
                                      </p:cBhvr>
                                      <p:by x="150000" y="150000"/>
                                    </p:animScale>
                                  </p:childTnLst>
                                </p:cTn>
                              </p:par>
                              <p:par>
                                <p:cTn id="22" presetID="6" presetClass="emph" presetSubtype="0" fill="hold" nodeType="withEffect">
                                  <p:stCondLst>
                                    <p:cond delay="0"/>
                                  </p:stCondLst>
                                  <p:childTnLst>
                                    <p:animScale>
                                      <p:cBhvr>
                                        <p:cTn id="23" dur="1000" fill="hold"/>
                                        <p:tgtEl>
                                          <p:spTgt spid="13"/>
                                        </p:tgtEl>
                                      </p:cBhvr>
                                      <p:by x="66000" y="66000"/>
                                    </p:animScale>
                                  </p:childTnLst>
                                </p:cTn>
                              </p:par>
                            </p:childTnLst>
                          </p:cTn>
                        </p:par>
                      </p:childTnLst>
                    </p:cTn>
                  </p:par>
                  <p:par>
                    <p:cTn id="24" fill="hold">
                      <p:stCondLst>
                        <p:cond delay="indefinite"/>
                      </p:stCondLst>
                      <p:childTnLst>
                        <p:par>
                          <p:cTn id="25" fill="hold">
                            <p:stCondLst>
                              <p:cond delay="0"/>
                            </p:stCondLst>
                            <p:childTnLst>
                              <p:par>
                                <p:cTn id="26" presetID="6" presetClass="emph" presetSubtype="0" fill="hold" nodeType="clickEffect">
                                  <p:stCondLst>
                                    <p:cond delay="0"/>
                                  </p:stCondLst>
                                  <p:childTnLst>
                                    <p:animScale>
                                      <p:cBhvr>
                                        <p:cTn id="27" dur="1000" fill="hold"/>
                                        <p:tgtEl>
                                          <p:spTgt spid="17"/>
                                        </p:tgtEl>
                                      </p:cBhvr>
                                      <p:by x="150000" y="150000"/>
                                    </p:animScale>
                                  </p:childTnLst>
                                </p:cTn>
                              </p:par>
                              <p:par>
                                <p:cTn id="28" presetID="6" presetClass="emph" presetSubtype="0" fill="hold" nodeType="withEffect">
                                  <p:stCondLst>
                                    <p:cond delay="0"/>
                                  </p:stCondLst>
                                  <p:childTnLst>
                                    <p:animScale>
                                      <p:cBhvr>
                                        <p:cTn id="29" dur="1000" fill="hold"/>
                                        <p:tgtEl>
                                          <p:spTgt spid="15"/>
                                        </p:tgtEl>
                                      </p:cBhvr>
                                      <p:by x="66000" y="66000"/>
                                    </p:animScale>
                                  </p:childTnLst>
                                </p:cTn>
                              </p:par>
                            </p:childTnLst>
                          </p:cTn>
                        </p:par>
                      </p:childTnLst>
                    </p:cTn>
                  </p:par>
                  <p:par>
                    <p:cTn id="30" fill="hold">
                      <p:stCondLst>
                        <p:cond delay="indefinite"/>
                      </p:stCondLst>
                      <p:childTnLst>
                        <p:par>
                          <p:cTn id="31" fill="hold">
                            <p:stCondLst>
                              <p:cond delay="0"/>
                            </p:stCondLst>
                            <p:childTnLst>
                              <p:par>
                                <p:cTn id="32" presetID="6" presetClass="emph" presetSubtype="0" fill="hold" nodeType="clickEffect">
                                  <p:stCondLst>
                                    <p:cond delay="0"/>
                                  </p:stCondLst>
                                  <p:childTnLst>
                                    <p:animScale>
                                      <p:cBhvr>
                                        <p:cTn id="33" dur="1000" fill="hold"/>
                                        <p:tgtEl>
                                          <p:spTgt spid="19"/>
                                        </p:tgtEl>
                                      </p:cBhvr>
                                      <p:by x="150000" y="150000"/>
                                    </p:animScale>
                                  </p:childTnLst>
                                </p:cTn>
                              </p:par>
                              <p:par>
                                <p:cTn id="34" presetID="6" presetClass="emph" presetSubtype="0" fill="hold" nodeType="withEffect">
                                  <p:stCondLst>
                                    <p:cond delay="0"/>
                                  </p:stCondLst>
                                  <p:childTnLst>
                                    <p:animScale>
                                      <p:cBhvr>
                                        <p:cTn id="35" dur="1000" fill="hold"/>
                                        <p:tgtEl>
                                          <p:spTgt spid="17"/>
                                        </p:tgtEl>
                                      </p:cBhvr>
                                      <p:by x="66000" y="66000"/>
                                    </p:animScale>
                                  </p:childTnLst>
                                </p:cTn>
                              </p:par>
                            </p:childTnLst>
                          </p:cTn>
                        </p:par>
                      </p:childTnLst>
                    </p:cTn>
                  </p:par>
                  <p:par>
                    <p:cTn id="36" fill="hold">
                      <p:stCondLst>
                        <p:cond delay="indefinite"/>
                      </p:stCondLst>
                      <p:childTnLst>
                        <p:par>
                          <p:cTn id="37" fill="hold">
                            <p:stCondLst>
                              <p:cond delay="0"/>
                            </p:stCondLst>
                            <p:childTnLst>
                              <p:par>
                                <p:cTn id="38" presetID="6" presetClass="emph" presetSubtype="0" fill="hold" nodeType="clickEffect">
                                  <p:stCondLst>
                                    <p:cond delay="0"/>
                                  </p:stCondLst>
                                  <p:childTnLst>
                                    <p:animScale>
                                      <p:cBhvr>
                                        <p:cTn id="39" dur="1000" fill="hold"/>
                                        <p:tgtEl>
                                          <p:spTgt spid="19"/>
                                        </p:tgtEl>
                                      </p:cBhvr>
                                      <p:by x="66000" y="66000"/>
                                    </p:animScale>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childTnLst>
                                </p:cTn>
                              </p:par>
                              <p:par>
                                <p:cTn id="45" presetID="10" presetClass="entr" presetSubtype="0" fill="hold" nodeType="withEffect">
                                  <p:stCondLst>
                                    <p:cond delay="0"/>
                                  </p:stCondLst>
                                  <p:childTnLst>
                                    <p:set>
                                      <p:cBhvr>
                                        <p:cTn id="46" dur="1" fill="hold">
                                          <p:stCondLst>
                                            <p:cond delay="0"/>
                                          </p:stCondLst>
                                        </p:cTn>
                                        <p:tgtEl>
                                          <p:spTgt spid="57"/>
                                        </p:tgtEl>
                                        <p:attrNameLst>
                                          <p:attrName>style.visibility</p:attrName>
                                        </p:attrNameLst>
                                      </p:cBhvr>
                                      <p:to>
                                        <p:strVal val="visible"/>
                                      </p:to>
                                    </p:set>
                                    <p:animEffect transition="in" filter="fade">
                                      <p:cBhvr>
                                        <p:cTn id="47" dur="500"/>
                                        <p:tgtEl>
                                          <p:spTgt spid="5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fade">
                                      <p:cBhvr>
                                        <p:cTn id="50" dur="500"/>
                                        <p:tgtEl>
                                          <p:spTgt spid="47"/>
                                        </p:tgtEl>
                                      </p:cBhvr>
                                    </p:animEffect>
                                  </p:childTnLst>
                                </p:cTn>
                              </p:par>
                              <p:par>
                                <p:cTn id="51" presetID="10"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500"/>
                                        <p:tgtEl>
                                          <p:spTgt spid="2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fade">
                                      <p:cBhvr>
                                        <p:cTn id="56" dur="500"/>
                                        <p:tgtEl>
                                          <p:spTgt spid="49"/>
                                        </p:tgtEl>
                                      </p:cBhvr>
                                    </p:animEffect>
                                  </p:childTnLst>
                                </p:cTn>
                              </p:par>
                              <p:par>
                                <p:cTn id="57" presetID="10" presetClass="entr" presetSubtype="0" fill="hold" nodeType="withEffect">
                                  <p:stCondLst>
                                    <p:cond delay="0"/>
                                  </p:stCondLst>
                                  <p:childTnLst>
                                    <p:set>
                                      <p:cBhvr>
                                        <p:cTn id="58" dur="1" fill="hold">
                                          <p:stCondLst>
                                            <p:cond delay="0"/>
                                          </p:stCondLst>
                                        </p:cTn>
                                        <p:tgtEl>
                                          <p:spTgt spid="61"/>
                                        </p:tgtEl>
                                        <p:attrNameLst>
                                          <p:attrName>style.visibility</p:attrName>
                                        </p:attrNameLst>
                                      </p:cBhvr>
                                      <p:to>
                                        <p:strVal val="visible"/>
                                      </p:to>
                                    </p:set>
                                    <p:animEffect transition="in" filter="fade">
                                      <p:cBhvr>
                                        <p:cTn id="59" dur="500"/>
                                        <p:tgtEl>
                                          <p:spTgt spid="6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1"/>
                                        </p:tgtEl>
                                        <p:attrNameLst>
                                          <p:attrName>style.visibility</p:attrName>
                                        </p:attrNameLst>
                                      </p:cBhvr>
                                      <p:to>
                                        <p:strVal val="visible"/>
                                      </p:to>
                                    </p:set>
                                    <p:animEffect transition="in" filter="fade">
                                      <p:cBhvr>
                                        <p:cTn id="62" dur="500"/>
                                        <p:tgtEl>
                                          <p:spTgt spid="51"/>
                                        </p:tgtEl>
                                      </p:cBhvr>
                                    </p:animEffect>
                                  </p:childTnLst>
                                </p:cTn>
                              </p:par>
                              <p:par>
                                <p:cTn id="63" presetID="10" presetClass="entr" presetSubtype="0" fill="hold" nodeType="with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500"/>
                                        <p:tgtEl>
                                          <p:spTgt spid="36"/>
                                        </p:tgtEl>
                                      </p:cBhvr>
                                    </p:animEffect>
                                  </p:childTnLst>
                                </p:cTn>
                              </p:par>
                              <p:par>
                                <p:cTn id="66" presetID="10" presetClass="entr" presetSubtype="0" fill="hold" nodeType="withEffect">
                                  <p:stCondLst>
                                    <p:cond delay="0"/>
                                  </p:stCondLst>
                                  <p:childTnLst>
                                    <p:set>
                                      <p:cBhvr>
                                        <p:cTn id="67" dur="1" fill="hold">
                                          <p:stCondLst>
                                            <p:cond delay="0"/>
                                          </p:stCondLst>
                                        </p:cTn>
                                        <p:tgtEl>
                                          <p:spTgt spid="66"/>
                                        </p:tgtEl>
                                        <p:attrNameLst>
                                          <p:attrName>style.visibility</p:attrName>
                                        </p:attrNameLst>
                                      </p:cBhvr>
                                      <p:to>
                                        <p:strVal val="visible"/>
                                      </p:to>
                                    </p:set>
                                    <p:animEffect transition="in" filter="fade">
                                      <p:cBhvr>
                                        <p:cTn id="68" dur="500"/>
                                        <p:tgtEl>
                                          <p:spTgt spid="66"/>
                                        </p:tgtEl>
                                      </p:cBhvr>
                                    </p:animEffect>
                                  </p:childTnLst>
                                </p:cTn>
                              </p:par>
                              <p:par>
                                <p:cTn id="69" presetID="10" presetClass="entr" presetSubtype="0" fill="hold"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5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53"/>
                                        </p:tgtEl>
                                        <p:attrNameLst>
                                          <p:attrName>style.visibility</p:attrName>
                                        </p:attrNameLst>
                                      </p:cBhvr>
                                      <p:to>
                                        <p:strVal val="visible"/>
                                      </p:to>
                                    </p:set>
                                    <p:animEffect transition="in" filter="fade">
                                      <p:cBhvr>
                                        <p:cTn id="74" dur="500"/>
                                        <p:tgtEl>
                                          <p:spTgt spid="53"/>
                                        </p:tgtEl>
                                      </p:cBhvr>
                                    </p:animEffect>
                                  </p:childTnLst>
                                </p:cTn>
                              </p:par>
                              <p:par>
                                <p:cTn id="75" presetID="10" presetClass="entr" presetSubtype="0" fill="hold" nodeType="with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fade">
                                      <p:cBhvr>
                                        <p:cTn id="77" dur="500"/>
                                        <p:tgtEl>
                                          <p:spTgt spid="39"/>
                                        </p:tgtEl>
                                      </p:cBhvr>
                                    </p:animEffect>
                                  </p:childTnLst>
                                </p:cTn>
                              </p:par>
                              <p:par>
                                <p:cTn id="78" presetID="10" presetClass="entr" presetSubtype="0" fill="hold" nodeType="withEffect">
                                  <p:stCondLst>
                                    <p:cond delay="0"/>
                                  </p:stCondLst>
                                  <p:childTnLst>
                                    <p:set>
                                      <p:cBhvr>
                                        <p:cTn id="79" dur="1" fill="hold">
                                          <p:stCondLst>
                                            <p:cond delay="0"/>
                                          </p:stCondLst>
                                        </p:cTn>
                                        <p:tgtEl>
                                          <p:spTgt spid="69"/>
                                        </p:tgtEl>
                                        <p:attrNameLst>
                                          <p:attrName>style.visibility</p:attrName>
                                        </p:attrNameLst>
                                      </p:cBhvr>
                                      <p:to>
                                        <p:strVal val="visible"/>
                                      </p:to>
                                    </p:set>
                                    <p:animEffect transition="in" filter="fade">
                                      <p:cBhvr>
                                        <p:cTn id="80" dur="500"/>
                                        <p:tgtEl>
                                          <p:spTgt spid="69"/>
                                        </p:tgtEl>
                                      </p:cBhvr>
                                    </p:animEffect>
                                  </p:childTnLst>
                                </p:cTn>
                              </p:par>
                              <p:par>
                                <p:cTn id="81" presetID="10" presetClass="entr" presetSubtype="0" fill="hold" nodeType="withEffect">
                                  <p:stCondLst>
                                    <p:cond delay="0"/>
                                  </p:stCondLst>
                                  <p:childTnLst>
                                    <p:set>
                                      <p:cBhvr>
                                        <p:cTn id="82" dur="1" fill="hold">
                                          <p:stCondLst>
                                            <p:cond delay="0"/>
                                          </p:stCondLst>
                                        </p:cTn>
                                        <p:tgtEl>
                                          <p:spTgt spid="72"/>
                                        </p:tgtEl>
                                        <p:attrNameLst>
                                          <p:attrName>style.visibility</p:attrName>
                                        </p:attrNameLst>
                                      </p:cBhvr>
                                      <p:to>
                                        <p:strVal val="visible"/>
                                      </p:to>
                                    </p:set>
                                    <p:animEffect transition="in" filter="fade">
                                      <p:cBhvr>
                                        <p:cTn id="83" dur="500"/>
                                        <p:tgtEl>
                                          <p:spTgt spid="7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5"/>
                                        </p:tgtEl>
                                        <p:attrNameLst>
                                          <p:attrName>style.visibility</p:attrName>
                                        </p:attrNameLst>
                                      </p:cBhvr>
                                      <p:to>
                                        <p:strVal val="visible"/>
                                      </p:to>
                                    </p:set>
                                    <p:animEffect transition="in" filter="fade">
                                      <p:cBhvr>
                                        <p:cTn id="86"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7" grpId="0"/>
      <p:bldP spid="49" grpId="0"/>
      <p:bldP spid="51" grpId="0"/>
      <p:bldP spid="53" grpId="0"/>
      <p:bldP spid="55" grpId="0"/>
    </p:bldLst>
  </p:timing>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AA08BD-09CE-16F6-3F27-5A9C4CC4A901}"/>
              </a:ext>
            </a:extLst>
          </p:cNvPr>
          <p:cNvSpPr>
            <a:spLocks noGrp="1"/>
          </p:cNvSpPr>
          <p:nvPr>
            <p:ph type="sldNum" sz="quarter" idx="11"/>
          </p:nvPr>
        </p:nvSpPr>
        <p:spPr>
          <a:xfrm>
            <a:off x="154943" y="6296643"/>
            <a:ext cx="365760" cy="182880"/>
          </a:xfrm>
        </p:spPr>
        <p:txBody>
          <a:bodyPr/>
          <a:lstStyle/>
          <a:p>
            <a:r>
              <a:rPr lang="en-US"/>
              <a:t>15</a:t>
            </a:r>
          </a:p>
        </p:txBody>
      </p:sp>
      <p:sp>
        <p:nvSpPr>
          <p:cNvPr id="6" name="Footer Placeholder 4">
            <a:extLst>
              <a:ext uri="{FF2B5EF4-FFF2-40B4-BE49-F238E27FC236}">
                <a16:creationId xmlns:a16="http://schemas.microsoft.com/office/drawing/2014/main" id="{68638C75-7ED9-0C60-9B95-55AA08D406C3}"/>
              </a:ext>
            </a:extLst>
          </p:cNvPr>
          <p:cNvSpPr>
            <a:spLocks noGrp="1"/>
          </p:cNvSpPr>
          <p:nvPr>
            <p:ph type="ftr" sz="quarter" idx="12"/>
          </p:nvPr>
        </p:nvSpPr>
        <p:spPr>
          <a:xfrm rot="16200000">
            <a:off x="-979231" y="1471261"/>
            <a:ext cx="2631698" cy="182880"/>
          </a:xfrm>
        </p:spPr>
        <p:txBody>
          <a:bodyPr/>
          <a:lstStyle/>
          <a:p>
            <a:r>
              <a:rPr lang="en-US"/>
              <a:t>CREATE YOUR OWN RPG</a:t>
            </a:r>
          </a:p>
        </p:txBody>
      </p:sp>
      <p:sp>
        <p:nvSpPr>
          <p:cNvPr id="2" name="Title 1">
            <a:extLst>
              <a:ext uri="{FF2B5EF4-FFF2-40B4-BE49-F238E27FC236}">
                <a16:creationId xmlns:a16="http://schemas.microsoft.com/office/drawing/2014/main" id="{2BE808A1-EB1B-4C17-17A1-7FD464DE3B1F}"/>
              </a:ext>
            </a:extLst>
          </p:cNvPr>
          <p:cNvSpPr>
            <a:spLocks noGrp="1"/>
          </p:cNvSpPr>
          <p:nvPr>
            <p:ph type="title"/>
          </p:nvPr>
        </p:nvSpPr>
        <p:spPr>
          <a:xfrm>
            <a:off x="1066800" y="191101"/>
            <a:ext cx="10058400" cy="1371600"/>
          </a:xfrm>
        </p:spPr>
        <p:txBody>
          <a:bodyPr/>
          <a:lstStyle/>
          <a:p>
            <a:r>
              <a:rPr lang="en-US"/>
              <a:t>What to do with your game</a:t>
            </a:r>
          </a:p>
        </p:txBody>
      </p:sp>
      <p:sp>
        <p:nvSpPr>
          <p:cNvPr id="3" name="Content Placeholder 2">
            <a:extLst>
              <a:ext uri="{FF2B5EF4-FFF2-40B4-BE49-F238E27FC236}">
                <a16:creationId xmlns:a16="http://schemas.microsoft.com/office/drawing/2014/main" id="{6236B508-9F92-D2C9-E6C6-0FCDE5BEF18D}"/>
              </a:ext>
            </a:extLst>
          </p:cNvPr>
          <p:cNvSpPr>
            <a:spLocks noGrp="1"/>
          </p:cNvSpPr>
          <p:nvPr>
            <p:ph idx="4294967295"/>
          </p:nvPr>
        </p:nvSpPr>
        <p:spPr>
          <a:xfrm>
            <a:off x="1066800" y="1099254"/>
            <a:ext cx="10058393" cy="4507932"/>
          </a:xfrm>
        </p:spPr>
        <p:txBody>
          <a:bodyPr vert="horz" lIns="0" tIns="0" rIns="0" bIns="0" rtlCol="0" anchor="t">
            <a:noAutofit/>
          </a:bodyPr>
          <a:lstStyle/>
          <a:p>
            <a:pPr marL="0" indent="0">
              <a:buNone/>
            </a:pPr>
            <a:r>
              <a:rPr lang="en-US" sz="3200">
                <a:latin typeface="Aptos" panose="020B0004020202020204" pitchFamily="34" charset="0"/>
              </a:rPr>
              <a:t>Playtesting</a:t>
            </a:r>
          </a:p>
          <a:p>
            <a:r>
              <a:rPr lang="en-US" sz="3200">
                <a:latin typeface="Aptos" panose="020B0004020202020204" pitchFamily="34" charset="0"/>
              </a:rPr>
              <a:t>Observe silently (without playing)</a:t>
            </a:r>
          </a:p>
          <a:p>
            <a:r>
              <a:rPr lang="en-US" sz="3200">
                <a:latin typeface="Aptos" panose="020B0004020202020204" pitchFamily="34" charset="0"/>
              </a:rPr>
              <a:t>Ask them to think out loud</a:t>
            </a:r>
          </a:p>
          <a:p>
            <a:r>
              <a:rPr lang="en-US" sz="3200">
                <a:latin typeface="Aptos" panose="020B0004020202020204" pitchFamily="34" charset="0"/>
              </a:rPr>
              <a:t>Everything’s up to interpretation</a:t>
            </a:r>
          </a:p>
          <a:p>
            <a:pPr marL="0" indent="0">
              <a:buNone/>
            </a:pPr>
            <a:endParaRPr lang="en-US" sz="3200">
              <a:latin typeface="Aptos" panose="020B0004020202020204" pitchFamily="34" charset="0"/>
            </a:endParaRPr>
          </a:p>
          <a:p>
            <a:pPr marL="0" indent="0">
              <a:buNone/>
            </a:pPr>
            <a:r>
              <a:rPr lang="en-US" sz="3200">
                <a:latin typeface="Aptos" panose="020B0004020202020204" pitchFamily="34" charset="0"/>
              </a:rPr>
              <a:t>Publishing </a:t>
            </a:r>
          </a:p>
          <a:p>
            <a:r>
              <a:rPr lang="en-US" sz="3200">
                <a:latin typeface="Aptos" panose="020B0004020202020204" pitchFamily="34" charset="0"/>
              </a:rPr>
              <a:t>DMs Guild, </a:t>
            </a:r>
            <a:r>
              <a:rPr lang="en-US" sz="3200" err="1">
                <a:latin typeface="Aptos" panose="020B0004020202020204" pitchFamily="34" charset="0"/>
              </a:rPr>
              <a:t>DrivethruRPG</a:t>
            </a:r>
            <a:r>
              <a:rPr lang="en-US" sz="3200">
                <a:latin typeface="Aptos" panose="020B0004020202020204" pitchFamily="34" charset="0"/>
              </a:rPr>
              <a:t>, Roll20</a:t>
            </a:r>
          </a:p>
          <a:p>
            <a:r>
              <a:rPr lang="en-US" sz="3200">
                <a:latin typeface="Aptos" panose="020B0004020202020204" pitchFamily="34" charset="0"/>
              </a:rPr>
              <a:t>Itch.io</a:t>
            </a:r>
          </a:p>
          <a:p>
            <a:r>
              <a:rPr lang="en-US" sz="3200">
                <a:latin typeface="Aptos" panose="020B0004020202020204" pitchFamily="34" charset="0"/>
              </a:rPr>
              <a:t>GitHub, your own personal website</a:t>
            </a:r>
          </a:p>
          <a:p>
            <a:r>
              <a:rPr lang="en-US" sz="3200">
                <a:latin typeface="Aptos" panose="020B0004020202020204" pitchFamily="34" charset="0"/>
              </a:rPr>
              <a:t>Local game and book shops</a:t>
            </a:r>
          </a:p>
        </p:txBody>
      </p:sp>
      <p:pic>
        <p:nvPicPr>
          <p:cNvPr id="8" name="Picture 7">
            <a:extLst>
              <a:ext uri="{FF2B5EF4-FFF2-40B4-BE49-F238E27FC236}">
                <a16:creationId xmlns:a16="http://schemas.microsoft.com/office/drawing/2014/main" id="{DF41DA89-0CC3-B998-1E4F-EA09A4977EF6}"/>
              </a:ext>
            </a:extLst>
          </p:cNvPr>
          <p:cNvPicPr>
            <a:picLocks noChangeAspect="1"/>
          </p:cNvPicPr>
          <p:nvPr/>
        </p:nvPicPr>
        <p:blipFill>
          <a:blip r:embed="rId4"/>
          <a:stretch>
            <a:fillRect/>
          </a:stretch>
        </p:blipFill>
        <p:spPr>
          <a:xfrm>
            <a:off x="9398000" y="2878550"/>
            <a:ext cx="3079405" cy="4425299"/>
          </a:xfrm>
          <a:prstGeom prst="rect">
            <a:avLst/>
          </a:prstGeom>
        </p:spPr>
      </p:pic>
      <p:pic>
        <p:nvPicPr>
          <p:cNvPr id="9" name="Picture 8">
            <a:extLst>
              <a:ext uri="{FF2B5EF4-FFF2-40B4-BE49-F238E27FC236}">
                <a16:creationId xmlns:a16="http://schemas.microsoft.com/office/drawing/2014/main" id="{A4952451-D8E3-DF07-53A0-CE54F49C6D48}"/>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40000" contrast="-40000"/>
                    </a14:imgEffect>
                  </a14:imgLayer>
                </a14:imgProps>
              </a:ext>
            </a:extLst>
          </a:blip>
          <a:stretch>
            <a:fillRect/>
          </a:stretch>
        </p:blipFill>
        <p:spPr>
          <a:xfrm>
            <a:off x="6712688" y="580963"/>
            <a:ext cx="4300319" cy="4023772"/>
          </a:xfrm>
          <a:prstGeom prst="rect">
            <a:avLst/>
          </a:prstGeom>
        </p:spPr>
      </p:pic>
    </p:spTree>
    <p:extLst>
      <p:ext uri="{BB962C8B-B14F-4D97-AF65-F5344CB8AC3E}">
        <p14:creationId xmlns:p14="http://schemas.microsoft.com/office/powerpoint/2010/main" val="1529452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23" presetClass="entr" presetSubtype="16"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53" presetClass="entr" presetSubtype="16"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49CC-39AB-9C37-445B-852450D449F0}"/>
              </a:ext>
            </a:extLst>
          </p:cNvPr>
          <p:cNvSpPr>
            <a:spLocks noGrp="1"/>
          </p:cNvSpPr>
          <p:nvPr>
            <p:ph type="title"/>
          </p:nvPr>
        </p:nvSpPr>
        <p:spPr>
          <a:xfrm>
            <a:off x="-221882" y="437919"/>
            <a:ext cx="12217399" cy="978293"/>
          </a:xfrm>
        </p:spPr>
        <p:txBody>
          <a:bodyPr/>
          <a:lstStyle/>
          <a:p>
            <a:pPr>
              <a:lnSpc>
                <a:spcPct val="150571"/>
              </a:lnSpc>
            </a:pPr>
            <a:r>
              <a:rPr lang="en-US"/>
              <a:t>Thanks | Q&amp;A</a:t>
            </a:r>
          </a:p>
        </p:txBody>
      </p:sp>
      <p:sp>
        <p:nvSpPr>
          <p:cNvPr id="4" name="TextBox 3">
            <a:extLst>
              <a:ext uri="{FF2B5EF4-FFF2-40B4-BE49-F238E27FC236}">
                <a16:creationId xmlns:a16="http://schemas.microsoft.com/office/drawing/2014/main" id="{1599F361-5613-88E3-58EF-AC9C542BCD9B}"/>
              </a:ext>
            </a:extLst>
          </p:cNvPr>
          <p:cNvSpPr txBox="1"/>
          <p:nvPr/>
        </p:nvSpPr>
        <p:spPr>
          <a:xfrm>
            <a:off x="740400" y="1482422"/>
            <a:ext cx="9100830" cy="400110"/>
          </a:xfrm>
          <a:prstGeom prst="rect">
            <a:avLst/>
          </a:prstGeom>
          <a:noFill/>
        </p:spPr>
        <p:txBody>
          <a:bodyPr wrap="square">
            <a:spAutoFit/>
          </a:bodyPr>
          <a:lstStyle/>
          <a:p>
            <a:r>
              <a:rPr lang="en-US" sz="2000" i="0">
                <a:solidFill>
                  <a:srgbClr val="002060"/>
                </a:solidFill>
                <a:effectLst/>
                <a:latin typeface="Aptos" panose="020B0004020202020204" pitchFamily="34" charset="0"/>
              </a:rPr>
              <a:t>Download slides here: </a:t>
            </a:r>
            <a:r>
              <a:rPr lang="en-US" sz="2000" i="1" u="sng">
                <a:latin typeface="Aptos" panose="020B0004020202020204" pitchFamily="34" charset="0"/>
              </a:rPr>
              <a:t>tinyurl.com/</a:t>
            </a:r>
            <a:r>
              <a:rPr lang="en-US" sz="2000" i="1" u="sng" err="1">
                <a:latin typeface="Aptos" panose="020B0004020202020204" pitchFamily="34" charset="0"/>
              </a:rPr>
              <a:t>CreateYourOwnOnePageRPG</a:t>
            </a:r>
            <a:endParaRPr lang="en-US" sz="2000" u="sng">
              <a:solidFill>
                <a:srgbClr val="002060"/>
              </a:solidFill>
              <a:latin typeface="Aptos" panose="020B0004020202020204" pitchFamily="34" charset="0"/>
            </a:endParaRPr>
          </a:p>
        </p:txBody>
      </p:sp>
      <p:graphicFrame>
        <p:nvGraphicFramePr>
          <p:cNvPr id="8" name="Table 7">
            <a:extLst>
              <a:ext uri="{FF2B5EF4-FFF2-40B4-BE49-F238E27FC236}">
                <a16:creationId xmlns:a16="http://schemas.microsoft.com/office/drawing/2014/main" id="{0345813E-DB95-800C-0FB8-83D86C4D0ADB}"/>
              </a:ext>
            </a:extLst>
          </p:cNvPr>
          <p:cNvGraphicFramePr>
            <a:graphicFrameLocks noGrp="1"/>
          </p:cNvGraphicFramePr>
          <p:nvPr>
            <p:extLst>
              <p:ext uri="{D42A27DB-BD31-4B8C-83A1-F6EECF244321}">
                <p14:modId xmlns:p14="http://schemas.microsoft.com/office/powerpoint/2010/main" val="1661233923"/>
              </p:ext>
            </p:extLst>
          </p:nvPr>
        </p:nvGraphicFramePr>
        <p:xfrm>
          <a:off x="742123" y="1888224"/>
          <a:ext cx="11287125" cy="4419600"/>
        </p:xfrm>
        <a:graphic>
          <a:graphicData uri="http://schemas.openxmlformats.org/drawingml/2006/table">
            <a:tbl>
              <a:tblPr firstRow="1" bandRow="1">
                <a:tableStyleId>{C083E6E3-FA7D-4D7B-A595-EF9225AFEA82}</a:tableStyleId>
              </a:tblPr>
              <a:tblGrid>
                <a:gridCol w="2351951">
                  <a:extLst>
                    <a:ext uri="{9D8B030D-6E8A-4147-A177-3AD203B41FA5}">
                      <a16:colId xmlns:a16="http://schemas.microsoft.com/office/drawing/2014/main" val="3152517766"/>
                    </a:ext>
                  </a:extLst>
                </a:gridCol>
                <a:gridCol w="8935174">
                  <a:extLst>
                    <a:ext uri="{9D8B030D-6E8A-4147-A177-3AD203B41FA5}">
                      <a16:colId xmlns:a16="http://schemas.microsoft.com/office/drawing/2014/main" val="3190702462"/>
                    </a:ext>
                  </a:extLst>
                </a:gridCol>
              </a:tblGrid>
              <a:tr h="381000">
                <a:tc>
                  <a:txBody>
                    <a:bodyPr/>
                    <a:lstStyle/>
                    <a:p>
                      <a:pPr fontAlgn="base"/>
                      <a:r>
                        <a:rPr lang="en-US" sz="2000" b="1">
                          <a:solidFill>
                            <a:srgbClr val="002060"/>
                          </a:solidFill>
                          <a:effectLst/>
                          <a:latin typeface="Aptos" panose="020B0004020202020204" pitchFamily="34" charset="0"/>
                        </a:rPr>
                        <a:t>RPG from the talk</a:t>
                      </a:r>
                    </a:p>
                  </a:txBody>
                  <a:tcPr/>
                </a:tc>
                <a:tc>
                  <a:txBody>
                    <a:bodyPr/>
                    <a:lstStyle/>
                    <a:p>
                      <a:pPr fontAlgn="base"/>
                      <a:r>
                        <a:rPr lang="en-US" sz="2000" b="1">
                          <a:solidFill>
                            <a:srgbClr val="002060"/>
                          </a:solidFill>
                          <a:effectLst/>
                          <a:latin typeface="Aptos" panose="020B0004020202020204" pitchFamily="34" charset="0"/>
                        </a:rPr>
                        <a:t>Why it was mentioned</a:t>
                      </a:r>
                    </a:p>
                  </a:txBody>
                  <a:tcPr/>
                </a:tc>
                <a:extLst>
                  <a:ext uri="{0D108BD9-81ED-4DB2-BD59-A6C34878D82A}">
                    <a16:rowId xmlns:a16="http://schemas.microsoft.com/office/drawing/2014/main" val="2812722956"/>
                  </a:ext>
                </a:extLst>
              </a:tr>
              <a:tr h="314325">
                <a:tc>
                  <a:txBody>
                    <a:bodyPr/>
                    <a:lstStyle/>
                    <a:p>
                      <a:pPr fontAlgn="auto"/>
                      <a:r>
                        <a:rPr lang="en-US" sz="1800" u="sng" strike="noStrike">
                          <a:solidFill>
                            <a:srgbClr val="002060"/>
                          </a:solidFill>
                          <a:effectLst/>
                          <a:latin typeface="Aptos" panose="020B0004020202020204" pitchFamily="34" charset="0"/>
                          <a:hlinkClick r:id="rId3">
                            <a:extLst>
                              <a:ext uri="{A12FA001-AC4F-418D-AE19-62706E023703}">
                                <ahyp:hlinkClr xmlns:ahyp="http://schemas.microsoft.com/office/drawing/2018/hyperlinkcolor" val="tx"/>
                              </a:ext>
                            </a:extLst>
                          </a:hlinkClick>
                        </a:rPr>
                        <a:t>Dungeons &amp; Dragons</a:t>
                      </a:r>
                      <a:endParaRPr lang="en-US" sz="1800">
                        <a:solidFill>
                          <a:srgbClr val="002060"/>
                        </a:solidFill>
                        <a:effectLst/>
                        <a:latin typeface="Aptos" panose="020B0004020202020204" pitchFamily="34" charset="0"/>
                      </a:endParaRPr>
                    </a:p>
                  </a:txBody>
                  <a:tcPr/>
                </a:tc>
                <a:tc>
                  <a:txBody>
                    <a:bodyPr/>
                    <a:lstStyle/>
                    <a:p>
                      <a:pPr fontAlgn="base"/>
                      <a:r>
                        <a:rPr lang="en-US" sz="1800">
                          <a:solidFill>
                            <a:srgbClr val="002060"/>
                          </a:solidFill>
                          <a:effectLst/>
                          <a:latin typeface="Aptos" panose="020B0004020202020204" pitchFamily="34" charset="0"/>
                        </a:rPr>
                        <a:t>Common TTRPG people know; played in Stranger Things and Big Bang Theory </a:t>
                      </a:r>
                      <a:endParaRPr lang="en-US" sz="2000">
                        <a:solidFill>
                          <a:srgbClr val="002060"/>
                        </a:solidFill>
                        <a:effectLst/>
                        <a:latin typeface="Aptos" panose="020B0004020202020204" pitchFamily="34" charset="0"/>
                      </a:endParaRPr>
                    </a:p>
                  </a:txBody>
                  <a:tcPr/>
                </a:tc>
                <a:extLst>
                  <a:ext uri="{0D108BD9-81ED-4DB2-BD59-A6C34878D82A}">
                    <a16:rowId xmlns:a16="http://schemas.microsoft.com/office/drawing/2014/main" val="2080146351"/>
                  </a:ext>
                </a:extLst>
              </a:tr>
              <a:tr h="352425">
                <a:tc>
                  <a:txBody>
                    <a:bodyPr/>
                    <a:lstStyle/>
                    <a:p>
                      <a:pPr fontAlgn="auto"/>
                      <a:r>
                        <a:rPr lang="en-US" sz="1800" u="sng" strike="noStrike">
                          <a:solidFill>
                            <a:srgbClr val="002060"/>
                          </a:solidFill>
                          <a:effectLst/>
                          <a:latin typeface="Aptos" panose="020B0004020202020204" pitchFamily="34" charset="0"/>
                          <a:hlinkClick r:id="rId4">
                            <a:extLst>
                              <a:ext uri="{A12FA001-AC4F-418D-AE19-62706E023703}">
                                <ahyp:hlinkClr xmlns:ahyp="http://schemas.microsoft.com/office/drawing/2018/hyperlinkcolor" val="tx"/>
                              </a:ext>
                            </a:extLst>
                          </a:hlinkClick>
                        </a:rPr>
                        <a:t>Lasers &amp; Feelings</a:t>
                      </a:r>
                      <a:endParaRPr lang="en-US" sz="1800">
                        <a:solidFill>
                          <a:srgbClr val="002060"/>
                        </a:solidFill>
                        <a:effectLst/>
                        <a:latin typeface="Aptos" panose="020B0004020202020204" pitchFamily="34" charset="0"/>
                      </a:endParaRPr>
                    </a:p>
                  </a:txBody>
                  <a:tcPr/>
                </a:tc>
                <a:tc>
                  <a:txBody>
                    <a:bodyPr/>
                    <a:lstStyle/>
                    <a:p>
                      <a:pPr fontAlgn="base"/>
                      <a:r>
                        <a:rPr lang="en-US" sz="1800">
                          <a:solidFill>
                            <a:srgbClr val="002060"/>
                          </a:solidFill>
                          <a:effectLst/>
                          <a:latin typeface="Aptos" panose="020B0004020202020204" pitchFamily="34" charset="0"/>
                        </a:rPr>
                        <a:t>Well designed one-page RPG</a:t>
                      </a:r>
                      <a:endParaRPr lang="en-US" sz="2000">
                        <a:solidFill>
                          <a:srgbClr val="002060"/>
                        </a:solidFill>
                        <a:effectLst/>
                        <a:latin typeface="Aptos" panose="020B0004020202020204" pitchFamily="34" charset="0"/>
                      </a:endParaRPr>
                    </a:p>
                  </a:txBody>
                  <a:tcPr/>
                </a:tc>
                <a:extLst>
                  <a:ext uri="{0D108BD9-81ED-4DB2-BD59-A6C34878D82A}">
                    <a16:rowId xmlns:a16="http://schemas.microsoft.com/office/drawing/2014/main" val="1952608636"/>
                  </a:ext>
                </a:extLst>
              </a:tr>
              <a:tr h="352425">
                <a:tc>
                  <a:txBody>
                    <a:bodyPr/>
                    <a:lstStyle/>
                    <a:p>
                      <a:pPr fontAlgn="auto"/>
                      <a:r>
                        <a:rPr lang="en-US" sz="1800" u="sng" strike="noStrike">
                          <a:solidFill>
                            <a:srgbClr val="002060"/>
                          </a:solidFill>
                          <a:effectLst/>
                          <a:latin typeface="Aptos" panose="020B0004020202020204" pitchFamily="34" charset="0"/>
                          <a:hlinkClick r:id="rId5">
                            <a:extLst>
                              <a:ext uri="{A12FA001-AC4F-418D-AE19-62706E023703}">
                                <ahyp:hlinkClr xmlns:ahyp="http://schemas.microsoft.com/office/drawing/2018/hyperlinkcolor" val="tx"/>
                              </a:ext>
                            </a:extLst>
                          </a:hlinkClick>
                        </a:rPr>
                        <a:t>Cats in the City</a:t>
                      </a:r>
                      <a:endParaRPr lang="en-US" sz="1800">
                        <a:solidFill>
                          <a:srgbClr val="002060"/>
                        </a:solidFill>
                        <a:effectLst/>
                        <a:latin typeface="Aptos" panose="020B0004020202020204" pitchFamily="34" charset="0"/>
                      </a:endParaRPr>
                    </a:p>
                  </a:txBody>
                  <a:tcPr/>
                </a:tc>
                <a:tc>
                  <a:txBody>
                    <a:bodyPr/>
                    <a:lstStyle/>
                    <a:p>
                      <a:pPr fontAlgn="base"/>
                      <a:r>
                        <a:rPr lang="en-US" sz="1800">
                          <a:solidFill>
                            <a:srgbClr val="002060"/>
                          </a:solidFill>
                          <a:effectLst/>
                          <a:latin typeface="Aptos" panose="020B0004020202020204" pitchFamily="34" charset="0"/>
                        </a:rPr>
                        <a:t>RPG created by Deepti using this workshop’s format; includes “chaos” mechanic</a:t>
                      </a:r>
                      <a:endParaRPr lang="en-US" sz="2000">
                        <a:solidFill>
                          <a:srgbClr val="002060"/>
                        </a:solidFill>
                        <a:effectLst/>
                        <a:latin typeface="Aptos" panose="020B0004020202020204" pitchFamily="34" charset="0"/>
                      </a:endParaRPr>
                    </a:p>
                  </a:txBody>
                  <a:tcPr/>
                </a:tc>
                <a:extLst>
                  <a:ext uri="{0D108BD9-81ED-4DB2-BD59-A6C34878D82A}">
                    <a16:rowId xmlns:a16="http://schemas.microsoft.com/office/drawing/2014/main" val="1657611939"/>
                  </a:ext>
                </a:extLst>
              </a:tr>
              <a:tr h="352425">
                <a:tc>
                  <a:txBody>
                    <a:bodyPr/>
                    <a:lstStyle/>
                    <a:p>
                      <a:pPr fontAlgn="auto"/>
                      <a:r>
                        <a:rPr lang="en-US" sz="1800" u="sng" strike="noStrike">
                          <a:solidFill>
                            <a:srgbClr val="002060"/>
                          </a:solidFill>
                          <a:effectLst/>
                          <a:latin typeface="Aptos" panose="020B0004020202020204" pitchFamily="34" charset="0"/>
                          <a:hlinkClick r:id="rId6">
                            <a:extLst>
                              <a:ext uri="{A12FA001-AC4F-418D-AE19-62706E023703}">
                                <ahyp:hlinkClr xmlns:ahyp="http://schemas.microsoft.com/office/drawing/2018/hyperlinkcolor" val="tx"/>
                              </a:ext>
                            </a:extLst>
                          </a:hlinkClick>
                        </a:rPr>
                        <a:t>Ten Candles</a:t>
                      </a:r>
                      <a:endParaRPr lang="en-US" sz="1800">
                        <a:solidFill>
                          <a:srgbClr val="002060"/>
                        </a:solidFill>
                        <a:effectLst/>
                        <a:latin typeface="Aptos" panose="020B0004020202020204" pitchFamily="34" charset="0"/>
                      </a:endParaRPr>
                    </a:p>
                  </a:txBody>
                  <a:tcPr/>
                </a:tc>
                <a:tc>
                  <a:txBody>
                    <a:bodyPr/>
                    <a:lstStyle/>
                    <a:p>
                      <a:pPr fontAlgn="base"/>
                      <a:r>
                        <a:rPr lang="en-US" sz="1800">
                          <a:solidFill>
                            <a:srgbClr val="002060"/>
                          </a:solidFill>
                          <a:effectLst/>
                          <a:latin typeface="Aptos" panose="020B0004020202020204" pitchFamily="34" charset="0"/>
                        </a:rPr>
                        <a:t>“Candle” mechanic where real, lit candles impact gameplay</a:t>
                      </a:r>
                      <a:endParaRPr lang="en-US" sz="2000">
                        <a:solidFill>
                          <a:srgbClr val="002060"/>
                        </a:solidFill>
                        <a:effectLst/>
                        <a:latin typeface="Aptos" panose="020B0004020202020204" pitchFamily="34" charset="0"/>
                      </a:endParaRPr>
                    </a:p>
                  </a:txBody>
                  <a:tcPr/>
                </a:tc>
                <a:extLst>
                  <a:ext uri="{0D108BD9-81ED-4DB2-BD59-A6C34878D82A}">
                    <a16:rowId xmlns:a16="http://schemas.microsoft.com/office/drawing/2014/main" val="1181324372"/>
                  </a:ext>
                </a:extLst>
              </a:tr>
              <a:tr h="352425">
                <a:tc>
                  <a:txBody>
                    <a:bodyPr/>
                    <a:lstStyle/>
                    <a:p>
                      <a:pPr fontAlgn="auto"/>
                      <a:r>
                        <a:rPr lang="en-US" sz="1800" u="sng" strike="noStrike">
                          <a:solidFill>
                            <a:srgbClr val="002060"/>
                          </a:solidFill>
                          <a:effectLst/>
                          <a:latin typeface="Aptos" panose="020B0004020202020204" pitchFamily="34" charset="0"/>
                          <a:hlinkClick r:id="rId7">
                            <a:extLst>
                              <a:ext uri="{A12FA001-AC4F-418D-AE19-62706E023703}">
                                <ahyp:hlinkClr xmlns:ahyp="http://schemas.microsoft.com/office/drawing/2018/hyperlinkcolor" val="tx"/>
                              </a:ext>
                            </a:extLst>
                          </a:hlinkClick>
                        </a:rPr>
                        <a:t>The Quiet Year</a:t>
                      </a:r>
                      <a:endParaRPr lang="en-US" sz="1800">
                        <a:solidFill>
                          <a:srgbClr val="002060"/>
                        </a:solidFill>
                        <a:effectLst/>
                        <a:latin typeface="Aptos" panose="020B0004020202020204" pitchFamily="34" charset="0"/>
                      </a:endParaRPr>
                    </a:p>
                  </a:txBody>
                  <a:tcPr/>
                </a:tc>
                <a:tc>
                  <a:txBody>
                    <a:bodyPr/>
                    <a:lstStyle/>
                    <a:p>
                      <a:pPr fontAlgn="base"/>
                      <a:r>
                        <a:rPr lang="en-US" sz="1800">
                          <a:solidFill>
                            <a:srgbClr val="002060"/>
                          </a:solidFill>
                          <a:effectLst/>
                          <a:latin typeface="Aptos" panose="020B0004020202020204" pitchFamily="34" charset="0"/>
                        </a:rPr>
                        <a:t>No Game Master, and players can make decisions that cause “grudges”</a:t>
                      </a:r>
                      <a:endParaRPr lang="en-US" sz="2000">
                        <a:solidFill>
                          <a:srgbClr val="002060"/>
                        </a:solidFill>
                        <a:effectLst/>
                        <a:latin typeface="Aptos" panose="020B0004020202020204" pitchFamily="34" charset="0"/>
                      </a:endParaRPr>
                    </a:p>
                  </a:txBody>
                  <a:tcPr/>
                </a:tc>
                <a:extLst>
                  <a:ext uri="{0D108BD9-81ED-4DB2-BD59-A6C34878D82A}">
                    <a16:rowId xmlns:a16="http://schemas.microsoft.com/office/drawing/2014/main" val="4182971550"/>
                  </a:ext>
                </a:extLst>
              </a:tr>
              <a:tr h="352425">
                <a:tc>
                  <a:txBody>
                    <a:bodyPr/>
                    <a:lstStyle/>
                    <a:p>
                      <a:pPr fontAlgn="auto"/>
                      <a:r>
                        <a:rPr lang="en-US" sz="1800" u="sng" strike="noStrike">
                          <a:solidFill>
                            <a:srgbClr val="002060"/>
                          </a:solidFill>
                          <a:effectLst/>
                          <a:latin typeface="Aptos" panose="020B0004020202020204" pitchFamily="34" charset="0"/>
                          <a:hlinkClick r:id="rId8">
                            <a:extLst>
                              <a:ext uri="{A12FA001-AC4F-418D-AE19-62706E023703}">
                                <ahyp:hlinkClr xmlns:ahyp="http://schemas.microsoft.com/office/drawing/2018/hyperlinkcolor" val="tx"/>
                              </a:ext>
                            </a:extLst>
                          </a:hlinkClick>
                        </a:rPr>
                        <a:t>Everybody’s John</a:t>
                      </a:r>
                      <a:endParaRPr lang="en-US" sz="1800">
                        <a:solidFill>
                          <a:srgbClr val="002060"/>
                        </a:solidFill>
                        <a:effectLst/>
                        <a:latin typeface="Aptos" panose="020B0004020202020204" pitchFamily="34" charset="0"/>
                      </a:endParaRPr>
                    </a:p>
                  </a:txBody>
                  <a:tcPr/>
                </a:tc>
                <a:tc>
                  <a:txBody>
                    <a:bodyPr/>
                    <a:lstStyle/>
                    <a:p>
                      <a:pPr fontAlgn="base"/>
                      <a:r>
                        <a:rPr lang="en-US" sz="1800">
                          <a:solidFill>
                            <a:srgbClr val="002060"/>
                          </a:solidFill>
                          <a:effectLst/>
                          <a:latin typeface="Aptos" panose="020B0004020202020204" pitchFamily="34" charset="0"/>
                        </a:rPr>
                        <a:t>Bidding mechanic to “gain control” of the story</a:t>
                      </a:r>
                      <a:endParaRPr lang="en-US" sz="2000">
                        <a:solidFill>
                          <a:srgbClr val="002060"/>
                        </a:solidFill>
                        <a:effectLst/>
                        <a:latin typeface="Aptos" panose="020B0004020202020204" pitchFamily="34" charset="0"/>
                      </a:endParaRPr>
                    </a:p>
                  </a:txBody>
                  <a:tcPr/>
                </a:tc>
                <a:extLst>
                  <a:ext uri="{0D108BD9-81ED-4DB2-BD59-A6C34878D82A}">
                    <a16:rowId xmlns:a16="http://schemas.microsoft.com/office/drawing/2014/main" val="4038614824"/>
                  </a:ext>
                </a:extLst>
              </a:tr>
              <a:tr h="352425">
                <a:tc>
                  <a:txBody>
                    <a:bodyPr/>
                    <a:lstStyle/>
                    <a:p>
                      <a:pPr fontAlgn="auto"/>
                      <a:r>
                        <a:rPr lang="en-US" sz="1800" u="sng" strike="noStrike">
                          <a:solidFill>
                            <a:srgbClr val="002060"/>
                          </a:solidFill>
                          <a:effectLst/>
                          <a:latin typeface="Aptos" panose="020B0004020202020204" pitchFamily="34" charset="0"/>
                          <a:hlinkClick r:id="rId9">
                            <a:extLst>
                              <a:ext uri="{A12FA001-AC4F-418D-AE19-62706E023703}">
                                <ahyp:hlinkClr xmlns:ahyp="http://schemas.microsoft.com/office/drawing/2018/hyperlinkcolor" val="tx"/>
                              </a:ext>
                            </a:extLst>
                          </a:hlinkClick>
                        </a:rPr>
                        <a:t>Road Trippin’</a:t>
                      </a:r>
                      <a:endParaRPr lang="en-US" sz="1800">
                        <a:solidFill>
                          <a:srgbClr val="002060"/>
                        </a:solidFill>
                        <a:effectLst/>
                        <a:latin typeface="Aptos" panose="020B0004020202020204" pitchFamily="34" charset="0"/>
                      </a:endParaRPr>
                    </a:p>
                  </a:txBody>
                  <a:tcPr/>
                </a:tc>
                <a:tc>
                  <a:txBody>
                    <a:bodyPr/>
                    <a:lstStyle/>
                    <a:p>
                      <a:pPr fontAlgn="base"/>
                      <a:r>
                        <a:rPr lang="en-US" sz="1800">
                          <a:solidFill>
                            <a:srgbClr val="002060"/>
                          </a:solidFill>
                          <a:effectLst/>
                          <a:latin typeface="Aptos" panose="020B0004020202020204" pitchFamily="34" charset="0"/>
                        </a:rPr>
                        <a:t>“Pee meter” that impacts game play (designed by nina)</a:t>
                      </a:r>
                      <a:endParaRPr lang="en-US" sz="2000">
                        <a:solidFill>
                          <a:srgbClr val="002060"/>
                        </a:solidFill>
                        <a:effectLst/>
                        <a:latin typeface="Aptos" panose="020B0004020202020204" pitchFamily="34" charset="0"/>
                      </a:endParaRPr>
                    </a:p>
                  </a:txBody>
                  <a:tcPr/>
                </a:tc>
                <a:extLst>
                  <a:ext uri="{0D108BD9-81ED-4DB2-BD59-A6C34878D82A}">
                    <a16:rowId xmlns:a16="http://schemas.microsoft.com/office/drawing/2014/main" val="3528397748"/>
                  </a:ext>
                </a:extLst>
              </a:tr>
              <a:tr h="352425">
                <a:tc>
                  <a:txBody>
                    <a:bodyPr/>
                    <a:lstStyle/>
                    <a:p>
                      <a:pPr fontAlgn="auto"/>
                      <a:r>
                        <a:rPr lang="en-US" sz="1800" u="sng" strike="noStrike">
                          <a:solidFill>
                            <a:srgbClr val="002060"/>
                          </a:solidFill>
                          <a:effectLst/>
                          <a:latin typeface="Aptos" panose="020B0004020202020204" pitchFamily="34" charset="0"/>
                          <a:hlinkClick r:id="rId10">
                            <a:extLst>
                              <a:ext uri="{A12FA001-AC4F-418D-AE19-62706E023703}">
                                <ahyp:hlinkClr xmlns:ahyp="http://schemas.microsoft.com/office/drawing/2018/hyperlinkcolor" val="tx"/>
                              </a:ext>
                            </a:extLst>
                          </a:hlinkClick>
                        </a:rPr>
                        <a:t>Astronomers</a:t>
                      </a:r>
                      <a:endParaRPr lang="en-US" sz="1800">
                        <a:solidFill>
                          <a:srgbClr val="002060"/>
                        </a:solidFill>
                        <a:effectLst/>
                        <a:latin typeface="Aptos" panose="020B0004020202020204" pitchFamily="34" charset="0"/>
                      </a:endParaRPr>
                    </a:p>
                  </a:txBody>
                  <a:tcPr/>
                </a:tc>
                <a:tc>
                  <a:txBody>
                    <a:bodyPr/>
                    <a:lstStyle/>
                    <a:p>
                      <a:pPr fontAlgn="base"/>
                      <a:r>
                        <a:rPr lang="en-US" sz="1800">
                          <a:solidFill>
                            <a:srgbClr val="002060"/>
                          </a:solidFill>
                          <a:effectLst/>
                          <a:latin typeface="Aptos" panose="020B0004020202020204" pitchFamily="34" charset="0"/>
                        </a:rPr>
                        <a:t>Drawing cards to simulate discovering planets (designed by nina)</a:t>
                      </a:r>
                      <a:endParaRPr lang="en-US" sz="2000">
                        <a:solidFill>
                          <a:srgbClr val="002060"/>
                        </a:solidFill>
                        <a:effectLst/>
                        <a:latin typeface="Aptos" panose="020B0004020202020204" pitchFamily="34" charset="0"/>
                      </a:endParaRPr>
                    </a:p>
                  </a:txBody>
                  <a:tcPr/>
                </a:tc>
                <a:extLst>
                  <a:ext uri="{0D108BD9-81ED-4DB2-BD59-A6C34878D82A}">
                    <a16:rowId xmlns:a16="http://schemas.microsoft.com/office/drawing/2014/main" val="2471732591"/>
                  </a:ext>
                </a:extLst>
              </a:tr>
              <a:tr h="352425">
                <a:tc>
                  <a:txBody>
                    <a:bodyPr/>
                    <a:lstStyle/>
                    <a:p>
                      <a:pPr fontAlgn="auto"/>
                      <a:r>
                        <a:rPr lang="en-US" sz="1800" u="sng" strike="noStrike">
                          <a:solidFill>
                            <a:srgbClr val="002060"/>
                          </a:solidFill>
                          <a:effectLst/>
                          <a:latin typeface="Aptos" panose="020B0004020202020204" pitchFamily="34" charset="0"/>
                          <a:hlinkClick r:id="rId11">
                            <a:extLst>
                              <a:ext uri="{A12FA001-AC4F-418D-AE19-62706E023703}">
                                <ahyp:hlinkClr xmlns:ahyp="http://schemas.microsoft.com/office/drawing/2018/hyperlinkcolor" val="tx"/>
                              </a:ext>
                            </a:extLst>
                          </a:hlinkClick>
                        </a:rPr>
                        <a:t>Alice is Missing</a:t>
                      </a:r>
                      <a:endParaRPr lang="en-US" sz="1800">
                        <a:solidFill>
                          <a:srgbClr val="002060"/>
                        </a:solidFill>
                        <a:effectLst/>
                        <a:latin typeface="Aptos" panose="020B0004020202020204" pitchFamily="34" charset="0"/>
                      </a:endParaRPr>
                    </a:p>
                  </a:txBody>
                  <a:tcPr/>
                </a:tc>
                <a:tc>
                  <a:txBody>
                    <a:bodyPr/>
                    <a:lstStyle/>
                    <a:p>
                      <a:pPr fontAlgn="base"/>
                      <a:r>
                        <a:rPr lang="en-US" sz="1800">
                          <a:solidFill>
                            <a:srgbClr val="002060"/>
                          </a:solidFill>
                          <a:effectLst/>
                          <a:latin typeface="Aptos" panose="020B0004020202020204" pitchFamily="34" charset="0"/>
                        </a:rPr>
                        <a:t>Completely silent; No game master; players must text each other</a:t>
                      </a:r>
                      <a:endParaRPr lang="en-US" sz="2000">
                        <a:solidFill>
                          <a:srgbClr val="002060"/>
                        </a:solidFill>
                        <a:effectLst/>
                        <a:latin typeface="Aptos" panose="020B0004020202020204" pitchFamily="34" charset="0"/>
                      </a:endParaRPr>
                    </a:p>
                  </a:txBody>
                  <a:tcPr/>
                </a:tc>
                <a:extLst>
                  <a:ext uri="{0D108BD9-81ED-4DB2-BD59-A6C34878D82A}">
                    <a16:rowId xmlns:a16="http://schemas.microsoft.com/office/drawing/2014/main" val="3896931299"/>
                  </a:ext>
                </a:extLst>
              </a:tr>
              <a:tr h="352425">
                <a:tc>
                  <a:txBody>
                    <a:bodyPr/>
                    <a:lstStyle/>
                    <a:p>
                      <a:pPr fontAlgn="auto"/>
                      <a:r>
                        <a:rPr lang="en-US" sz="1800" u="sng" strike="noStrike">
                          <a:solidFill>
                            <a:srgbClr val="002060"/>
                          </a:solidFill>
                          <a:effectLst/>
                          <a:latin typeface="Aptos" panose="020B0004020202020204" pitchFamily="34" charset="0"/>
                          <a:hlinkClick r:id="rId12">
                            <a:extLst>
                              <a:ext uri="{A12FA001-AC4F-418D-AE19-62706E023703}">
                                <ahyp:hlinkClr xmlns:ahyp="http://schemas.microsoft.com/office/drawing/2018/hyperlinkcolor" val="tx"/>
                              </a:ext>
                            </a:extLst>
                          </a:hlinkClick>
                        </a:rPr>
                        <a:t>Dread</a:t>
                      </a:r>
                      <a:endParaRPr lang="en-US" sz="1800">
                        <a:solidFill>
                          <a:srgbClr val="002060"/>
                        </a:solidFill>
                        <a:effectLst/>
                        <a:latin typeface="Aptos" panose="020B0004020202020204" pitchFamily="34" charset="0"/>
                      </a:endParaRPr>
                    </a:p>
                  </a:txBody>
                  <a:tcPr/>
                </a:tc>
                <a:tc>
                  <a:txBody>
                    <a:bodyPr/>
                    <a:lstStyle/>
                    <a:p>
                      <a:pPr fontAlgn="base"/>
                      <a:r>
                        <a:rPr lang="en-US" sz="1800">
                          <a:solidFill>
                            <a:srgbClr val="002060"/>
                          </a:solidFill>
                          <a:effectLst/>
                          <a:latin typeface="Aptos" panose="020B0004020202020204" pitchFamily="34" charset="0"/>
                        </a:rPr>
                        <a:t>Horror style game where a game of Jenga is used for tension</a:t>
                      </a:r>
                      <a:endParaRPr lang="en-US" sz="2000">
                        <a:solidFill>
                          <a:srgbClr val="002060"/>
                        </a:solidFill>
                        <a:effectLst/>
                        <a:latin typeface="Aptos" panose="020B0004020202020204" pitchFamily="34" charset="0"/>
                      </a:endParaRPr>
                    </a:p>
                  </a:txBody>
                  <a:tcPr/>
                </a:tc>
                <a:extLst>
                  <a:ext uri="{0D108BD9-81ED-4DB2-BD59-A6C34878D82A}">
                    <a16:rowId xmlns:a16="http://schemas.microsoft.com/office/drawing/2014/main" val="3957547625"/>
                  </a:ext>
                </a:extLst>
              </a:tr>
              <a:tr h="352425">
                <a:tc>
                  <a:txBody>
                    <a:bodyPr/>
                    <a:lstStyle/>
                    <a:p>
                      <a:pPr fontAlgn="auto"/>
                      <a:r>
                        <a:rPr lang="en-US" sz="1800" u="sng" strike="noStrike">
                          <a:solidFill>
                            <a:srgbClr val="002060"/>
                          </a:solidFill>
                          <a:effectLst/>
                          <a:latin typeface="Aptos" panose="020B0004020202020204" pitchFamily="34" charset="0"/>
                          <a:hlinkClick r:id="rId13">
                            <a:extLst>
                              <a:ext uri="{A12FA001-AC4F-418D-AE19-62706E023703}">
                                <ahyp:hlinkClr xmlns:ahyp="http://schemas.microsoft.com/office/drawing/2018/hyperlinkcolor" val="tx"/>
                              </a:ext>
                            </a:extLst>
                          </a:hlinkClick>
                        </a:rPr>
                        <a:t>Caravan</a:t>
                      </a:r>
                      <a:endParaRPr lang="en-US" sz="1800">
                        <a:solidFill>
                          <a:srgbClr val="002060"/>
                        </a:solidFill>
                        <a:effectLst/>
                        <a:latin typeface="Aptos" panose="020B0004020202020204" pitchFamily="34" charset="0"/>
                      </a:endParaRPr>
                    </a:p>
                  </a:txBody>
                  <a:tcPr/>
                </a:tc>
                <a:tc>
                  <a:txBody>
                    <a:bodyPr/>
                    <a:lstStyle/>
                    <a:p>
                      <a:pPr fontAlgn="base"/>
                      <a:r>
                        <a:rPr lang="en-US" sz="1800">
                          <a:solidFill>
                            <a:srgbClr val="002060"/>
                          </a:solidFill>
                          <a:effectLst/>
                          <a:latin typeface="Aptos" panose="020B0004020202020204" pitchFamily="34" charset="0"/>
                        </a:rPr>
                        <a:t>Junk-based card game inside Fallout: New Vegas where you can only play cards you find</a:t>
                      </a:r>
                      <a:endParaRPr lang="en-US" sz="2000">
                        <a:solidFill>
                          <a:srgbClr val="002060"/>
                        </a:solidFill>
                        <a:effectLst/>
                        <a:latin typeface="Aptos" panose="020B0004020202020204" pitchFamily="34" charset="0"/>
                      </a:endParaRPr>
                    </a:p>
                  </a:txBody>
                  <a:tcPr/>
                </a:tc>
                <a:extLst>
                  <a:ext uri="{0D108BD9-81ED-4DB2-BD59-A6C34878D82A}">
                    <a16:rowId xmlns:a16="http://schemas.microsoft.com/office/drawing/2014/main" val="3642055022"/>
                  </a:ext>
                </a:extLst>
              </a:tr>
            </a:tbl>
          </a:graphicData>
        </a:graphic>
      </p:graphicFrame>
    </p:spTree>
    <p:extLst>
      <p:ext uri="{BB962C8B-B14F-4D97-AF65-F5344CB8AC3E}">
        <p14:creationId xmlns:p14="http://schemas.microsoft.com/office/powerpoint/2010/main" val="2272936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BFCFA-B84D-3EB9-1E90-F96E7AD7427B}"/>
              </a:ext>
            </a:extLst>
          </p:cNvPr>
          <p:cNvSpPr>
            <a:spLocks noGrp="1"/>
          </p:cNvSpPr>
          <p:nvPr>
            <p:ph type="title"/>
          </p:nvPr>
        </p:nvSpPr>
        <p:spPr>
          <a:xfrm>
            <a:off x="1066800" y="427736"/>
            <a:ext cx="10058400" cy="575564"/>
          </a:xfrm>
        </p:spPr>
        <p:txBody>
          <a:bodyPr/>
          <a:lstStyle/>
          <a:p>
            <a:r>
              <a:rPr lang="en-US"/>
              <a:t>Cat/Fig Pics</a:t>
            </a:r>
          </a:p>
        </p:txBody>
      </p:sp>
      <p:pic>
        <p:nvPicPr>
          <p:cNvPr id="6" name="Picture 5">
            <a:extLst>
              <a:ext uri="{FF2B5EF4-FFF2-40B4-BE49-F238E27FC236}">
                <a16:creationId xmlns:a16="http://schemas.microsoft.com/office/drawing/2014/main" id="{24BCC8C4-0E74-DB0D-B355-C1547246BE35}"/>
              </a:ext>
            </a:extLst>
          </p:cNvPr>
          <p:cNvPicPr>
            <a:picLocks noChangeAspect="1"/>
          </p:cNvPicPr>
          <p:nvPr/>
        </p:nvPicPr>
        <p:blipFill>
          <a:blip r:embed="rId3"/>
          <a:stretch>
            <a:fillRect/>
          </a:stretch>
        </p:blipFill>
        <p:spPr>
          <a:xfrm>
            <a:off x="10426091" y="2108200"/>
            <a:ext cx="1819465" cy="2614686"/>
          </a:xfrm>
          <a:prstGeom prst="rect">
            <a:avLst/>
          </a:prstGeom>
        </p:spPr>
      </p:pic>
      <p:pic>
        <p:nvPicPr>
          <p:cNvPr id="8" name="Picture 7">
            <a:extLst>
              <a:ext uri="{FF2B5EF4-FFF2-40B4-BE49-F238E27FC236}">
                <a16:creationId xmlns:a16="http://schemas.microsoft.com/office/drawing/2014/main" id="{829AC7F3-2D0F-2461-2070-EB72458EC643}"/>
              </a:ext>
            </a:extLst>
          </p:cNvPr>
          <p:cNvPicPr>
            <a:picLocks noChangeAspect="1"/>
          </p:cNvPicPr>
          <p:nvPr/>
        </p:nvPicPr>
        <p:blipFill>
          <a:blip r:embed="rId4"/>
          <a:stretch>
            <a:fillRect/>
          </a:stretch>
        </p:blipFill>
        <p:spPr>
          <a:xfrm>
            <a:off x="2425700" y="1205743"/>
            <a:ext cx="1657350" cy="2209800"/>
          </a:xfrm>
          <a:prstGeom prst="rect">
            <a:avLst/>
          </a:prstGeom>
        </p:spPr>
      </p:pic>
      <p:pic>
        <p:nvPicPr>
          <p:cNvPr id="10" name="Picture 9">
            <a:extLst>
              <a:ext uri="{FF2B5EF4-FFF2-40B4-BE49-F238E27FC236}">
                <a16:creationId xmlns:a16="http://schemas.microsoft.com/office/drawing/2014/main" id="{F83AA504-CD8C-5AC3-6EB2-DE3D24A4C80B}"/>
              </a:ext>
            </a:extLst>
          </p:cNvPr>
          <p:cNvPicPr>
            <a:picLocks noChangeAspect="1"/>
          </p:cNvPicPr>
          <p:nvPr/>
        </p:nvPicPr>
        <p:blipFill>
          <a:blip r:embed="rId5"/>
          <a:stretch>
            <a:fillRect/>
          </a:stretch>
        </p:blipFill>
        <p:spPr>
          <a:xfrm>
            <a:off x="8684161" y="3792453"/>
            <a:ext cx="2962688" cy="2772162"/>
          </a:xfrm>
          <a:prstGeom prst="rect">
            <a:avLst/>
          </a:prstGeom>
        </p:spPr>
      </p:pic>
      <p:pic>
        <p:nvPicPr>
          <p:cNvPr id="12" name="Picture 11">
            <a:extLst>
              <a:ext uri="{FF2B5EF4-FFF2-40B4-BE49-F238E27FC236}">
                <a16:creationId xmlns:a16="http://schemas.microsoft.com/office/drawing/2014/main" id="{672CF693-B743-B2C3-8700-4DE79A29BF63}"/>
              </a:ext>
            </a:extLst>
          </p:cNvPr>
          <p:cNvPicPr>
            <a:picLocks noChangeAspect="1"/>
          </p:cNvPicPr>
          <p:nvPr/>
        </p:nvPicPr>
        <p:blipFill>
          <a:blip r:embed="rId6"/>
          <a:stretch>
            <a:fillRect/>
          </a:stretch>
        </p:blipFill>
        <p:spPr>
          <a:xfrm>
            <a:off x="7080853" y="1170640"/>
            <a:ext cx="1714501" cy="2244903"/>
          </a:xfrm>
          <a:prstGeom prst="rect">
            <a:avLst/>
          </a:prstGeom>
        </p:spPr>
      </p:pic>
      <p:pic>
        <p:nvPicPr>
          <p:cNvPr id="14" name="Picture 13">
            <a:extLst>
              <a:ext uri="{FF2B5EF4-FFF2-40B4-BE49-F238E27FC236}">
                <a16:creationId xmlns:a16="http://schemas.microsoft.com/office/drawing/2014/main" id="{1276D22D-DCED-4AB2-21E9-C6289DC0D129}"/>
              </a:ext>
            </a:extLst>
          </p:cNvPr>
          <p:cNvPicPr>
            <a:picLocks noChangeAspect="1"/>
          </p:cNvPicPr>
          <p:nvPr/>
        </p:nvPicPr>
        <p:blipFill>
          <a:blip r:embed="rId7"/>
          <a:stretch>
            <a:fillRect/>
          </a:stretch>
        </p:blipFill>
        <p:spPr>
          <a:xfrm>
            <a:off x="7207853" y="3442458"/>
            <a:ext cx="1974691" cy="2591129"/>
          </a:xfrm>
          <a:prstGeom prst="rect">
            <a:avLst/>
          </a:prstGeom>
        </p:spPr>
      </p:pic>
      <p:pic>
        <p:nvPicPr>
          <p:cNvPr id="16" name="Picture 15">
            <a:extLst>
              <a:ext uri="{FF2B5EF4-FFF2-40B4-BE49-F238E27FC236}">
                <a16:creationId xmlns:a16="http://schemas.microsoft.com/office/drawing/2014/main" id="{7CFFD290-FB91-2988-BDB5-60F5B43E9F72}"/>
              </a:ext>
            </a:extLst>
          </p:cNvPr>
          <p:cNvPicPr>
            <a:picLocks noChangeAspect="1"/>
          </p:cNvPicPr>
          <p:nvPr/>
        </p:nvPicPr>
        <p:blipFill>
          <a:blip r:embed="rId8"/>
          <a:stretch>
            <a:fillRect/>
          </a:stretch>
        </p:blipFill>
        <p:spPr>
          <a:xfrm rot="404234">
            <a:off x="110067" y="3265566"/>
            <a:ext cx="2962688" cy="2220572"/>
          </a:xfrm>
          <a:prstGeom prst="rect">
            <a:avLst/>
          </a:prstGeom>
        </p:spPr>
      </p:pic>
      <p:pic>
        <p:nvPicPr>
          <p:cNvPr id="18" name="Picture 17">
            <a:extLst>
              <a:ext uri="{FF2B5EF4-FFF2-40B4-BE49-F238E27FC236}">
                <a16:creationId xmlns:a16="http://schemas.microsoft.com/office/drawing/2014/main" id="{46A19EF0-ECF9-3F81-682C-96514609B779}"/>
              </a:ext>
            </a:extLst>
          </p:cNvPr>
          <p:cNvPicPr>
            <a:picLocks noChangeAspect="1"/>
          </p:cNvPicPr>
          <p:nvPr/>
        </p:nvPicPr>
        <p:blipFill>
          <a:blip r:embed="rId9"/>
          <a:stretch>
            <a:fillRect/>
          </a:stretch>
        </p:blipFill>
        <p:spPr>
          <a:xfrm>
            <a:off x="3086913" y="3483609"/>
            <a:ext cx="3640737" cy="2100581"/>
          </a:xfrm>
          <a:prstGeom prst="rect">
            <a:avLst/>
          </a:prstGeom>
        </p:spPr>
      </p:pic>
    </p:spTree>
    <p:extLst>
      <p:ext uri="{BB962C8B-B14F-4D97-AF65-F5344CB8AC3E}">
        <p14:creationId xmlns:p14="http://schemas.microsoft.com/office/powerpoint/2010/main" val="4079866593"/>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D19726"/>
      </a:accent1>
      <a:accent2>
        <a:srgbClr val="531F14"/>
      </a:accent2>
      <a:accent3>
        <a:srgbClr val="47383A"/>
      </a:accent3>
      <a:accent4>
        <a:srgbClr val="6D595C"/>
      </a:accent4>
      <a:accent5>
        <a:srgbClr val="222A34"/>
      </a:accent5>
      <a:accent6>
        <a:srgbClr val="EFE9E3"/>
      </a:accent6>
      <a:hlink>
        <a:srgbClr val="2CA7A3"/>
      </a:hlink>
      <a:folHlink>
        <a:srgbClr val="954F72"/>
      </a:folHlink>
    </a:clrScheme>
    <a:fontScheme name="Custom 37">
      <a:majorFont>
        <a:latin typeface="Baskerville Old Face"/>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elestial_Win32_EF_v14" id="{49C53B4D-6C95-4255-8F4E-2C424B2C6A98}" vid="{5D0D74F6-EEA1-4B6D-86D1-60011094E0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C21F53E-8B7F-4059-A86D-7E9F0EE14061}">
  <we:reference id="wa104006972" version="1.0.0.0" store="en-US" storeType="OMEX"/>
  <we:alternateReferences>
    <we:reference id="WA104006972" version="1.0.0.0" store="WA104006972"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9E87BB5D-5BC5-4F66-81A4-7708848B9B99}">
  <we:reference id="wa104381448" version="1.0.3.0" store="en-US" storeType="OMEX"/>
  <we:alternateReferences>
    <we:reference id="WA104381448" version="1.0.3.0" store="WA104381448"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6948BCA3A2CE647A8980A812DC9EEE7" ma:contentTypeVersion="26" ma:contentTypeDescription="Create a new document." ma:contentTypeScope="" ma:versionID="54208e8bc16340f2670f00083b0da96d">
  <xsd:schema xmlns:xsd="http://www.w3.org/2001/XMLSchema" xmlns:xs="http://www.w3.org/2001/XMLSchema" xmlns:p="http://schemas.microsoft.com/office/2006/metadata/properties" xmlns:ns1="http://schemas.microsoft.com/sharepoint/v3" xmlns:ns2="730d8df6-6305-4397-942e-c68e13ca0459" xmlns:ns3="a038cf47-43dc-4da9-a1d5-a44d22af5082" xmlns:ns4="230e9df3-be65-4c73-a93b-d1236ebd677e" targetNamespace="http://schemas.microsoft.com/office/2006/metadata/properties" ma:root="true" ma:fieldsID="94f10f50fa75a57596f1f61336f1f3f7" ns1:_="" ns2:_="" ns3:_="" ns4:_="">
    <xsd:import namespace="http://schemas.microsoft.com/sharepoint/v3"/>
    <xsd:import namespace="730d8df6-6305-4397-942e-c68e13ca0459"/>
    <xsd:import namespace="a038cf47-43dc-4da9-a1d5-a44d22af5082"/>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LengthInSeconds" minOccurs="0"/>
                <xsd:element ref="ns2:OneNoteFluid_FileOrder" minOccurs="0"/>
                <xsd:element ref="ns2:OneNoteFluid_FileOrder0" minOccurs="0"/>
                <xsd:element ref="ns2:MediaServiceOCR" minOccurs="0"/>
                <xsd:element ref="ns2:MediaServiceSearchProperties" minOccurs="0"/>
                <xsd:element ref="ns1:_ip_UnifiedCompliancePolicyProperties" minOccurs="0"/>
                <xsd:element ref="ns1:_ip_UnifiedCompliancePolicyUIAction" minOccurs="0"/>
                <xsd:element ref="ns2:MediaServiceDocTags" minOccurs="0"/>
                <xsd:element ref="ns2:MediaServiceObjectDetectorVersions" minOccurs="0"/>
                <xsd:element ref="ns2:MediaServiceLocation"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0d8df6-6305-4397-942e-c68e13ca04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LengthInSeconds" ma:index="20" nillable="true" ma:displayName="MediaLengthInSeconds" ma:hidden="true" ma:internalName="MediaLengthInSeconds" ma:readOnly="true">
      <xsd:simpleType>
        <xsd:restriction base="dms:Unknown"/>
      </xsd:simpleType>
    </xsd:element>
    <xsd:element name="OneNoteFluid_FileOrder" ma:index="21" nillable="true" ma:displayName="OneNoteFluid_FileOrder" ma:internalName="OneNoteFluid_FileOrder">
      <xsd:simpleType>
        <xsd:restriction base="dms:Text">
          <xsd:maxLength value="255"/>
        </xsd:restriction>
      </xsd:simpleType>
    </xsd:element>
    <xsd:element name="OneNoteFluid_FileOrder0" ma:index="22" nillable="true" ma:displayName="OneNoteFluid_FileOrder" ma:internalName="OneNoteFluid_FileOrder0">
      <xsd:simpleType>
        <xsd:restriction base="dms:Text">
          <xsd:maxLength value="255"/>
        </xsd:restriction>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DocTags" ma:index="27" nillable="true" ma:displayName="MediaServiceDocTags" ma:hidden="true" ma:internalName="MediaServiceDocTags" ma:readOnly="true">
      <xsd:simpleType>
        <xsd:restriction base="dms:Note"/>
      </xsd:simpleType>
    </xsd:element>
    <xsd:element name="MediaServiceObjectDetectorVersions" ma:index="28" nillable="true" ma:displayName="MediaServiceObjectDetectorVersions" ma:hidden="true" ma:indexed="true" ma:internalName="MediaServiceObjectDetectorVersions" ma:readOnly="true">
      <xsd:simpleType>
        <xsd:restriction base="dms:Text"/>
      </xsd:simpleType>
    </xsd:element>
    <xsd:element name="MediaServiceLocation" ma:index="29" nillable="true" ma:displayName="Location" ma:indexed="true" ma:internalName="MediaServiceLocation" ma:readOnly="true">
      <xsd:simpleType>
        <xsd:restriction base="dms:Text"/>
      </xsd:simpleType>
    </xsd:element>
    <xsd:element name="MediaServiceBillingMetadata" ma:index="30" nillable="true" ma:displayName="MediaServiceBillingMetadata" ma:hidden="true" ma:internalName="MediaServiceBillingMetadata" ma:readOnly="true">
      <xsd:simpleType>
        <xsd:restriction base="dms:Note"/>
      </xsd:simpleType>
    </xsd:element>
    <xsd:element name="HasDigitalSignature" ma:index="31" nillable="true" ma:displayName="Signed electronically" ma:internalName="HasDigitalSignature" ma:readOnly="true">
      <xsd:simpleType>
        <xsd:restriction base="dms:Boolean"/>
      </xsd:simpleType>
    </xsd:element>
    <xsd:element name="DigitalSignatureProvider" ma:index="32"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038cf47-43dc-4da9-a1d5-a44d22af508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0e6fb87-b3ef-4f93-a67c-0227bb747af2}" ma:internalName="TaxCatchAll" ma:showField="CatchAllData" ma:web="a038cf47-43dc-4da9-a1d5-a44d22af508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ServiceKeyPoints xmlns="730d8df6-6305-4397-942e-c68e13ca0459" xsi:nil="true"/>
    <OneNoteFluid_FileOrder xmlns="730d8df6-6305-4397-942e-c68e13ca0459" xsi:nil="true"/>
    <OneNoteFluid_FileOrder0 xmlns="730d8df6-6305-4397-942e-c68e13ca0459" xsi:nil="true"/>
    <lcf76f155ced4ddcb4097134ff3c332f xmlns="730d8df6-6305-4397-942e-c68e13ca0459">
      <Terms xmlns="http://schemas.microsoft.com/office/infopath/2007/PartnerControls"/>
    </lcf76f155ced4ddcb4097134ff3c332f>
    <TaxCatchAll xmlns="230e9df3-be65-4c73-a93b-d1236ebd677e" xsi:nil="true"/>
    <MediaLengthInSeconds xmlns="730d8df6-6305-4397-942e-c68e13ca0459" xsi:nil="true"/>
    <SharedWithUsers xmlns="a038cf47-43dc-4da9-a1d5-a44d22af5082">
      <UserInfo>
        <DisplayName/>
        <AccountId xsi:nil="true"/>
        <AccountType/>
      </UserInfo>
    </SharedWithUsers>
  </documentManagement>
</p:properties>
</file>

<file path=customXml/itemProps1.xml><?xml version="1.0" encoding="utf-8"?>
<ds:datastoreItem xmlns:ds="http://schemas.openxmlformats.org/officeDocument/2006/customXml" ds:itemID="{34E70734-8287-49EC-B776-716BC48B1B0C}">
  <ds:schemaRefs>
    <ds:schemaRef ds:uri="http://schemas.microsoft.com/sharepoint/v3/contenttype/forms"/>
  </ds:schemaRefs>
</ds:datastoreItem>
</file>

<file path=customXml/itemProps2.xml><?xml version="1.0" encoding="utf-8"?>
<ds:datastoreItem xmlns:ds="http://schemas.openxmlformats.org/officeDocument/2006/customXml" ds:itemID="{58024B69-452C-4858-8837-356A81710C9D}">
  <ds:schemaRefs>
    <ds:schemaRef ds:uri="230e9df3-be65-4c73-a93b-d1236ebd677e"/>
    <ds:schemaRef ds:uri="730d8df6-6305-4397-942e-c68e13ca0459"/>
    <ds:schemaRef ds:uri="a038cf47-43dc-4da9-a1d5-a44d22af508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4BCF513-745B-4AD7-97C8-7C8887B0C823}">
  <ds:schemaRefs>
    <ds:schemaRef ds:uri="http://schemas.microsoft.com/sharepoint/v3"/>
    <ds:schemaRef ds:uri="http://purl.org/dc/elements/1.1/"/>
    <ds:schemaRef ds:uri="730d8df6-6305-4397-942e-c68e13ca0459"/>
    <ds:schemaRef ds:uri="http://schemas.microsoft.com/office/2006/metadata/properties"/>
    <ds:schemaRef ds:uri="http://schemas.openxmlformats.org/package/2006/metadata/core-properties"/>
    <ds:schemaRef ds:uri="http://purl.org/dc/dcmitype/"/>
    <ds:schemaRef ds:uri="http://purl.org/dc/terms/"/>
    <ds:schemaRef ds:uri="a038cf47-43dc-4da9-a1d5-a44d22af5082"/>
    <ds:schemaRef ds:uri="http://schemas.microsoft.com/office/2006/documentManagement/types"/>
    <ds:schemaRef ds:uri="http://schemas.microsoft.com/office/infopath/2007/PartnerControls"/>
    <ds:schemaRef ds:uri="230e9df3-be65-4c73-a93b-d1236ebd677e"/>
    <ds:schemaRef ds:uri="http://www.w3.org/XML/1998/namespace"/>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Celestial design</Template>
  <TotalTime>0</TotalTime>
  <Words>5304</Words>
  <Application>Microsoft Office PowerPoint</Application>
  <PresentationFormat>Widescreen</PresentationFormat>
  <Paragraphs>338</Paragraphs>
  <Slides>16</Slides>
  <Notes>16</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Aptos</vt:lpstr>
      <vt:lpstr>Arial</vt:lpstr>
      <vt:lpstr>Book Antiqua</vt:lpstr>
      <vt:lpstr>Calibri</vt:lpstr>
      <vt:lpstr>Courier New</vt:lpstr>
      <vt:lpstr>Gill Sans Nova Light</vt:lpstr>
      <vt:lpstr>Gill Sans Nova Light_MSFontService</vt:lpstr>
      <vt:lpstr>Segoe UI</vt:lpstr>
      <vt:lpstr>Wingdings</vt:lpstr>
      <vt:lpstr>Office Theme</vt:lpstr>
      <vt:lpstr>Create your own one-page RPG</vt:lpstr>
      <vt:lpstr>Overview</vt:lpstr>
      <vt:lpstr>What is a tabletop  role-playing game (TTRPG)?</vt:lpstr>
      <vt:lpstr>What is a one-page TTRPG?</vt:lpstr>
      <vt:lpstr>Empathize + Define: Game Foundations</vt:lpstr>
      <vt:lpstr>Workshop: empathize &amp; define</vt:lpstr>
      <vt:lpstr>Ideate: turn actions into gameplay</vt:lpstr>
      <vt:lpstr>Actions  Mechanics</vt:lpstr>
      <vt:lpstr>Tools of chance</vt:lpstr>
      <vt:lpstr>Workshop: Ideate</vt:lpstr>
      <vt:lpstr>Prototype: Writing the Rules</vt:lpstr>
      <vt:lpstr>Workshop: Prototype</vt:lpstr>
      <vt:lpstr>Design thinking</vt:lpstr>
      <vt:lpstr>What to do with your game</vt:lpstr>
      <vt:lpstr>Thanks | Q&amp;A</vt:lpstr>
      <vt:lpstr>Cat/Fig Pics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your own RPG</dc:title>
  <dc:creator>nina navazio</dc:creator>
  <cp:lastModifiedBy>nina navazio</cp:lastModifiedBy>
  <cp:revision>1</cp:revision>
  <dcterms:created xsi:type="dcterms:W3CDTF">2024-03-26T18:00:11Z</dcterms:created>
  <dcterms:modified xsi:type="dcterms:W3CDTF">2026-10-24T05:49:41Z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0x010100F6948BCA3A2CE647A8980A812DC9EEE7</vt:lpwstr>
  </property>
  <property fmtid="{D5CDD505-2E9C-101B-9397-08002B2CF9AE}" pid="3" name="MediaServiceImageTags">
    <vt:lpwstr/>
  </property>
  <property fmtid="{D5CDD505-2E9C-101B-9397-08002B2CF9AE}" pid="4" name="ComplianceAssetId">
    <vt:lpwstr/>
  </property>
  <property fmtid="{D5CDD505-2E9C-101B-9397-08002B2CF9AE}" pid="5" name="_ExtendedDescription">
    <vt:lpwstr/>
  </property>
  <property fmtid="{D5CDD505-2E9C-101B-9397-08002B2CF9AE}" pid="6" name="_activity">
    <vt:lpwstr>{"FileActivityType":"6","FileActivityTimeStamp":"2024-04-23T22:51:44.560Z","FileActivityUsersOnPage":[{"DisplayName":"Deepti Vaidyanathan","Id":"deeptivai@microsoft.com"}],"FileActivityNavigationId":null}</vt:lpwstr>
  </property>
  <property fmtid="{D5CDD505-2E9C-101B-9397-08002B2CF9AE}" pid="7" name="TriggerFlowInfo">
    <vt:lpwstr/>
  </property>
</Properties>
</file>